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70" r:id="rId13"/>
    <p:sldId id="271" r:id="rId14"/>
    <p:sldId id="272" r:id="rId15"/>
    <p:sldId id="273" r:id="rId16"/>
    <p:sldId id="274" r:id="rId17"/>
    <p:sldId id="275" r:id="rId12"/>
  </p:sldIdLst>
  <p:sldSz cy="6858000" cx="12192000"/>
  <p:notesSz cx="6858000" cy="9144000"/>
  <p:embeddedFontLst>
    <p:embeddedFont>
      <p:font typeface="Arial Black"/>
      <p:regular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/EifHpe8WVly8TZ2pHtXF0MO8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2" Type="http://schemas.openxmlformats.org/officeDocument/2006/relationships/slide" Target="slides/slide6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9" Type="http://schemas.openxmlformats.org/officeDocument/2006/relationships/font" Target="fonts/ArialBlack-regular.fntdata"/><Relationship Id="rId20" Type="http://schemas.openxmlformats.org/officeDocument/2006/relationships/font" Target="fonts/RobotoMono-regular.fntdata"/><Relationship Id="rId21" Type="http://schemas.openxmlformats.org/officeDocument/2006/relationships/font" Target="fonts/RobotoMono-bold.fntdata"/><Relationship Id="rId22" Type="http://schemas.openxmlformats.org/officeDocument/2006/relationships/font" Target="fonts/RobotoMono-italic.fntdata"/><Relationship Id="rId23" Type="http://schemas.openxmlformats.org/officeDocument/2006/relationships/font" Target="fonts/RobotoMono-boldItalic.fntdata"/><Relationship Id="rId2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"In our last meeting you gave me three possible tasks: fill-the-gaps worksheets, free-form handwritten essays, and general</a:t>
            </a:r>
          </a:p>
          <a:p>
            <a:r>
              <a:t>math. You asked me to pick about two, based on which public datasets exist, and to look at models, products and papers.</a:t>
            </a:r>
          </a:p>
          <a:p>
            <a:r>
              <a:t>This slide is the short answer.</a:t>
            </a:r>
          </a:p>
          <a:p/>
          <a:p>
            <a:r>
              <a:t>[Point at the four boxes]</a:t>
            </a:r>
          </a:p>
          <a:p>
            <a:r>
              <a:t>Over the last two weeks I collected 35 papers: the 12 most relevant ones to read closely, and 23 more to skim. I also</a:t>
            </a:r>
          </a:p>
          <a:p>
            <a:r>
              <a:t>checked about 35 models and 30 datasets on Hugging Face. I checked every ID directly through the Hugging Face and arXiv APIs, so everything on these slides really</a:t>
            </a:r>
          </a:p>
          <a:p>
            <a:r>
              <a:t>exists.</a:t>
            </a:r>
          </a:p>
          <a:p/>
          <a:p>
            <a:r>
              <a:t>[Point at the table]</a:t>
            </a:r>
          </a:p>
          <a:p>
            <a:r>
              <a:t>For every task I asked one question: is there public handwritten data with grades?</a:t>
            </a:r>
          </a:p>
          <a:p>
            <a:r>
              <a:t>- General math: yes. FERMAT has handwritten solutions with error labels under a CC-BY licence. CHECK-MAT has graded</a:t>
            </a:r>
          </a:p>
          <a:p>
            <a:r>
              <a:t>  exam solutions. DrawEduMath has real K-12 student work. And there is a public GCSE subset with 240 handwritten maths</a:t>
            </a:r>
          </a:p>
          <a:p>
            <a:r>
              <a:t>  answers, each marked by two examiners. So math is my main task, with real data.</a:t>
            </a:r>
          </a:p>
          <a:p>
            <a:r>
              <a:t>- Fill-the-gaps: no. The closest paper, Grabowski 2026, recognises letters in answer tables and reaches 98% accuracy,</a:t>
            </a:r>
          </a:p>
          <a:p>
            <a:r>
              <a:t>  but the data is only available on request. There are good graded typed short-answer datasets, for example</a:t>
            </a:r>
          </a:p>
          <a:p>
            <a:r>
              <a:t>  SciEntsBank and SAF, which is German. My idea is to render those as synthetic handwriting. That would be the second</a:t>
            </a:r>
          </a:p>
          <a:p>
            <a:r>
              <a:t>  task, if you agree.</a:t>
            </a:r>
          </a:p>
          <a:p>
            <a:r>
              <a:t>- Essays: no. VisEssay has more than 13,000 graded handwritten essays, but I found no way to download it. BRESSAY has</a:t>
            </a:r>
          </a:p>
          <a:p>
            <a:r>
              <a:t>  1,000 handwritten essay pages, but no grades. Turnitin and ETH also have nothing public. So I suggest dropping essays.</a:t>
            </a:r>
          </a:p>
          <a:p/>
          <a:p>
            <a:r>
              <a:t>[Point at the grey bar]</a:t>
            </a:r>
          </a:p>
          <a:p>
            <a:r>
              <a:t>The overall idea is 'STACK for handwriting'. STACK checks typed math by meaning. I want a fine-tuned open</a:t>
            </a:r>
          </a:p>
          <a:p>
            <a:r>
              <a:t>vision-language model to read the handwritten answer, and then a symbolic or answer-key check to grade it."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"Three findings came out of the papers.</a:t>
            </a:r>
          </a:p>
          <a:p/>
          <a:p>
            <a:r>
              <a:t>First, reading the handwriting is the bottleneck, not the reasoning.</a:t>
            </a:r>
          </a:p>
          <a:p>
            <a:r>
              <a:t>[Card 1] In FERMAT, the same student solutions are given to GPT-4o in three forms. From handwriting it finds the error</a:t>
            </a:r>
          </a:p>
          <a:p>
            <a:r>
              <a:t>39% of the time. From a printed version it is 51%, and from plain text 66%. So the model reasons fine once it can read.</a:t>
            </a:r>
          </a:p>
          <a:p>
            <a:r>
              <a:t>Levine et al., at AIED 2026, found the same on real exams: 87% of the best grader's mistakes were misreadings. The ETH</a:t>
            </a:r>
          </a:p>
          <a:p>
            <a:r>
              <a:t>studies by Kortemeyer report the same thing.</a:t>
            </a:r>
          </a:p>
          <a:p/>
          <a:p>
            <a:r>
              <a:t>Second, there are two traps for a STACK-style pipeline.</a:t>
            </a:r>
          </a:p>
          <a:p>
            <a:r>
              <a:t>[Card 2] The first is over-correction. When a model transcribes a student's wrong line, it often silently fixes the</a:t>
            </a:r>
          </a:p>
          <a:p>
            <a:r>
              <a:t>mistake. The symbolic check then sees a correct answer, and the error is gone. Seong et al. 2026 show this and propose</a:t>
            </a:r>
          </a:p>
          <a:p>
            <a:r>
              <a:t>a metric for it.</a:t>
            </a:r>
          </a:p>
          <a:p>
            <a:r>
              <a:t>The second is reference bias. If you put the expected answer into the prompt, the model starts accepting wrong answers.</a:t>
            </a:r>
          </a:p>
          <a:p>
            <a:r>
              <a:t>In Grabowski's study one model went from 1 to 193 wrongly accepted answers.</a:t>
            </a:r>
          </a:p>
          <a:p>
            <a:r>
              <a:t>So the design question is not trivial: read first and then check, or grade directly?</a:t>
            </a:r>
          </a:p>
          <a:p/>
          <a:p>
            <a:r>
              <a:t>Third, almost nobody fine-tunes.</a:t>
            </a:r>
          </a:p>
          <a:p>
            <a:r>
              <a:t>[Card 3] Most papers just prompt closed models like Gemini or GPT. VEHME, at EMNLP 2025, is the main exception. It</a:t>
            </a:r>
          </a:p>
          <a:p>
            <a:r>
              <a:t>fine-tunes Qwen2.5-VL-7B with LoRA and reinforcement learning, but on FERMAT it reaches 31.9% against Gemini's 64.2%.</a:t>
            </a:r>
          </a:p>
          <a:p>
            <a:r>
              <a:t>Tonmoy et al. 2026 show that LoRA raises agreement with the examiner from QWK 0.60 to 0.73. And the ETH calculus study</a:t>
            </a:r>
          </a:p>
          <a:p>
            <a:r>
              <a:t>reaches human-level accuracy only if about 70% of the items still go back to humans.</a:t>
            </a:r>
          </a:p>
          <a:p>
            <a:r>
              <a:t>So there is a clear gap for an open, fine-tuned grader. That is also where the 'real neural-network work' you asked for</a:t>
            </a:r>
          </a:p>
          <a:p>
            <a:r>
              <a:t>fits in."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"This is the toolbox. All the names are clickable.</a:t>
            </a:r>
          </a:p>
          <a:p/>
          <a:p>
            <a:r>
              <a:t>[Left column] For data: FERMAT, CHECK-MAT and DrawEduMath to grade math. MathWriting and HME100K to train the reading</a:t>
            </a:r>
          </a:p>
          <a:p>
            <a:r>
              <a:t>stage. SciEntsBank, Beetle and SAF as graded short answers for the synthetic handwriting.</a:t>
            </a:r>
          </a:p>
          <a:p/>
          <a:p>
            <a:r>
              <a:t>[Middle column] For models: Qwen3-VL, 4B or 8B, as the base for fine-tuning. It is Apache-licensed and LoRA on 4B fits</a:t>
            </a:r>
          </a:p>
          <a:p>
            <a:r>
              <a:t>one GPU. DeepSeek-OCR-2 and chandra-ocr-2 as OCR baselines; you mentioned DeepSeek last time. Uni-MuMER and TexTeller</a:t>
            </a:r>
          </a:p>
          <a:p>
            <a:r>
              <a:t>turn handwritten math into LaTeX. Mistral OCR, which you also mentioned, has no open weights. It is API-only, so it can</a:t>
            </a:r>
          </a:p>
          <a:p>
            <a:r>
              <a:t>only be a closed baseline; we cannot fine-tune it.</a:t>
            </a:r>
          </a:p>
          <a:p/>
          <a:p>
            <a:r>
              <a:t>[Right column] The key papers: FERMAT, VEHME, Levine, Henkel, Seong, and the ETH work by Kortemeyer."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"[Pipeline row] This is the pipeline, modelled on STACK. Scan the answer. A fine-tuned open model reads it; that is the</a:t>
            </a:r>
          </a:p>
          <a:p>
            <a:r>
              <a:t>blue box, where the training happens. Check it with SymPy or the answer key, as STACK does. Give a grade plus a</a:t>
            </a:r>
          </a:p>
          <a:p>
            <a:r>
              <a:t>confidence. If the system is unsure, a human looks at it.</a:t>
            </a:r>
          </a:p>
          <a:p/>
          <a:p>
            <a:r>
              <a:t>From the gaps on slide 2 I drafted three research questions, each with a testable hypothesis.</a:t>
            </a:r>
          </a:p>
          <a:p/>
          <a:p>
            <a:r>
              <a:t>[RQ1] Does a small fine-tuned model close the gap? Does LoRA on Qwen3-VL-4B get close to closed models in error</a:t>
            </a:r>
          </a:p>
          <a:p>
            <a:r>
              <a:t>detection on FERMAT? My hypothesis: the fine-tuned 4B model is at least as good as a zero-shot 8B open model.</a:t>
            </a:r>
          </a:p>
          <a:p/>
          <a:p>
            <a:r>
              <a:t>[RQ2] Two-stage or end-to-end? Read first and then check, STACK-style, or grade directly from the image? Because of</a:t>
            </a:r>
          </a:p>
          <a:p>
            <a:r>
              <a:t>over-correction, my hypothesis is that end-to-end finds more errors, while two-stage is better on final answers.</a:t>
            </a:r>
          </a:p>
          <a:p/>
          <a:p>
            <a:r>
              <a:t>[RQ3] Knowing when to ask a human. Can the grader abstain on low-confidence answers and stay accurate on the rest?</a:t>
            </a:r>
          </a:p>
          <a:p>
            <a:r>
              <a:t>The hypothesis is that deferring 20% of answers raises accuracy by at least 5 percentage points. The ETH psychometrics</a:t>
            </a:r>
          </a:p>
          <a:p>
            <a:r>
              <a:t>work supports this idea.</a:t>
            </a:r>
          </a:p>
          <a:p/>
          <a:p>
            <a:r>
              <a:t>I don't need all three. I'd like your view on which one is the strongest."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"[Left, top] For the seminar itself I present one paper. My three candidates:</a:t>
            </a:r>
          </a:p>
          <a:p>
            <a:r>
              <a:t>- VEHME: it has a real fine-tuning method and lots to critique. One model generates the training data, gives the</a:t>
            </a:r>
          </a:p>
          <a:p>
            <a:r>
              <a:t>  reward and does the evaluation.</a:t>
            </a:r>
          </a:p>
          <a:p>
            <a:r>
              <a:t>- Henkel et al.: it separates reading from grading, but their tables contradict the text and the code repo is empty.</a:t>
            </a:r>
          </a:p>
          <a:p>
            <a:r>
              <a:t>- Tonmoy et al.: handwritten exams with LoRA, but the data is private.</a:t>
            </a:r>
          </a:p>
          <a:p/>
          <a:p>
            <a:r>
              <a:t>[Left, bottom] Next steps: send you the paper list, run zero-shot baselines on FERMAT with Qwen3-VL and DeepSeek-OCR-2,</a:t>
            </a:r>
          </a:p>
          <a:p>
            <a:r>
              <a:t>prototype the synthetic handwriting for short answers, and fix the research question and hypothesis.</a:t>
            </a:r>
          </a:p>
          <a:p/>
          <a:p>
            <a:r>
              <a:t>[Right box] I have three questions for you:</a:t>
            </a:r>
          </a:p>
          <a:p>
            <a:r>
              <a:t>1. Is math plus fill-the-gaps with synthetic handwriting acceptable, given there is no real public data for</a:t>
            </a:r>
          </a:p>
          <a:p>
            <a:r>
              <a:t>   fill-the-gaps?</a:t>
            </a:r>
          </a:p>
          <a:p>
            <a:r>
              <a:t>2. Should we drop essays, or should I ask the VisEssay authors for their data?</a:t>
            </a:r>
          </a:p>
          <a:p>
            <a:r>
              <a:t>3. Which seminar paper do you prefer: VEHME or Henkel et al.?"</a:t>
            </a:r>
          </a:p>
          <a:p/>
          <a:p>
            <a:r>
              <a:t>[Stop here and let the supervisor answer. Write down the decisions.]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"This is the full list of the 35 papers I collected. All of them are downloaded, and each title links to arXiv. I'll turn</a:t>
            </a:r>
          </a:p>
          <a:p>
            <a:r>
              <a:t>this into the concrete paper list you asked me to email, within the five weeks."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All purpose">
  <p:cSld name="Title without logo All purpos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6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" name="Google Shape;1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471600" y="1621584"/>
            <a:ext cx="11138400" cy="451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735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71600" y="5858820"/>
            <a:ext cx="11138400" cy="278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and contrast">
  <p:cSld name="Comparison and contras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478800" y="1641600"/>
            <a:ext cx="5400000" cy="4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735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2" type="body"/>
          </p:nvPr>
        </p:nvSpPr>
        <p:spPr>
          <a:xfrm>
            <a:off x="6213600" y="1638000"/>
            <a:ext cx="5400000" cy="4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All purpose" showMasterSp="0">
  <p:cSld name="Title/End with logo All purpose">
    <p:bg>
      <p:bgPr>
        <a:solidFill>
          <a:schemeClr val="accen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19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9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9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40" name="Google Shape;4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0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image and text">
  <p:cSld name="Small image and 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4386048" y="1641600"/>
            <a:ext cx="7225200" cy="4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0"/>
          <p:cNvSpPr/>
          <p:nvPr>
            <p:ph idx="2" type="pic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" showMasterSp="0">
  <p:cSld name="JKU Logo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" showMasterSp="0">
  <p:cSld name="Title/End with logo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22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02000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2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2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58" name="Google Shape;58;p22"/>
          <p:cNvPicPr preferRelativeResize="0"/>
          <p:nvPr/>
        </p:nvPicPr>
        <p:blipFill rotWithShape="1">
          <a:blip r:embed="rId3">
            <a:alphaModFix/>
          </a:blip>
          <a:srcRect b="38849" l="27455" r="42710" t="15293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">
  <p:cSld name="Title without logo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idx="1" type="subTitle"/>
          </p:nvPr>
        </p:nvSpPr>
        <p:spPr>
          <a:xfrm>
            <a:off x="485999" y="5410800"/>
            <a:ext cx="11113227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23"/>
          <p:cNvSpPr txBox="1"/>
          <p:nvPr>
            <p:ph type="title"/>
          </p:nvPr>
        </p:nvSpPr>
        <p:spPr>
          <a:xfrm>
            <a:off x="475200" y="1306800"/>
            <a:ext cx="1112625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23"/>
          <p:cNvPicPr preferRelativeResize="0"/>
          <p:nvPr/>
        </p:nvPicPr>
        <p:blipFill rotWithShape="1">
          <a:blip r:embed="rId2">
            <a:alphaModFix/>
          </a:blip>
          <a:srcRect b="38849" l="27455" r="42710" t="15293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3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operation overview">
  <p:cSld name="Cooperation overview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4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/>
          <p:nvPr>
            <p:ph idx="2" type="pic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4"/>
          <p:cNvSpPr/>
          <p:nvPr>
            <p:ph idx="3" type="pic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4"/>
          <p:cNvSpPr/>
          <p:nvPr>
            <p:ph idx="4" type="pic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4"/>
          <p:cNvSpPr/>
          <p:nvPr>
            <p:ph idx="5" type="pic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4"/>
          <p:cNvSpPr/>
          <p:nvPr>
            <p:ph idx="6" type="pic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4"/>
          <p:cNvSpPr/>
          <p:nvPr>
            <p:ph idx="7" type="pic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4"/>
          <p:cNvSpPr/>
          <p:nvPr>
            <p:ph idx="8" type="pic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4"/>
          <p:cNvSpPr/>
          <p:nvPr>
            <p:ph idx="9" type="pic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4"/>
          <p:cNvSpPr/>
          <p:nvPr>
            <p:ph idx="13" type="pic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idx="1" type="body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47663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, black text">
  <p:cSld name="Large image, black 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"/>
          <p:cNvSpPr/>
          <p:nvPr>
            <p:ph idx="2" type="pic"/>
          </p:nvPr>
        </p:nvSpPr>
        <p:spPr>
          <a:xfrm>
            <a:off x="0" y="0"/>
            <a:ext cx="12192000" cy="6156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6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, white text">
  <p:cSld name="Large image, white 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/>
          <p:nvPr>
            <p:ph idx="2" type="pic"/>
          </p:nvPr>
        </p:nvSpPr>
        <p:spPr>
          <a:xfrm>
            <a:off x="0" y="0"/>
            <a:ext cx="12192000" cy="6156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27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">
  <p:cSld name="Large image and 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/>
          <p:nvPr>
            <p:ph idx="1" type="body"/>
          </p:nvPr>
        </p:nvSpPr>
        <p:spPr>
          <a:xfrm>
            <a:off x="8136000" y="1638000"/>
            <a:ext cx="3474000" cy="4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8"/>
          <p:cNvSpPr/>
          <p:nvPr>
            <p:ph idx="2" type="pic"/>
          </p:nvPr>
        </p:nvSpPr>
        <p:spPr>
          <a:xfrm>
            <a:off x="576000" y="1721513"/>
            <a:ext cx="72144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8"/>
          <p:cNvSpPr txBox="1"/>
          <p:nvPr>
            <p:ph idx="3" type="body"/>
          </p:nvPr>
        </p:nvSpPr>
        <p:spPr>
          <a:xfrm>
            <a:off x="576000" y="5864981"/>
            <a:ext cx="7214400" cy="2741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mulas">
  <p:cSld name="Formula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9"/>
          <p:cNvSpPr/>
          <p:nvPr>
            <p:ph idx="2" type="pic"/>
          </p:nvPr>
        </p:nvSpPr>
        <p:spPr>
          <a:xfrm>
            <a:off x="2070000" y="1724299"/>
            <a:ext cx="80748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9"/>
          <p:cNvSpPr txBox="1"/>
          <p:nvPr>
            <p:ph idx="1" type="body"/>
          </p:nvPr>
        </p:nvSpPr>
        <p:spPr>
          <a:xfrm>
            <a:off x="2048400" y="5863959"/>
            <a:ext cx="8096400" cy="278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">
  <p:cSld name="Video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/>
          <p:nvPr>
            <p:ph idx="2" type="media"/>
          </p:nvPr>
        </p:nvSpPr>
        <p:spPr>
          <a:xfrm>
            <a:off x="576000" y="1724302"/>
            <a:ext cx="11034000" cy="4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0"/>
          <p:cNvSpPr txBox="1"/>
          <p:nvPr>
            <p:ph idx="1" type="body"/>
          </p:nvPr>
        </p:nvSpPr>
        <p:spPr>
          <a:xfrm>
            <a:off x="576000" y="5864400"/>
            <a:ext cx="11034000" cy="278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smaller images and text">
  <p:cSld name="3 smaller images and 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" type="body"/>
          </p:nvPr>
        </p:nvSpPr>
        <p:spPr>
          <a:xfrm>
            <a:off x="4388099" y="1638000"/>
            <a:ext cx="7225200" cy="4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1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1"/>
          <p:cNvSpPr/>
          <p:nvPr>
            <p:ph idx="2" type="pic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1"/>
          <p:cNvSpPr/>
          <p:nvPr>
            <p:ph idx="3" type="pic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1"/>
          <p:cNvSpPr/>
          <p:nvPr>
            <p:ph idx="4" type="pic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31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>
  <p:cSld name="Le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2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All purpose" showMasterSp="0">
  <p:cSld name="JKU Logo All purpose"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TNF" showMasterSp="0">
  <p:cSld name="JKU Logo TNF">
    <p:bg>
      <p:bgPr>
        <a:solidFill>
          <a:schemeClr val="accen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TNF" showMasterSp="0">
  <p:cSld name="Title/End with logo TNF"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0" name="Google Shape;140;p35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5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5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4" name="Google Shape;14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TNF">
  <p:cSld name="Title without logo TNF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6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9" name="Google Shape;149;p36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0" name="Google Shape;15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SOWI" showMasterSp="0">
  <p:cSld name="JKU Logo SOWI">
    <p:bg>
      <p:bgPr>
        <a:solidFill>
          <a:schemeClr val="accent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SOWI" showMasterSp="0">
  <p:cSld name="Title/End with logo SOWI">
    <p:bg>
      <p:bgPr>
        <a:solidFill>
          <a:schemeClr val="accent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8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8" name="Google Shape;158;p38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8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38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2" name="Google Shape;16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SOWI">
  <p:cSld name="Title without logo SOWI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7" name="Google Shape;167;p39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8" name="Google Shape;16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9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9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RE" showMasterSp="0">
  <p:cSld name="JKU Logo RE">
    <p:bg>
      <p:bgPr>
        <a:solidFill>
          <a:schemeClr val="accent5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RE" showMasterSp="0">
  <p:cSld name="Title/End with logo RE">
    <p:bg>
      <p:bgPr>
        <a:solidFill>
          <a:schemeClr val="accent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6" name="Google Shape;176;p41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1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1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41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0" name="Google Shape;18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RE">
  <p:cSld name="Title without logo R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2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2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42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2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2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2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MED" showMasterSp="0">
  <p:cSld name="JKU Logo MED">
    <p:bg>
      <p:bgPr>
        <a:solidFill>
          <a:schemeClr val="accent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MED" showMasterSp="0">
  <p:cSld name="Title/End with logo MED">
    <p:bg>
      <p:bgPr>
        <a:solidFill>
          <a:schemeClr val="accent6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4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44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4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44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98" name="Google Shape;19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MED">
  <p:cSld name="Title without logo MED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5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3" name="Google Shape;203;p45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4" name="Google Shape;20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5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5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5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" type="title">
  <p:cSld name="TITLE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4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1" name="Google Shape;211;p4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b="0" i="0" sz="3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71600" y="1620000"/>
            <a:ext cx="11142000" cy="4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5755" lvl="2" marL="1371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4330" lvl="3" marL="1828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2895" lvl="4" marL="2286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72400" y="6350561"/>
            <a:ext cx="2717810" cy="3204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78">
          <p15:clr>
            <a:srgbClr val="F26B43"/>
          </p15:clr>
        </p15:guide>
        <p15:guide id="2" pos="5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huggingface.co/datasets/ai4bharat/FERMAT" TargetMode="External"/><Relationship Id="rId4" Type="http://schemas.openxmlformats.org/officeDocument/2006/relationships/hyperlink" Target="https://huggingface.co/datasets/Karifannaa/EGE_Math_Solutions_Assessment_Benchmark" TargetMode="External"/><Relationship Id="rId5" Type="http://schemas.openxmlformats.org/officeDocument/2006/relationships/hyperlink" Target="https://huggingface.co/datasets/Heffernan-WPI-Lab/DrawEduMath" TargetMode="External"/><Relationship Id="rId6" Type="http://schemas.openxmlformats.org/officeDocument/2006/relationships/hyperlink" Target="https://github.com/medlyai/medly-marking-benchmark" TargetMode="External"/><Relationship Id="rId7" Type="http://schemas.openxmlformats.org/officeDocument/2006/relationships/hyperlink" Target="https://arxiv.org/abs/2606.11477" TargetMode="External"/><Relationship Id="rId8" Type="http://schemas.openxmlformats.org/officeDocument/2006/relationships/hyperlink" Target="https://huggingface.co/datasets/nkazi/SciEntsBank" TargetMode="External"/><Relationship Id="rId9" Type="http://schemas.openxmlformats.org/officeDocument/2006/relationships/hyperlink" Target="https://huggingface.co/datasets/Short-Answer-Feedback/saf_micro_job_german" TargetMode="External"/><Relationship Id="rId10" Type="http://schemas.openxmlformats.org/officeDocument/2006/relationships/hyperlink" Target="https://doi.org/10.1145/3579654.3579684" TargetMode="External"/><Relationship Id="rId11" Type="http://schemas.openxmlformats.org/officeDocument/2006/relationships/hyperlink" Target="https://zenodo.org/records/11637681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2501.07244" TargetMode="External"/><Relationship Id="rId4" Type="http://schemas.openxmlformats.org/officeDocument/2006/relationships/hyperlink" Target="https://arxiv.org/abs/2605.19043" TargetMode="External"/><Relationship Id="rId5" Type="http://schemas.openxmlformats.org/officeDocument/2006/relationships/hyperlink" Target="https://arxiv.org/abs/2604.22774" TargetMode="External"/><Relationship Id="rId6" Type="http://schemas.openxmlformats.org/officeDocument/2006/relationships/hyperlink" Target="https://arxiv.org/abs/2606.11477" TargetMode="External"/><Relationship Id="rId7" Type="http://schemas.openxmlformats.org/officeDocument/2006/relationships/hyperlink" Target="https://arxiv.org/abs/2507.22958" TargetMode="External"/><Relationship Id="rId8" Type="http://schemas.openxmlformats.org/officeDocument/2006/relationships/hyperlink" Target="https://arxiv.org/abs/2510.22798" TargetMode="External"/><Relationship Id="rId9" Type="http://schemas.openxmlformats.org/officeDocument/2006/relationships/hyperlink" Target="https://arxiv.org/abs/2609.14284" TargetMode="External"/><Relationship Id="rId10" Type="http://schemas.openxmlformats.org/officeDocument/2006/relationships/hyperlink" Target="https://arxiv.org/abs/2510.0516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uggingface.co/datasets/ai4bharat/FERMAT" TargetMode="External"/><Relationship Id="rId4" Type="http://schemas.openxmlformats.org/officeDocument/2006/relationships/hyperlink" Target="https://huggingface.co/datasets/Karifannaa/EGE_Math_Solutions_Assessment_Benchmark" TargetMode="External"/><Relationship Id="rId5" Type="http://schemas.openxmlformats.org/officeDocument/2006/relationships/hyperlink" Target="https://huggingface.co/datasets/Heffernan-WPI-Lab/DrawEduMath" TargetMode="External"/><Relationship Id="rId6" Type="http://schemas.openxmlformats.org/officeDocument/2006/relationships/hyperlink" Target="https://huggingface.co/datasets/andito/mathwriting-google" TargetMode="External"/><Relationship Id="rId7" Type="http://schemas.openxmlformats.org/officeDocument/2006/relationships/hyperlink" Target="https://huggingface.co/datasets/ConstantHao/HME100K" TargetMode="External"/><Relationship Id="rId8" Type="http://schemas.openxmlformats.org/officeDocument/2006/relationships/hyperlink" Target="https://huggingface.co/datasets/nkazi/SciEntsBank" TargetMode="External"/><Relationship Id="rId9" Type="http://schemas.openxmlformats.org/officeDocument/2006/relationships/hyperlink" Target="https://huggingface.co/datasets/nkazi/Beetle" TargetMode="External"/><Relationship Id="rId10" Type="http://schemas.openxmlformats.org/officeDocument/2006/relationships/hyperlink" Target="https://huggingface.co/datasets/Short-Answer-Feedback/saf_micro_job_german" TargetMode="External"/><Relationship Id="rId11" Type="http://schemas.openxmlformats.org/officeDocument/2006/relationships/hyperlink" Target="https://huggingface.co/Qwen/Qwen3-VL-4B-Instruct" TargetMode="External"/><Relationship Id="rId12" Type="http://schemas.openxmlformats.org/officeDocument/2006/relationships/hyperlink" Target="https://huggingface.co/deepseek-ai/DeepSeek-OCR-2" TargetMode="External"/><Relationship Id="rId13" Type="http://schemas.openxmlformats.org/officeDocument/2006/relationships/hyperlink" Target="https://huggingface.co/datalab-to/chandra-ocr-2" TargetMode="External"/><Relationship Id="rId14" Type="http://schemas.openxmlformats.org/officeDocument/2006/relationships/hyperlink" Target="https://huggingface.co/phxember/Uni-MuMER-Qwen3-VL-2B" TargetMode="External"/><Relationship Id="rId15" Type="http://schemas.openxmlformats.org/officeDocument/2006/relationships/hyperlink" Target="https://huggingface.co/OleehyO/TexTeller" TargetMode="External"/><Relationship Id="rId16" Type="http://schemas.openxmlformats.org/officeDocument/2006/relationships/hyperlink" Target="https://huggingface.co/allenai/olmOCR-2-7B-1025" TargetMode="External"/><Relationship Id="rId17" Type="http://schemas.openxmlformats.org/officeDocument/2006/relationships/hyperlink" Target="https://huggingface.co/PaddlePaddle/PaddleOCR-VL-1.6" TargetMode="External"/><Relationship Id="rId18" Type="http://schemas.openxmlformats.org/officeDocument/2006/relationships/hyperlink" Target="https://arxiv.org/abs/2501.07244" TargetMode="External"/><Relationship Id="rId19" Type="http://schemas.openxmlformats.org/officeDocument/2006/relationships/hyperlink" Target="https://arxiv.org/abs/2510.22798" TargetMode="External"/><Relationship Id="rId20" Type="http://schemas.openxmlformats.org/officeDocument/2006/relationships/hyperlink" Target="https://arxiv.org/abs/2605.19043" TargetMode="External"/><Relationship Id="rId21" Type="http://schemas.openxmlformats.org/officeDocument/2006/relationships/hyperlink" Target="https://arxiv.org/abs/2510.05538" TargetMode="External"/><Relationship Id="rId22" Type="http://schemas.openxmlformats.org/officeDocument/2006/relationships/hyperlink" Target="https://arxiv.org/abs/2604.22774" TargetMode="External"/><Relationship Id="rId23" Type="http://schemas.openxmlformats.org/officeDocument/2006/relationships/hyperlink" Target="https://arxiv.org/abs/2408.1172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abs/2510.22798" TargetMode="External"/><Relationship Id="rId4" Type="http://schemas.openxmlformats.org/officeDocument/2006/relationships/hyperlink" Target="https://arxiv.org/abs/2510.05538" TargetMode="External"/><Relationship Id="rId5" Type="http://schemas.openxmlformats.org/officeDocument/2006/relationships/hyperlink" Target="https://arxiv.org/abs/2609.1428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xiv.org/abs/2501.07244" TargetMode="External"/><Relationship Id="rId4" Type="http://schemas.openxmlformats.org/officeDocument/2006/relationships/hyperlink" Target="https://arxiv.org/abs/2510.22798" TargetMode="External"/><Relationship Id="rId5" Type="http://schemas.openxmlformats.org/officeDocument/2006/relationships/hyperlink" Target="https://arxiv.org/abs/2605.19043" TargetMode="External"/><Relationship Id="rId6" Type="http://schemas.openxmlformats.org/officeDocument/2006/relationships/hyperlink" Target="https://arxiv.org/abs/2603.00895" TargetMode="External"/><Relationship Id="rId7" Type="http://schemas.openxmlformats.org/officeDocument/2006/relationships/hyperlink" Target="https://arxiv.org/abs/2507.22958" TargetMode="External"/><Relationship Id="rId8" Type="http://schemas.openxmlformats.org/officeDocument/2006/relationships/hyperlink" Target="https://arxiv.org/abs/2510.05538" TargetMode="External"/><Relationship Id="rId9" Type="http://schemas.openxmlformats.org/officeDocument/2006/relationships/hyperlink" Target="https://arxiv.org/abs/2404.10690" TargetMode="External"/><Relationship Id="rId10" Type="http://schemas.openxmlformats.org/officeDocument/2006/relationships/hyperlink" Target="https://arxiv.org/abs/2606.11477" TargetMode="External"/><Relationship Id="rId11" Type="http://schemas.openxmlformats.org/officeDocument/2006/relationships/hyperlink" Target="https://arxiv.org/abs/2606.24973" TargetMode="External"/><Relationship Id="rId12" Type="http://schemas.openxmlformats.org/officeDocument/2006/relationships/hyperlink" Target="https://arxiv.org/abs/2603.06066" TargetMode="External"/><Relationship Id="rId13" Type="http://schemas.openxmlformats.org/officeDocument/2006/relationships/hyperlink" Target="https://aclanthology.org/2025.findings-acl.329" TargetMode="External"/><Relationship Id="rId14" Type="http://schemas.openxmlformats.org/officeDocument/2006/relationships/hyperlink" Target="https://arxiv.org/abs/2609.14284" TargetMode="External"/><Relationship Id="rId15" Type="http://schemas.openxmlformats.org/officeDocument/2006/relationships/hyperlink" Target="https://arxiv.org/abs/2411.05231" TargetMode="External"/><Relationship Id="rId16" Type="http://schemas.openxmlformats.org/officeDocument/2006/relationships/hyperlink" Target="https://arxiv.org/abs/2408.11728" TargetMode="External"/><Relationship Id="rId17" Type="http://schemas.openxmlformats.org/officeDocument/2006/relationships/hyperlink" Target="https://arxiv.org/abs/2406.17859" TargetMode="External"/><Relationship Id="rId18" Type="http://schemas.openxmlformats.org/officeDocument/2006/relationships/hyperlink" Target="https://arxiv.org/abs/2509.10591" TargetMode="External"/><Relationship Id="rId19" Type="http://schemas.openxmlformats.org/officeDocument/2006/relationships/hyperlink" Target="https://arxiv.org/abs/2410.19409" TargetMode="External"/><Relationship Id="rId20" Type="http://schemas.openxmlformats.org/officeDocument/2006/relationships/hyperlink" Target="https://arxiv.org/abs/2510.05162" TargetMode="External"/><Relationship Id="rId21" Type="http://schemas.openxmlformats.org/officeDocument/2006/relationships/hyperlink" Target="https://arxiv.org/abs/2606.28872" TargetMode="External"/><Relationship Id="rId22" Type="http://schemas.openxmlformats.org/officeDocument/2006/relationships/hyperlink" Target="https://arxiv.org/abs/2309.09338" TargetMode="External"/><Relationship Id="rId23" Type="http://schemas.openxmlformats.org/officeDocument/2006/relationships/hyperlink" Target="https://arxiv.org/abs/2601.00730" TargetMode="External"/><Relationship Id="rId24" Type="http://schemas.openxmlformats.org/officeDocument/2006/relationships/hyperlink" Target="https://arxiv.org/abs/2603.13083" TargetMode="External"/><Relationship Id="rId25" Type="http://schemas.openxmlformats.org/officeDocument/2006/relationships/hyperlink" Target="https://arxiv.org/abs/2608.20521" TargetMode="External"/><Relationship Id="rId26" Type="http://schemas.openxmlformats.org/officeDocument/2006/relationships/hyperlink" Target="https://arxiv.org/abs/2607.18767" TargetMode="External"/><Relationship Id="rId27" Type="http://schemas.openxmlformats.org/officeDocument/2006/relationships/hyperlink" Target="https://arxiv.org/abs/2507.01431" TargetMode="External"/><Relationship Id="rId28" Type="http://schemas.openxmlformats.org/officeDocument/2006/relationships/hyperlink" Target="https://arxiv.org/abs/2408.12870" TargetMode="External"/><Relationship Id="rId29" Type="http://schemas.openxmlformats.org/officeDocument/2006/relationships/hyperlink" Target="https://arxiv.org/abs/2501.14877" TargetMode="External"/><Relationship Id="rId30" Type="http://schemas.openxmlformats.org/officeDocument/2006/relationships/hyperlink" Target="https://arxiv.org/abs/2603.00925" TargetMode="External"/><Relationship Id="rId31" Type="http://schemas.openxmlformats.org/officeDocument/2006/relationships/hyperlink" Target="https://arxiv.org/abs/2604.22774" TargetMode="External"/><Relationship Id="rId32" Type="http://schemas.openxmlformats.org/officeDocument/2006/relationships/hyperlink" Target="https://arxiv.org/abs/2505.23566" TargetMode="External"/><Relationship Id="rId33" Type="http://schemas.openxmlformats.org/officeDocument/2006/relationships/hyperlink" Target="https://arxiv.org/abs/2409.18596" TargetMode="External"/><Relationship Id="rId34" Type="http://schemas.openxmlformats.org/officeDocument/2006/relationships/hyperlink" Target="https://arxiv.org/abs/2404.14316" TargetMode="External"/><Relationship Id="rId35" Type="http://schemas.openxmlformats.org/officeDocument/2006/relationships/hyperlink" Target="https://arxiv.org/abs/2601.08843" TargetMode="External"/><Relationship Id="rId36" Type="http://schemas.openxmlformats.org/officeDocument/2006/relationships/hyperlink" Target="https://arxiv.org/abs/2508.04063" TargetMode="External"/><Relationship Id="rId37" Type="http://schemas.openxmlformats.org/officeDocument/2006/relationships/hyperlink" Target="https://arxiv.org/abs/2105.0908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Proposal: handwritten math + short answers</a:t>
            </a:r>
          </a:p>
        </p:txBody>
      </p:sp>
      <p:sp>
        <p:nvSpPr>
          <p:cNvPr id="3" name="Draft tag"/>
          <p:cNvSpPr/>
          <p:nvPr/>
        </p:nvSpPr>
        <p:spPr>
          <a:xfrm>
            <a:off x="10058400" y="274320"/>
            <a:ext cx="1554480" cy="310896"/>
          </a:xfrm>
          <a:prstGeom prst="roundRect">
            <a:avLst/>
          </a:prstGeom>
          <a:noFill/>
          <a:ln w="9525">
            <a:solidFill>
              <a:srgbClr val="808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E6066"/>
                </a:solidFill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1600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7512" y="16916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6E98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258568"/>
            <a:ext cx="224028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066"/>
                </a:solidFill>
              </a:rPr>
              <a:t>most relevant papers – to read closely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0984" y="1600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83864" y="16916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6E98"/>
                </a:solidFill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58568"/>
            <a:ext cx="224028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066"/>
                </a:solidFill>
              </a:rPr>
              <a:t>further papers – to skim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6" y="1600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0216" y="16916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6E98"/>
                </a:solidFill>
              </a:rPr>
              <a:t>~35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58568"/>
            <a:ext cx="224028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066"/>
                </a:solidFill>
              </a:rPr>
              <a:t>HF models checked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0020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16567" y="16916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6E98"/>
                </a:solidFill>
              </a:rPr>
              <a:t>~30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7" y="2258568"/>
            <a:ext cx="224028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066"/>
                </a:solidFill>
              </a:rPr>
              <a:t>datasets checked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84632" y="2880360"/>
          <a:ext cx="11128248" cy="22677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1188720"/>
                <a:gridCol w="4846320"/>
                <a:gridCol w="33558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73152" marT="36576" marB="36576" anchor="ctr">
                    <a:solidFill>
                      <a:srgbClr val="8082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Public data?</a:t>
                      </a:r>
                    </a:p>
                  </a:txBody>
                  <a:tcPr marL="73152" marR="73152" marT="36576" marB="36576" anchor="ctr">
                    <a:solidFill>
                      <a:srgbClr val="8082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Best sources</a:t>
                      </a:r>
                    </a:p>
                  </a:txBody>
                  <a:tcPr marL="73152" marR="73152" marT="36576" marB="36576" anchor="ctr">
                    <a:solidFill>
                      <a:srgbClr val="8082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73152" marR="73152" marT="36576" marB="36576" anchor="ctr">
                    <a:solidFill>
                      <a:srgbClr val="8082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C30"/>
                          </a:solidFill>
                        </a:rPr>
                        <a:t>General math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F7D31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46E98"/>
                          </a:solidFill>
                          <a:hlinkClick r:id="rId3"/>
                        </a:rPr>
                        <a:t>FERMAT</a:t>
                      </a:r>
                      <a:r>
                        <a:rPr sz="1200" b="0">
                          <a:solidFill>
                            <a:srgbClr val="2B2C30"/>
                          </a:solidFill>
                        </a:rPr>
                        <a:t>, </a:t>
                      </a:r>
                      <a:r>
                        <a:rPr sz="1200" b="0">
                          <a:solidFill>
                            <a:srgbClr val="046E98"/>
                          </a:solidFill>
                          <a:hlinkClick r:id="rId4"/>
                        </a:rPr>
                        <a:t>CHECK-MAT</a:t>
                      </a:r>
                      <a:r>
                        <a:rPr sz="1200" b="0">
                          <a:solidFill>
                            <a:srgbClr val="2B2C30"/>
                          </a:solidFill>
                        </a:rPr>
                        <a:t>, </a:t>
                      </a:r>
                      <a:r>
                        <a:rPr sz="1200" b="0">
                          <a:solidFill>
                            <a:srgbClr val="046E98"/>
                          </a:solidFill>
                          <a:hlinkClick r:id="rId5"/>
                        </a:rPr>
                        <a:t>DrawEduMath</a:t>
                      </a:r>
                      <a:r>
                        <a:rPr sz="1200" b="0">
                          <a:solidFill>
                            <a:srgbClr val="2B2C30"/>
                          </a:solidFill>
                        </a:rPr>
                        <a:t>, </a:t>
                      </a:r>
                      <a:r>
                        <a:rPr sz="1200" b="0">
                          <a:solidFill>
                            <a:srgbClr val="046E98"/>
                          </a:solidFill>
                          <a:hlinkClick r:id="rId6"/>
                        </a:rPr>
                        <a:t>GCSE subset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F7D31"/>
                          </a:solidFill>
                        </a:rPr>
                        <a:t>Main task (real data)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C30"/>
                          </a:solidFill>
                        </a:rPr>
                        <a:t>Fill-the-gaps</a:t>
                      </a:r>
                    </a:p>
                  </a:txBody>
                  <a:tcPr marL="73152" marR="73152" marT="36576" marB="36576" anchor="ctr"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03A2E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C30"/>
                          </a:solidFill>
                        </a:rPr>
                        <a:t>Only on request (</a:t>
                      </a:r>
                      <a:r>
                        <a:rPr sz="1200" b="0">
                          <a:solidFill>
                            <a:srgbClr val="046E98"/>
                          </a:solidFill>
                          <a:hlinkClick r:id="rId7"/>
                        </a:rPr>
                        <a:t>Grabowski 2026</a:t>
                      </a:r>
                      <a:r>
                        <a:rPr sz="1200" b="0">
                          <a:solidFill>
                            <a:srgbClr val="2B2C30"/>
                          </a:solidFill>
                        </a:rPr>
                        <a:t>); graded typed sets: </a:t>
                      </a:r>
                      <a:r>
                        <a:rPr sz="1200" b="0">
                          <a:solidFill>
                            <a:srgbClr val="046E98"/>
                          </a:solidFill>
                          <a:hlinkClick r:id="rId8"/>
                        </a:rPr>
                        <a:t>SciEntsBank</a:t>
                      </a:r>
                      <a:r>
                        <a:rPr sz="1200" b="0">
                          <a:solidFill>
                            <a:srgbClr val="2B2C30"/>
                          </a:solidFill>
                        </a:rPr>
                        <a:t>, </a:t>
                      </a:r>
                      <a:r>
                        <a:rPr sz="1200" b="0">
                          <a:solidFill>
                            <a:srgbClr val="046E98"/>
                          </a:solidFill>
                          <a:hlinkClick r:id="rId9"/>
                        </a:rPr>
                        <a:t>SAF-de</a:t>
                      </a:r>
                    </a:p>
                  </a:txBody>
                  <a:tcPr marL="73152" marR="73152" marT="36576" marB="36576" anchor="ctr"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C30"/>
                          </a:solidFill>
                        </a:rPr>
                        <a:t>Second task: synthetic handwriting</a:t>
                      </a:r>
                    </a:p>
                  </a:txBody>
                  <a:tcPr marL="73152" marR="73152" marT="36576" marB="36576" anchor="ctr">
                    <a:solidFill>
                      <a:srgbClr val="F1F2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C30"/>
                          </a:solidFill>
                        </a:rPr>
                        <a:t>Free essays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03A2E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46E98"/>
                          </a:solidFill>
                          <a:hlinkClick r:id="rId10"/>
                        </a:rPr>
                        <a:t>VisEssay</a:t>
                      </a:r>
                      <a:r>
                        <a:rPr sz="1200" b="0">
                          <a:solidFill>
                            <a:srgbClr val="2B2C30"/>
                          </a:solidFill>
                        </a:rPr>
                        <a:t> not downloadable; </a:t>
                      </a:r>
                      <a:r>
                        <a:rPr sz="1200" b="0">
                          <a:solidFill>
                            <a:srgbClr val="046E98"/>
                          </a:solidFill>
                          <a:hlinkClick r:id="rId11"/>
                        </a:rPr>
                        <a:t>BRESSAY</a:t>
                      </a:r>
                      <a:r>
                        <a:rPr sz="1200" b="0">
                          <a:solidFill>
                            <a:srgbClr val="2B2C30"/>
                          </a:solidFill>
                        </a:rPr>
                        <a:t> no grades; Turnitin / ETH: none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C30"/>
                          </a:solidFill>
                        </a:rPr>
                        <a:t>Drop (or ask VisEssay authors)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84632" y="5349240"/>
            <a:ext cx="11128248" cy="548640"/>
          </a:xfrm>
          <a:prstGeom prst="roundRect">
            <a:avLst>
              <a:gd name="adj" fmla="val 6000"/>
            </a:avLst>
          </a:prstGeom>
          <a:solidFill>
            <a:srgbClr val="808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5349240"/>
            <a:ext cx="10671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</a:rPr>
              <a:t>Idea: </a:t>
            </a:r>
            <a:r>
              <a:rPr sz="1400" b="0" i="0">
                <a:solidFill>
                  <a:srgbClr val="FFFFFF"/>
                </a:solidFill>
              </a:rPr>
              <a:t>STACK for handwriting – a fine-tuned open VLM reads the answer, a symbolic / answer-key check grades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research says</a:t>
            </a:r>
          </a:p>
        </p:txBody>
      </p:sp>
      <p:sp>
        <p:nvSpPr>
          <p:cNvPr id="3" name="Draft tag"/>
          <p:cNvSpPr/>
          <p:nvPr/>
        </p:nvSpPr>
        <p:spPr>
          <a:xfrm>
            <a:off x="10058400" y="274320"/>
            <a:ext cx="1554480" cy="310896"/>
          </a:xfrm>
          <a:prstGeom prst="roundRect">
            <a:avLst/>
          </a:prstGeom>
          <a:noFill/>
          <a:ln w="9525">
            <a:solidFill>
              <a:srgbClr val="808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E6066"/>
                </a:solidFill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1645920"/>
            <a:ext cx="3587496" cy="42976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67512" y="1828800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847088"/>
            <a:ext cx="2764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C30"/>
                </a:solidFill>
              </a:rPr>
              <a:t>Reading is the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3221736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46E98"/>
                </a:solidFill>
              </a:rPr>
              <a:t>39% → 51% → 66%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066"/>
                </a:solidFill>
              </a:rPr>
              <a:t>GPT-4o finds the error from handwriting → printed → text (</a:t>
            </a:r>
            <a:r>
              <a:rPr sz="1200" b="0" i="0">
                <a:solidFill>
                  <a:srgbClr val="046E98"/>
                </a:solidFill>
                <a:hlinkClick r:id="rId3"/>
              </a:rPr>
              <a:t>FERMAT</a:t>
            </a:r>
            <a:r>
              <a:rPr sz="1200" b="0" i="0">
                <a:solidFill>
                  <a:srgbClr val="5E6066"/>
                </a:solidFill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B03A2E"/>
                </a:solidFill>
              </a:rPr>
              <a:t>87%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066"/>
                </a:solidFill>
              </a:rPr>
              <a:t>of the best grader’s errors are misreadings (</a:t>
            </a:r>
            <a:r>
              <a:rPr sz="1200" b="0" i="0">
                <a:solidFill>
                  <a:srgbClr val="046E98"/>
                </a:solidFill>
                <a:hlinkClick r:id="rId4"/>
              </a:rPr>
              <a:t>Levine, AIED 2026</a:t>
            </a:r>
            <a:r>
              <a:rPr sz="1200" b="0" i="0">
                <a:solidFill>
                  <a:srgbClr val="5E6066"/>
                </a:solidFill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C30"/>
                </a:solidFill>
              </a:rPr>
              <a:t>Same at ETH: handwriting → text is the hardest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1645920"/>
            <a:ext cx="3587496" cy="42976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437888" y="1828800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0808" y="1847088"/>
            <a:ext cx="2764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C30"/>
                </a:solidFill>
              </a:rPr>
              <a:t>Two traps for a STACK-style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7888" y="2331720"/>
            <a:ext cx="3221736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2C30"/>
                </a:solidFill>
              </a:rPr>
              <a:t>Over-correction: </a:t>
            </a:r>
            <a:r>
              <a:rPr sz="1600" b="0" i="0">
                <a:solidFill>
                  <a:srgbClr val="2B2C30"/>
                </a:solidFill>
              </a:rPr>
              <a:t>VLMs silently fix student mistakes when transcribing, so the check sees a correct answer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46E98"/>
                </a:solidFill>
                <a:hlinkClick r:id="rId5"/>
              </a:rPr>
              <a:t>Seong et al. 2026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B2C30"/>
                </a:solidFill>
              </a:rPr>
              <a:t>Reference bias: </a:t>
            </a:r>
            <a:r>
              <a:rPr sz="1600" b="0" i="0">
                <a:solidFill>
                  <a:srgbClr val="2B2C30"/>
                </a:solidFill>
              </a:rPr>
              <a:t>with the expected answer in the prompt, wrong answers accepted </a:t>
            </a:r>
            <a:r>
              <a:rPr sz="1600" b="1" i="0">
                <a:solidFill>
                  <a:srgbClr val="B03A2E"/>
                </a:solidFill>
              </a:rPr>
              <a:t>1 → 193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46E98"/>
                </a:solidFill>
                <a:hlinkClick r:id="rId6"/>
              </a:rPr>
              <a:t>Grabowski 2026</a:t>
            </a:r>
            <a:r>
              <a:rPr sz="1200" b="0" i="0">
                <a:solidFill>
                  <a:srgbClr val="5E6066"/>
                </a:solidFill>
              </a:rPr>
              <a:t>  ·  </a:t>
            </a:r>
            <a:r>
              <a:rPr sz="1200" b="0" i="0">
                <a:solidFill>
                  <a:srgbClr val="046E98"/>
                </a:solidFill>
                <a:hlinkClick r:id="rId7"/>
              </a:rPr>
              <a:t>CHECK-MAT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5383" y="1645920"/>
            <a:ext cx="3587496" cy="429768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08263" y="1828800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1183" y="1847088"/>
            <a:ext cx="2764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C30"/>
                </a:solidFill>
              </a:rPr>
              <a:t>Almost nobody fine-tunes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8263" y="2331720"/>
            <a:ext cx="3221736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C30"/>
                </a:solidFill>
              </a:rPr>
              <a:t>Most papers prompt closed APIs (Gemini, GPT) zero-shot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46E98"/>
                </a:solidFill>
                <a:hlinkClick r:id="rId8"/>
              </a:rPr>
              <a:t>VEHME</a:t>
            </a:r>
            <a:r>
              <a:rPr sz="1600" b="0" i="0">
                <a:solidFill>
                  <a:srgbClr val="2B2C30"/>
                </a:solidFill>
              </a:rPr>
              <a:t> (Qwen2.5-VL-7B, LoRA + RL): </a:t>
            </a:r>
            <a:r>
              <a:rPr sz="1600" b="1" i="0">
                <a:solidFill>
                  <a:srgbClr val="2B2C30"/>
                </a:solidFill>
              </a:rPr>
              <a:t>31.9%</a:t>
            </a:r>
            <a:r>
              <a:rPr sz="1600" b="0" i="0">
                <a:solidFill>
                  <a:srgbClr val="2B2C30"/>
                </a:solidFill>
              </a:rPr>
              <a:t> vs Gemini </a:t>
            </a:r>
            <a:r>
              <a:rPr sz="1600" b="1" i="0">
                <a:solidFill>
                  <a:srgbClr val="2B2C30"/>
                </a:solidFill>
              </a:rPr>
              <a:t>64.2%</a:t>
            </a:r>
            <a:r>
              <a:rPr sz="1600" b="0" i="0">
                <a:solidFill>
                  <a:srgbClr val="2B2C30"/>
                </a:solidFill>
              </a:rPr>
              <a:t> on FERMAT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46E98"/>
                </a:solidFill>
                <a:hlinkClick r:id="rId9"/>
              </a:rPr>
              <a:t>Tonmoy 2026</a:t>
            </a:r>
            <a:r>
              <a:rPr sz="1600" b="0" i="0">
                <a:solidFill>
                  <a:srgbClr val="2B2C30"/>
                </a:solidFill>
              </a:rPr>
              <a:t> (LoRA): QWK </a:t>
            </a:r>
            <a:r>
              <a:rPr sz="1600" b="1" i="0">
                <a:solidFill>
                  <a:srgbClr val="2B2C30"/>
                </a:solidFill>
              </a:rPr>
              <a:t>0.60 → 0.73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46E98"/>
                </a:solidFill>
                <a:hlinkClick r:id="rId10"/>
              </a:rPr>
              <a:t>ETH</a:t>
            </a:r>
            <a:r>
              <a:rPr sz="1600" b="0" i="0">
                <a:solidFill>
                  <a:srgbClr val="2B2C30"/>
                </a:solidFill>
              </a:rPr>
              <a:t>: human-level only if ~70% go back to humans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46E98"/>
                </a:solidFill>
              </a:rPr>
              <a:t>→ Gap for an open, fine-tuned grader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Resources: data, models, key papers</a:t>
            </a:r>
          </a:p>
        </p:txBody>
      </p:sp>
      <p:sp>
        <p:nvSpPr>
          <p:cNvPr id="3" name="Draft tag"/>
          <p:cNvSpPr/>
          <p:nvPr/>
        </p:nvSpPr>
        <p:spPr>
          <a:xfrm>
            <a:off x="10058400" y="274320"/>
            <a:ext cx="1554480" cy="310896"/>
          </a:xfrm>
          <a:prstGeom prst="roundRect">
            <a:avLst/>
          </a:prstGeom>
          <a:noFill/>
          <a:ln w="9525">
            <a:solidFill>
              <a:srgbClr val="808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E6066"/>
                </a:solidFill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1600200"/>
            <a:ext cx="3587496" cy="4343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7512" y="1737360"/>
            <a:ext cx="3221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6E98"/>
                </a:solidFill>
              </a:rPr>
              <a:t>PUBLIC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148840"/>
            <a:ext cx="3221736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3"/>
              </a:rPr>
              <a:t>ai4bharat/FERMAT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handwritten math + error labels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4"/>
              </a:rPr>
              <a:t>CHECK-MAT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122 graded exam solutions (eval)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5"/>
              </a:rPr>
              <a:t>DrawEduMath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2,030 K-12 student images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6"/>
              </a:rPr>
              <a:t>MathWriting</a:t>
            </a:r>
            <a:r>
              <a:rPr sz="1600" b="0" i="0">
                <a:solidFill>
                  <a:srgbClr val="2B2C30"/>
                </a:solidFill>
              </a:rPr>
              <a:t> · </a:t>
            </a:r>
            <a:r>
              <a:rPr sz="1600" b="0" i="0">
                <a:solidFill>
                  <a:srgbClr val="046E98"/>
                </a:solidFill>
                <a:hlinkClick r:id="rId7"/>
              </a:rPr>
              <a:t>HME100K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train the reading stage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8"/>
              </a:rPr>
              <a:t>SciEntsBank</a:t>
            </a:r>
            <a:r>
              <a:rPr sz="1600" b="0" i="0">
                <a:solidFill>
                  <a:srgbClr val="2B2C30"/>
                </a:solidFill>
              </a:rPr>
              <a:t> · </a:t>
            </a:r>
            <a:r>
              <a:rPr sz="1600" b="0" i="0">
                <a:solidFill>
                  <a:srgbClr val="046E98"/>
                </a:solidFill>
                <a:hlinkClick r:id="rId9"/>
              </a:rPr>
              <a:t>Beetle</a:t>
            </a:r>
            <a:r>
              <a:rPr sz="1600" b="0" i="0">
                <a:solidFill>
                  <a:srgbClr val="2B2C30"/>
                </a:solidFill>
              </a:rPr>
              <a:t> · </a:t>
            </a:r>
            <a:r>
              <a:rPr sz="1600" b="0" i="0">
                <a:solidFill>
                  <a:srgbClr val="046E98"/>
                </a:solidFill>
                <a:hlinkClick r:id="rId10"/>
              </a:rPr>
              <a:t>SAF-de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graded short answers → synthetic handwriting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5008" y="1600200"/>
            <a:ext cx="3587496" cy="4343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37888" y="1737360"/>
            <a:ext cx="3221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6E98"/>
                </a:solidFill>
              </a:rPr>
              <a:t>MODELS (HUGGING FACE)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7888" y="2148840"/>
            <a:ext cx="3221736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11"/>
              </a:rPr>
              <a:t>Qwen3-VL-4B / 8B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fine-tuning base, Apache-2.0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12"/>
              </a:rPr>
              <a:t>DeepSeek-OCR-2</a:t>
            </a:r>
            <a:r>
              <a:rPr sz="1600" b="0" i="0">
                <a:solidFill>
                  <a:srgbClr val="2B2C30"/>
                </a:solidFill>
              </a:rPr>
              <a:t> · </a:t>
            </a:r>
            <a:r>
              <a:rPr sz="1600" b="0" i="0">
                <a:solidFill>
                  <a:srgbClr val="046E98"/>
                </a:solidFill>
                <a:hlinkClick r:id="rId13"/>
              </a:rPr>
              <a:t>chandra-ocr-2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OCR stage / baselines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14"/>
              </a:rPr>
              <a:t>Uni-MuMER-Qwen3-VL-2B</a:t>
            </a:r>
            <a:r>
              <a:rPr sz="1600" b="0" i="0">
                <a:solidFill>
                  <a:srgbClr val="2B2C30"/>
                </a:solidFill>
              </a:rPr>
              <a:t> · </a:t>
            </a:r>
            <a:r>
              <a:rPr sz="1600" b="0" i="0">
                <a:solidFill>
                  <a:srgbClr val="046E98"/>
                </a:solidFill>
                <a:hlinkClick r:id="rId15"/>
              </a:rPr>
              <a:t>TexTeller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handwritten math → LaTeX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16"/>
              </a:rPr>
              <a:t>olmOCR-2</a:t>
            </a:r>
            <a:r>
              <a:rPr sz="1600" b="0" i="0">
                <a:solidFill>
                  <a:srgbClr val="2B2C30"/>
                </a:solidFill>
              </a:rPr>
              <a:t> · </a:t>
            </a:r>
            <a:r>
              <a:rPr sz="1600" b="0" i="0">
                <a:solidFill>
                  <a:srgbClr val="046E98"/>
                </a:solidFill>
                <a:hlinkClick r:id="rId17"/>
              </a:rPr>
              <a:t>PaddleOCR-VL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more OCR baselines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B2C30"/>
                </a:solidFill>
              </a:rPr>
              <a:t>Mistral OCR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03A2E"/>
                </a:solidFill>
              </a:rPr>
              <a:t>API only – closed baseline, cannot fine-tune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5383" y="1600200"/>
            <a:ext cx="3587496" cy="4343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08263" y="1737360"/>
            <a:ext cx="3221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6E98"/>
                </a:solidFill>
              </a:rPr>
              <a:t>KEY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8263" y="2148840"/>
            <a:ext cx="3221736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18"/>
              </a:rPr>
              <a:t>FERMAT (Nath 2025)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benchmark, handwritten math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19"/>
              </a:rPr>
              <a:t>VEHME (EMNLP 2025)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fine-tuned VLM grader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20"/>
              </a:rPr>
              <a:t>Levine et al. (AIED 2026)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real exams, error analysis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21"/>
              </a:rPr>
              <a:t>Henkel et al. 2025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reading vs grading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22"/>
              </a:rPr>
              <a:t>Seong et al. 2026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VLMs ‘fix’ students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46E98"/>
                </a:solidFill>
                <a:hlinkClick r:id="rId23"/>
              </a:rPr>
              <a:t>Kortemeyer (ETH) 2024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E6066"/>
                </a:solidFill>
              </a:rPr>
              <a:t>handwritten math short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and research questions</a:t>
            </a:r>
          </a:p>
        </p:txBody>
      </p:sp>
      <p:sp>
        <p:nvSpPr>
          <p:cNvPr id="3" name="Draft tag"/>
          <p:cNvSpPr/>
          <p:nvPr/>
        </p:nvSpPr>
        <p:spPr>
          <a:xfrm>
            <a:off x="10058400" y="274320"/>
            <a:ext cx="1554480" cy="310896"/>
          </a:xfrm>
          <a:prstGeom prst="roundRect">
            <a:avLst/>
          </a:prstGeom>
          <a:noFill/>
          <a:ln w="9525">
            <a:solidFill>
              <a:srgbClr val="808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E6066"/>
                </a:solidFill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160020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691640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B2C30"/>
                </a:solidFill>
              </a:rPr>
              <a:t>Scan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066"/>
                </a:solidFill>
              </a:rPr>
              <a:t>photo of the answer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4016" y="2039112"/>
            <a:ext cx="329184" cy="274320"/>
          </a:xfrm>
          <a:prstGeom prst="rightArrow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798063" y="160020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35223" y="1691640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Read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</a:rPr>
              <a:t>fine-tuned open VLM (LoRA)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27447" y="2039112"/>
            <a:ext cx="329184" cy="274320"/>
          </a:xfrm>
          <a:prstGeom prst="rightArrow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111496" y="160020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48656" y="1691640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B2C30"/>
                </a:solidFill>
              </a:rPr>
              <a:t>Check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066"/>
                </a:solidFill>
              </a:rPr>
              <a:t>SymPy / answer key, like STACK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40879" y="2039112"/>
            <a:ext cx="329184" cy="274320"/>
          </a:xfrm>
          <a:prstGeom prst="rightArrow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424927" y="160020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62088" y="1691640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B2C30"/>
                </a:solidFill>
              </a:rPr>
              <a:t>Grade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066"/>
                </a:solidFill>
              </a:rPr>
              <a:t>score + confidence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54311" y="2039112"/>
            <a:ext cx="329184" cy="274320"/>
          </a:xfrm>
          <a:prstGeom prst="rightArrow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738359" y="160020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75519" y="1691640"/>
            <a:ext cx="1600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B2C30"/>
                </a:solidFill>
              </a:rPr>
              <a:t>Human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066"/>
                </a:solidFill>
              </a:rPr>
              <a:t>only if unsure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" y="2971800"/>
            <a:ext cx="3587496" cy="29718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67512" y="3154680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172968"/>
            <a:ext cx="2764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C30"/>
                </a:solidFill>
              </a:rPr>
              <a:t>Fine-tuned small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657600"/>
            <a:ext cx="32217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C30"/>
                </a:solidFill>
              </a:rPr>
              <a:t>Does LoRA on Qwen3-VL-4B close the gap to closed models in error detection on FERMAT?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046E98"/>
                </a:solidFill>
              </a:rPr>
              <a:t>H1: fine-tuned 4B ≥ zero-shot 8B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5008" y="2971800"/>
            <a:ext cx="3587496" cy="29718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437888" y="3154680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0808" y="3172968"/>
            <a:ext cx="2764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C30"/>
                </a:solidFill>
              </a:rPr>
              <a:t>Two-stage vs end-to-end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7888" y="3657600"/>
            <a:ext cx="32217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C30"/>
                </a:solidFill>
              </a:rPr>
              <a:t>Read first, then check (STACK-style) – or grade directly from the image?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046E98"/>
                </a:solidFill>
              </a:rPr>
              <a:t>H2: end-to-end finds more errors (no ‘fixing’); two-stage better on final answers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5383" y="2971800"/>
            <a:ext cx="3587496" cy="29718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208263" y="3154680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1183" y="3172968"/>
            <a:ext cx="2764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C30"/>
                </a:solidFill>
              </a:rPr>
              <a:t>Know when to ask a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8263" y="3657600"/>
            <a:ext cx="322173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C30"/>
                </a:solidFill>
              </a:rPr>
              <a:t>Can the grader abstain on low-confidence answers and stay accurate on the rest?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046E98"/>
                </a:solidFill>
              </a:rPr>
              <a:t>H3: deferring 20% raises accuracy by ≥ 5 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and questions for you</a:t>
            </a:r>
          </a:p>
        </p:txBody>
      </p:sp>
      <p:sp>
        <p:nvSpPr>
          <p:cNvPr id="3" name="Draft tag"/>
          <p:cNvSpPr/>
          <p:nvPr/>
        </p:nvSpPr>
        <p:spPr>
          <a:xfrm>
            <a:off x="10058400" y="274320"/>
            <a:ext cx="1554480" cy="310896"/>
          </a:xfrm>
          <a:prstGeom prst="roundRect">
            <a:avLst/>
          </a:prstGeom>
          <a:noFill/>
          <a:ln w="9525">
            <a:solidFill>
              <a:srgbClr val="808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E6066"/>
                </a:solidFill>
              </a:rPr>
              <a:t>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1600200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6E98"/>
                </a:solidFill>
              </a:rPr>
              <a:t>SEMINAR PAPER – CANDIDATES</a:t>
            </a:r>
          </a:p>
        </p:txBody>
      </p:sp>
      <p:sp>
        <p:nvSpPr>
          <p:cNvPr id="5" name="Oval 4"/>
          <p:cNvSpPr/>
          <p:nvPr/>
        </p:nvSpPr>
        <p:spPr>
          <a:xfrm>
            <a:off x="484632" y="1965960"/>
            <a:ext cx="347472" cy="347472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947672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6E98"/>
                </a:solidFill>
                <a:hlinkClick r:id="rId3"/>
              </a:rPr>
              <a:t>VEHME (EMNLP 2025)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E6066"/>
                </a:solidFill>
              </a:rPr>
              <a:t>fine-tuning method; same model makes data, reward and evaluation</a:t>
            </a:r>
          </a:p>
        </p:txBody>
      </p:sp>
      <p:sp>
        <p:nvSpPr>
          <p:cNvPr id="7" name="Oval 6"/>
          <p:cNvSpPr/>
          <p:nvPr/>
        </p:nvSpPr>
        <p:spPr>
          <a:xfrm>
            <a:off x="484632" y="2587752"/>
            <a:ext cx="347472" cy="347472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69464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6E98"/>
                </a:solidFill>
                <a:hlinkClick r:id="rId4"/>
              </a:rPr>
              <a:t>Henkel et al. 2025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E6066"/>
                </a:solidFill>
              </a:rPr>
              <a:t>reading vs grading; tables contradict the text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3209544"/>
            <a:ext cx="347472" cy="347472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91256"/>
            <a:ext cx="4901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6E98"/>
                </a:solidFill>
                <a:hlinkClick r:id="rId5"/>
              </a:rPr>
              <a:t>Tonmoy et al. 2026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E6066"/>
                </a:solidFill>
              </a:rPr>
              <a:t>handwritten exams + LoRA; private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0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6E98"/>
                </a:solidFill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206240"/>
            <a:ext cx="54498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500" b="0" i="0">
                <a:solidFill>
                  <a:srgbClr val="2B2C30"/>
                </a:solidFill>
              </a:rPr>
              <a:t>Send paper list; prepare the seminar paper talk + report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500" b="0" i="0">
                <a:solidFill>
                  <a:srgbClr val="2B2C30"/>
                </a:solidFill>
              </a:rPr>
              <a:t>Zero-shot baselines on FERMAT (Qwen3-VL, DeepSeek-OCR-2)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500" b="0" i="0">
                <a:solidFill>
                  <a:srgbClr val="2B2C30"/>
                </a:solidFill>
              </a:rPr>
              <a:t>Prototype synthetic handwriting for short answers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500" b="0" i="0">
                <a:solidFill>
                  <a:srgbClr val="2B2C30"/>
                </a:solidFill>
              </a:rPr>
              <a:t>Fix research question + hypothesis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00200"/>
            <a:ext cx="5449824" cy="4343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7376" y="1783080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6E98"/>
                </a:solidFill>
              </a:rPr>
              <a:t>QUESTIONS FOR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240280"/>
            <a:ext cx="4901184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1400"/>
              </a:spcAft>
              <a:buChar char="•"/>
            </a:pPr>
            <a:r>
              <a:rPr sz="1500" b="1" i="0">
                <a:solidFill>
                  <a:srgbClr val="2B2C30"/>
                </a:solidFill>
              </a:rPr>
              <a:t>Tasks: </a:t>
            </a:r>
            <a:r>
              <a:rPr sz="1500" b="0" i="0">
                <a:solidFill>
                  <a:srgbClr val="2B2C30"/>
                </a:solidFill>
              </a:rPr>
              <a:t>math + fill-the-gaps with synthetic handwriting – OK?</a:t>
            </a:r>
          </a:p>
          <a:p>
            <a:pPr algn="l" marL="182880" indent="-182880">
              <a:spcAft>
                <a:spcPts val="1400"/>
              </a:spcAft>
              <a:buChar char="•"/>
            </a:pPr>
            <a:r>
              <a:rPr sz="1500" b="1" i="0">
                <a:solidFill>
                  <a:srgbClr val="2B2C30"/>
                </a:solidFill>
              </a:rPr>
              <a:t>Essays: </a:t>
            </a:r>
            <a:r>
              <a:rPr sz="1500" b="0" i="0">
                <a:solidFill>
                  <a:srgbClr val="2B2C30"/>
                </a:solidFill>
              </a:rPr>
              <a:t>drop, or ask the VisEssay authors for data?</a:t>
            </a:r>
          </a:p>
          <a:p>
            <a:pPr algn="l" marL="182880" indent="-182880">
              <a:spcAft>
                <a:spcPts val="1400"/>
              </a:spcAft>
              <a:buChar char="•"/>
            </a:pPr>
            <a:r>
              <a:rPr sz="1500" b="1" i="0">
                <a:solidFill>
                  <a:srgbClr val="2B2C30"/>
                </a:solidFill>
              </a:rPr>
              <a:t>Seminar paper: </a:t>
            </a:r>
            <a:r>
              <a:rPr sz="1500" b="0" i="0">
                <a:solidFill>
                  <a:srgbClr val="2B2C30"/>
                </a:solidFill>
              </a:rPr>
              <a:t>VEHME or Henkel et al.?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Papers (35)</a:t>
            </a:r>
          </a:p>
        </p:txBody>
      </p:sp>
      <p:sp>
        <p:nvSpPr>
          <p:cNvPr id="3" name="Draft tag"/>
          <p:cNvSpPr/>
          <p:nvPr/>
        </p:nvSpPr>
        <p:spPr>
          <a:xfrm>
            <a:off x="10058400" y="274320"/>
            <a:ext cx="1554480" cy="310896"/>
          </a:xfrm>
          <a:prstGeom prst="roundRect">
            <a:avLst/>
          </a:prstGeom>
          <a:noFill/>
          <a:ln w="9525">
            <a:solidFill>
              <a:srgbClr val="808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E6066"/>
                </a:solidFill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1600200"/>
            <a:ext cx="3587496" cy="4343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67512" y="1874519"/>
            <a:ext cx="3313176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1. </a:t>
            </a:r>
            <a:r>
              <a:rPr sz="1150" b="0" i="0">
                <a:solidFill>
                  <a:srgbClr val="046E98"/>
                </a:solidFill>
                <a:hlinkClick r:id="rId3"/>
              </a:rPr>
              <a:t>FERMAT – Nath 2025</a:t>
            </a:r>
            <a:r>
              <a:rPr sz="900" b="0" i="0">
                <a:solidFill>
                  <a:srgbClr val="5E6066"/>
                </a:solidFill>
              </a:rPr>
              <a:t>  2501.07244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2. </a:t>
            </a:r>
            <a:r>
              <a:rPr sz="1150" b="0" i="0">
                <a:solidFill>
                  <a:srgbClr val="046E98"/>
                </a:solidFill>
                <a:hlinkClick r:id="rId4"/>
              </a:rPr>
              <a:t>VEHME – EMNLP 2025</a:t>
            </a:r>
            <a:r>
              <a:rPr sz="900" b="0" i="0">
                <a:solidFill>
                  <a:srgbClr val="5E6066"/>
                </a:solidFill>
              </a:rPr>
              <a:t>  2510.22798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3. </a:t>
            </a:r>
            <a:r>
              <a:rPr sz="1150" b="0" i="0">
                <a:solidFill>
                  <a:srgbClr val="046E98"/>
                </a:solidFill>
                <a:hlinkClick r:id="rId5"/>
              </a:rPr>
              <a:t>Levine – AIED 2026</a:t>
            </a:r>
            <a:r>
              <a:rPr sz="900" b="0" i="0">
                <a:solidFill>
                  <a:srgbClr val="5E6066"/>
                </a:solidFill>
              </a:rPr>
              <a:t>  2605.19043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4. </a:t>
            </a:r>
            <a:r>
              <a:rPr sz="1150" b="0" i="0">
                <a:solidFill>
                  <a:srgbClr val="046E98"/>
                </a:solidFill>
                <a:hlinkClick r:id="rId6"/>
              </a:rPr>
              <a:t>Yu – college math 2026</a:t>
            </a:r>
            <a:r>
              <a:rPr sz="900" b="0" i="0">
                <a:solidFill>
                  <a:srgbClr val="5E6066"/>
                </a:solidFill>
              </a:rPr>
              <a:t>  2603.00895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5. </a:t>
            </a:r>
            <a:r>
              <a:rPr sz="1150" b="0" i="0">
                <a:solidFill>
                  <a:srgbClr val="046E98"/>
                </a:solidFill>
                <a:hlinkClick r:id="rId7"/>
              </a:rPr>
              <a:t>CHECK-MAT 2025</a:t>
            </a:r>
            <a:r>
              <a:rPr sz="900" b="0" i="0">
                <a:solidFill>
                  <a:srgbClr val="5E6066"/>
                </a:solidFill>
              </a:rPr>
              <a:t>  2507.22958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6. </a:t>
            </a:r>
            <a:r>
              <a:rPr sz="1150" b="0" i="0">
                <a:solidFill>
                  <a:srgbClr val="046E98"/>
                </a:solidFill>
                <a:hlinkClick r:id="rId8"/>
              </a:rPr>
              <a:t>Henkel – Big Picture 2025</a:t>
            </a:r>
            <a:r>
              <a:rPr sz="900" b="0" i="0">
                <a:solidFill>
                  <a:srgbClr val="5E6066"/>
                </a:solidFill>
              </a:rPr>
              <a:t>  2510.05538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7. </a:t>
            </a:r>
            <a:r>
              <a:rPr sz="1150" b="0" i="0">
                <a:solidFill>
                  <a:srgbClr val="046E98"/>
                </a:solidFill>
                <a:hlinkClick r:id="rId9"/>
              </a:rPr>
              <a:t>MathWriting – Google 2024</a:t>
            </a:r>
            <a:r>
              <a:rPr sz="900" b="0" i="0">
                <a:solidFill>
                  <a:srgbClr val="5E6066"/>
                </a:solidFill>
              </a:rPr>
              <a:t>  2404.10690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8. </a:t>
            </a:r>
            <a:r>
              <a:rPr sz="1150" b="0" i="0">
                <a:solidFill>
                  <a:srgbClr val="046E98"/>
                </a:solidFill>
                <a:hlinkClick r:id="rId10"/>
              </a:rPr>
              <a:t>Grabowski – answer tables 2026</a:t>
            </a:r>
            <a:r>
              <a:rPr sz="900" b="0" i="0">
                <a:solidFill>
                  <a:srgbClr val="5E6066"/>
                </a:solidFill>
              </a:rPr>
              <a:t>  2606.11477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 9. </a:t>
            </a:r>
            <a:r>
              <a:rPr sz="1150" b="0" i="0">
                <a:solidFill>
                  <a:srgbClr val="046E98"/>
                </a:solidFill>
                <a:hlinkClick r:id="rId11"/>
              </a:rPr>
              <a:t>Fox – GCSE double-marked 2026</a:t>
            </a:r>
            <a:r>
              <a:rPr sz="900" b="0" i="0">
                <a:solidFill>
                  <a:srgbClr val="5E6066"/>
                </a:solidFill>
              </a:rPr>
              <a:t>  2606.24973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10. </a:t>
            </a:r>
            <a:r>
              <a:rPr sz="1150" b="0" i="0">
                <a:solidFill>
                  <a:srgbClr val="046E98"/>
                </a:solidFill>
                <a:hlinkClick r:id="rId12"/>
              </a:rPr>
              <a:t>Kubesch – Austrian essays 2026</a:t>
            </a:r>
            <a:r>
              <a:rPr sz="900" b="0" i="0">
                <a:solidFill>
                  <a:srgbClr val="5E6066"/>
                </a:solidFill>
              </a:rPr>
              <a:t>  2603.06066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11. </a:t>
            </a:r>
            <a:r>
              <a:rPr sz="1150" b="0" i="0">
                <a:solidFill>
                  <a:srgbClr val="046E98"/>
                </a:solidFill>
                <a:hlinkClick r:id="rId13"/>
              </a:rPr>
              <a:t>EssayJudge – ACL Findings 2025</a:t>
            </a:r>
            <a:r>
              <a:rPr sz="900" b="0" i="0">
                <a:solidFill>
                  <a:srgbClr val="5E6066"/>
                </a:solidFill>
              </a:rPr>
              <a:t>  ACL 2025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12. </a:t>
            </a:r>
            <a:r>
              <a:rPr sz="1150" b="0" i="0">
                <a:solidFill>
                  <a:srgbClr val="046E98"/>
                </a:solidFill>
                <a:hlinkClick r:id="rId14"/>
              </a:rPr>
              <a:t>Tonmoy – handwritten exams 2026</a:t>
            </a:r>
            <a:r>
              <a:rPr sz="900" b="0" i="0">
                <a:solidFill>
                  <a:srgbClr val="5E6066"/>
                </a:solidFill>
              </a:rPr>
              <a:t>  2609.14284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5008" y="1600200"/>
            <a:ext cx="3587496" cy="4343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437888" y="1874519"/>
            <a:ext cx="3313176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13. </a:t>
            </a:r>
            <a:r>
              <a:rPr sz="1150" b="0" i="0">
                <a:solidFill>
                  <a:srgbClr val="046E98"/>
                </a:solidFill>
                <a:hlinkClick r:id="rId15"/>
              </a:rPr>
              <a:t>Caraeni – GPT-4 math exams 2024</a:t>
            </a:r>
            <a:r>
              <a:rPr sz="900" b="0" i="0">
                <a:solidFill>
                  <a:srgbClr val="5E6066"/>
                </a:solidFill>
              </a:rPr>
              <a:t>  2411.05231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14. </a:t>
            </a:r>
            <a:r>
              <a:rPr sz="1150" b="0" i="0">
                <a:solidFill>
                  <a:srgbClr val="046E98"/>
                </a:solidFill>
                <a:hlinkClick r:id="rId16"/>
              </a:rPr>
              <a:t>ETH – handwritten math 2024</a:t>
            </a:r>
            <a:r>
              <a:rPr sz="900" b="0" i="0">
                <a:solidFill>
                  <a:srgbClr val="5E6066"/>
                </a:solidFill>
              </a:rPr>
              <a:t>  2408.11728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15. </a:t>
            </a:r>
            <a:r>
              <a:rPr sz="1150" b="0" i="0">
                <a:solidFill>
                  <a:srgbClr val="046E98"/>
                </a:solidFill>
                <a:hlinkClick r:id="rId17"/>
              </a:rPr>
              <a:t>ETH – thermodynamics 2024</a:t>
            </a:r>
            <a:r>
              <a:rPr sz="900" b="0" i="0">
                <a:solidFill>
                  <a:srgbClr val="5E6066"/>
                </a:solidFill>
              </a:rPr>
              <a:t>  2406.17859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16. </a:t>
            </a:r>
            <a:r>
              <a:rPr sz="1150" b="0" i="0">
                <a:solidFill>
                  <a:srgbClr val="046E98"/>
                </a:solidFill>
                <a:hlinkClick r:id="rId18"/>
              </a:rPr>
              <a:t>ETH – chemistry 2025</a:t>
            </a:r>
            <a:r>
              <a:rPr sz="900" b="0" i="0">
                <a:solidFill>
                  <a:srgbClr val="5E6066"/>
                </a:solidFill>
              </a:rPr>
              <a:t>  2509.10591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17. </a:t>
            </a:r>
            <a:r>
              <a:rPr sz="1150" b="0" i="0">
                <a:solidFill>
                  <a:srgbClr val="046E98"/>
                </a:solidFill>
                <a:hlinkClick r:id="rId19"/>
              </a:rPr>
              <a:t>ETH – IRT confidence 2024</a:t>
            </a:r>
            <a:r>
              <a:rPr sz="900" b="0" i="0">
                <a:solidFill>
                  <a:srgbClr val="5E6066"/>
                </a:solidFill>
              </a:rPr>
              <a:t>  2410.19409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18. </a:t>
            </a:r>
            <a:r>
              <a:rPr sz="1150" b="0" i="0">
                <a:solidFill>
                  <a:srgbClr val="046E98"/>
                </a:solidFill>
                <a:hlinkClick r:id="rId20"/>
              </a:rPr>
              <a:t>ETH – calculus GPT-5 2025</a:t>
            </a:r>
            <a:r>
              <a:rPr sz="900" b="0" i="0">
                <a:solidFill>
                  <a:srgbClr val="5E6066"/>
                </a:solidFill>
              </a:rPr>
              <a:t>  2510.05162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19. </a:t>
            </a:r>
            <a:r>
              <a:rPr sz="1150" b="0" i="0">
                <a:solidFill>
                  <a:srgbClr val="046E98"/>
                </a:solidFill>
                <a:hlinkClick r:id="rId21"/>
              </a:rPr>
              <a:t>ETH – embeddings 2026</a:t>
            </a:r>
            <a:r>
              <a:rPr sz="900" b="0" i="0">
                <a:solidFill>
                  <a:srgbClr val="5E6066"/>
                </a:solidFill>
              </a:rPr>
              <a:t>  2606.28872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20. </a:t>
            </a:r>
            <a:r>
              <a:rPr sz="1150" b="0" i="0">
                <a:solidFill>
                  <a:srgbClr val="046E98"/>
                </a:solidFill>
                <a:hlinkClick r:id="rId22"/>
              </a:rPr>
              <a:t>ETH – GPT-4 on ASAG 2023</a:t>
            </a:r>
            <a:r>
              <a:rPr sz="900" b="0" i="0">
                <a:solidFill>
                  <a:srgbClr val="5E6066"/>
                </a:solidFill>
              </a:rPr>
              <a:t>  2309.09338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21. </a:t>
            </a:r>
            <a:r>
              <a:rPr sz="1150" b="0" i="0">
                <a:solidFill>
                  <a:srgbClr val="046E98"/>
                </a:solidFill>
                <a:hlinkClick r:id="rId23"/>
              </a:rPr>
              <a:t>Perš – engineering exams 2026</a:t>
            </a:r>
            <a:r>
              <a:rPr sz="900" b="0" i="0">
                <a:solidFill>
                  <a:srgbClr val="5E6066"/>
                </a:solidFill>
              </a:rPr>
              <a:t>  2601.00730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22. </a:t>
            </a:r>
            <a:r>
              <a:rPr sz="1150" b="0" i="0">
                <a:solidFill>
                  <a:srgbClr val="046E98"/>
                </a:solidFill>
                <a:hlinkClick r:id="rId24"/>
              </a:rPr>
              <a:t>Vanhoyweghen – human check 2026</a:t>
            </a:r>
            <a:r>
              <a:rPr sz="900" b="0" i="0">
                <a:solidFill>
                  <a:srgbClr val="5E6066"/>
                </a:solidFill>
              </a:rPr>
              <a:t>  2603.13083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23. </a:t>
            </a:r>
            <a:r>
              <a:rPr sz="1150" b="0" i="0">
                <a:solidFill>
                  <a:srgbClr val="046E98"/>
                </a:solidFill>
                <a:hlinkClick r:id="rId25"/>
              </a:rPr>
              <a:t>Pathak – physics olympiad 2026</a:t>
            </a:r>
            <a:r>
              <a:rPr sz="900" b="0" i="0">
                <a:solidFill>
                  <a:srgbClr val="5E6066"/>
                </a:solidFill>
              </a:rPr>
              <a:t>  2608.20521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24. </a:t>
            </a:r>
            <a:r>
              <a:rPr sz="1150" b="0" i="0">
                <a:solidFill>
                  <a:srgbClr val="046E98"/>
                </a:solidFill>
                <a:hlinkClick r:id="rId26"/>
              </a:rPr>
              <a:t>McGinness – bounding boxes 2026</a:t>
            </a:r>
            <a:r>
              <a:rPr sz="900" b="0" i="0">
                <a:solidFill>
                  <a:srgbClr val="5E6066"/>
                </a:solidFill>
              </a:rPr>
              <a:t>  2607.18767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5383" y="1600200"/>
            <a:ext cx="3587496" cy="4343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08263" y="1874519"/>
            <a:ext cx="3313176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25. </a:t>
            </a:r>
            <a:r>
              <a:rPr sz="1150" b="0" i="0">
                <a:solidFill>
                  <a:srgbClr val="046E98"/>
                </a:solidFill>
                <a:hlinkClick r:id="rId27"/>
              </a:rPr>
              <a:t>Pensieve Grader 2025</a:t>
            </a:r>
            <a:r>
              <a:rPr sz="900" b="0" i="0">
                <a:solidFill>
                  <a:srgbClr val="5E6066"/>
                </a:solidFill>
              </a:rPr>
              <a:t>  2507.01431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26. </a:t>
            </a:r>
            <a:r>
              <a:rPr sz="1150" b="0" i="0">
                <a:solidFill>
                  <a:srgbClr val="046E98"/>
                </a:solidFill>
                <a:hlinkClick r:id="rId28"/>
              </a:rPr>
              <a:t>Sil – answer sheets 2024</a:t>
            </a:r>
            <a:r>
              <a:rPr sz="900" b="0" i="0">
                <a:solidFill>
                  <a:srgbClr val="5E6066"/>
                </a:solidFill>
              </a:rPr>
              <a:t>  2408.12870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27. </a:t>
            </a:r>
            <a:r>
              <a:rPr sz="1150" b="0" i="0">
                <a:solidFill>
                  <a:srgbClr val="046E98"/>
                </a:solidFill>
                <a:hlinkClick r:id="rId29"/>
              </a:rPr>
              <a:t>DrawEduMath – NAACL 2025</a:t>
            </a:r>
            <a:r>
              <a:rPr sz="900" b="0" i="0">
                <a:solidFill>
                  <a:srgbClr val="5E6066"/>
                </a:solidFill>
              </a:rPr>
              <a:t>  2501.14877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28. </a:t>
            </a:r>
            <a:r>
              <a:rPr sz="1150" b="0" i="0">
                <a:solidFill>
                  <a:srgbClr val="046E98"/>
                </a:solidFill>
                <a:hlinkClick r:id="rId30"/>
              </a:rPr>
              <a:t>Aftermath of DrawEduMath 2026</a:t>
            </a:r>
            <a:r>
              <a:rPr sz="900" b="0" i="0">
                <a:solidFill>
                  <a:srgbClr val="5E6066"/>
                </a:solidFill>
              </a:rPr>
              <a:t>  2603.00925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29. </a:t>
            </a:r>
            <a:r>
              <a:rPr sz="1150" b="0" i="0">
                <a:solidFill>
                  <a:srgbClr val="046E98"/>
                </a:solidFill>
                <a:hlinkClick r:id="rId31"/>
              </a:rPr>
              <a:t>Seong – VLMs ‘fix’ students 2026</a:t>
            </a:r>
            <a:r>
              <a:rPr sz="900" b="0" i="0">
                <a:solidFill>
                  <a:srgbClr val="5E6066"/>
                </a:solidFill>
              </a:rPr>
              <a:t>  2604.22774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30. </a:t>
            </a:r>
            <a:r>
              <a:rPr sz="1150" b="0" i="0">
                <a:solidFill>
                  <a:srgbClr val="046E98"/>
                </a:solidFill>
                <a:hlinkClick r:id="rId32"/>
              </a:rPr>
              <a:t>Uni-MuMER – NeurIPS 2025</a:t>
            </a:r>
            <a:r>
              <a:rPr sz="900" b="0" i="0">
                <a:solidFill>
                  <a:srgbClr val="5E6066"/>
                </a:solidFill>
              </a:rPr>
              <a:t>  2505.23566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31. </a:t>
            </a:r>
            <a:r>
              <a:rPr sz="1150" b="0" i="0">
                <a:solidFill>
                  <a:srgbClr val="046E98"/>
                </a:solidFill>
                <a:hlinkClick r:id="rId33"/>
              </a:rPr>
              <a:t>ASAG2024 benchmark</a:t>
            </a:r>
            <a:r>
              <a:rPr sz="900" b="0" i="0">
                <a:solidFill>
                  <a:srgbClr val="5E6066"/>
                </a:solidFill>
              </a:rPr>
              <a:t>  2409.18596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32. </a:t>
            </a:r>
            <a:r>
              <a:rPr sz="1150" b="0" i="0">
                <a:solidFill>
                  <a:srgbClr val="046E98"/>
                </a:solidFill>
                <a:hlinkClick r:id="rId34"/>
              </a:rPr>
              <a:t>RiceChem – AIED 2024</a:t>
            </a:r>
            <a:r>
              <a:rPr sz="900" b="0" i="0">
                <a:solidFill>
                  <a:srgbClr val="5E6066"/>
                </a:solidFill>
              </a:rPr>
              <a:t>  2404.14316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33. </a:t>
            </a:r>
            <a:r>
              <a:rPr sz="1150" b="0" i="0">
                <a:solidFill>
                  <a:srgbClr val="046E98"/>
                </a:solidFill>
                <a:hlinkClick r:id="rId35"/>
              </a:rPr>
              <a:t>Rubric-conditioned grading 2025</a:t>
            </a:r>
            <a:r>
              <a:rPr sz="900" b="0" i="0">
                <a:solidFill>
                  <a:srgbClr val="5E6066"/>
                </a:solidFill>
              </a:rPr>
              <a:t>  2601.08843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34. </a:t>
            </a:r>
            <a:r>
              <a:rPr sz="1150" b="0" i="0">
                <a:solidFill>
                  <a:srgbClr val="046E98"/>
                </a:solidFill>
                <a:hlinkClick r:id="rId36"/>
              </a:rPr>
              <a:t>Fine-tuning for ASAG 2025</a:t>
            </a:r>
            <a:r>
              <a:rPr sz="900" b="0" i="0">
                <a:solidFill>
                  <a:srgbClr val="5E6066"/>
                </a:solidFill>
              </a:rPr>
              <a:t>  2508.04063</a:t>
            </a:r>
          </a:p>
          <a:p>
            <a:pPr algn="l">
              <a:spcAft>
                <a:spcPts val="800"/>
              </a:spcAft>
            </a:pPr>
            <a:r>
              <a:rPr sz="1150" b="0" i="0">
                <a:solidFill>
                  <a:srgbClr val="5E6066"/>
                </a:solidFill>
              </a:rPr>
              <a:t>35. </a:t>
            </a:r>
            <a:r>
              <a:rPr sz="1150" b="0" i="0">
                <a:solidFill>
                  <a:srgbClr val="046E98"/>
                </a:solidFill>
                <a:hlinkClick r:id="rId37"/>
              </a:rPr>
              <a:t>Essay-BR 2021</a:t>
            </a:r>
            <a:r>
              <a:rPr sz="900" b="0" i="0">
                <a:solidFill>
                  <a:srgbClr val="5E6066"/>
                </a:solidFill>
              </a:rPr>
              <a:t>  2105.09081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ku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
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70" r:id="rId13"/>
    <p:sldId id="271" r:id="rId14"/>
    <p:sldId id="272" r:id="rId15"/>
    <p:sldId id="273" r:id="rId16"/>
    <p:sldId id="274" r:id="rId17"/>
    <p:sldId id="275" r:id="rId12"/>
    <p:sldId id="276" r:id="rId11"/>
    <p:sldId id="277" r:id="rId10"/>
    <p:sldId id="278" r:id="rId9"/>
    <p:sldId id="279" r:id="rId8"/>
    <p:sldId id="280" r:id="rId7"/>
    <p:sldId id="281" r:id="rId6"/>
    <p:sldId id="282" r:id="rId25"/>
    <p:sldId id="283" r:id="rId26"/>
    <p:sldId id="284" r:id="rId27"/>
    <p:sldId id="285" r:id="rId28"/>
    <p:sldId id="269" r:id="rId18"/>
  </p:sldIdLst>
  <p:sldSz cy="6858000" cx="12192000"/>
  <p:notesSz cx="6858000" cy="9144000"/>
  <p:embeddedFontLst>
    <p:embeddedFont>
      <p:font typeface="Arial Black"/>
      <p:regular r:id="rId19"/>
    </p:embeddedFont>
    <p:embeddedFont>
      <p:font typeface="Roboto Mon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g/EifHpe8WVly8TZ2pHtXF0MO8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13.xml"/><Relationship Id="rId7" Type="http://schemas.openxmlformats.org/officeDocument/2006/relationships/slide" Target="slides/slide12.xml"/><Relationship Id="rId8" Type="http://schemas.openxmlformats.org/officeDocument/2006/relationships/slide" Target="slides/slide11.xml"/><Relationship Id="rId9" Type="http://schemas.openxmlformats.org/officeDocument/2006/relationships/slide" Target="slides/slide10.xml"/><Relationship Id="rId10" Type="http://schemas.openxmlformats.org/officeDocument/2006/relationships/slide" Target="slides/slide9.xml"/><Relationship Id="rId11" Type="http://schemas.openxmlformats.org/officeDocument/2006/relationships/slide" Target="slides/slide8.xml"/><Relationship Id="rId12" Type="http://schemas.openxmlformats.org/officeDocument/2006/relationships/slide" Target="slides/slide7.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18.xml"/><Relationship Id="rId19" Type="http://schemas.openxmlformats.org/officeDocument/2006/relationships/font" Target="fonts/ArialBlack-regular.fntdata"/><Relationship Id="rId20" Type="http://schemas.openxmlformats.org/officeDocument/2006/relationships/font" Target="fonts/RobotoMono-regular.fntdata"/><Relationship Id="rId21" Type="http://schemas.openxmlformats.org/officeDocument/2006/relationships/font" Target="fonts/RobotoMono-bold.fntdata"/><Relationship Id="rId22" Type="http://schemas.openxmlformats.org/officeDocument/2006/relationships/font" Target="fonts/RobotoMono-italic.fntdata"/><Relationship Id="rId23" Type="http://schemas.openxmlformats.org/officeDocument/2006/relationships/font" Target="fonts/RobotoMono-boldItalic.fntdata"/><Relationship Id="rId24" Type="http://customschemas.google.com/relationships/presentationmetadata" Target="metadata"/><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Draft for the idea-generation phase. Goal of today: agree on 1–2 tasks and next steps.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Problem: grading handwritten worksheets and exams is manual work. STACK (ETH Zurich) shows the value of grading by meaning, but needs typed input. Recent VLMs read handwriting well enough that grading becomes feasible; Levine et al. (AIED 2026) report that reading, not judging, causes most errors.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STACK (Chris Sangwin; used at ETH Zurich and many universities) is a Moodle question type. Teacher writes the question and model answer in Maxima; student types an expression; STACK validates syntax and shows how it parsed; a potential response tree runs CAS tests (algebraic equivalence, form, etc.) and gives score + feedback. Our idea: keep the meaning check, but replace step 1 (typed input) with a model that reads handwriting.</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STACK: Moodle plugin built on the Maxima computer algebra system; accepts any equivalent typed answer, randomised questions. Similar: Numbas, WeBWorK, PrairieLearn. Gradescope: AI groups similar handwritten answers, a human grades each group. Research VLM graders read and judge directly, without a symbolic check.</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Task levels as suggested by the supervisor on 14 Oct. Scope rule: pick about two tasks, depending on which public datasets exist. Building our own dataset is out of scope.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Idea for task 1. Gap positions are known from the printed worksheet, so the problem reduces to reading one word per gap and a policy for comparing it with the key. Key design question: how strict on spelling? No real worksheet dataset found; evaluate on answer-box and word-level data as a proxy.</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Idea for task 2. Two stages: transcribe the page, then score with a rubric; or one VLM end to end. Compare both. Human double-marking (GCSE benchmark) gives a ceiling: models cannot be expected to agree with a teacher more than two teachers agree with each other. English data is fine.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Idea for task 3, closest to STACK. Read each line of a derivation into LaTeX, then let SymPy check whether consecutive lines are equivalent. This localises the first wrong step, and a misread symbol shows up as one broken step instead of failing the whole answer. FERMAT gives labelled errors for evaluation; MathWriting / HME100K give training data for reading.</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Rough, subjective first assessment for discussion, not a measured result. Suggests Math as main task; second task is Fill the gaps (easy, but proxy data only) or Free text (more data, English).</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Researched 28 Oct 2026 (web + huggingface.co). Licences and access still to check, esp. GCSE benchmark and VisEssay. Grabowski 2026 says the anonymised benchmark is released. Non-German data is fine. No public fill-the-gaps worksheet set found; answer-box and text-line sets are the closest. Essays: English data exists (GCSE, VisEssay).</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Download counts from huggingface.co, 28 Oct 2026. Closed references (not fine-tunable): Gemini, GPT, Mistral OCR API. VEHME (EMNLP 2025) is a fine-tuned handwritten-math grader; weights not found on HF yet.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Reading list so far. Plan: read 5 closely, skim ~20 abstracts, email the list to the supervisor. Background book: C. Sangwin, Computer Aided Assessment of Mathematics (OUP 2013), by the author of STACK.</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Separate reading from judging. Step 3 is deterministic for math (SymPy equivalence per step), so one typo does not fail a whole derivation. The neural network part is step 2: LoRA fine-tuning of an open VLM, compared against zero-shot and against a VLM that grades directly. Ensembling two readers is an optional extra.</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Unfiltered ideas to discuss; not all will fit a seminar. Ensembling was the supervisor’s suggestion. Fairness across handwriting styles is raised by Grabowski 2026.</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Compute estimate is rough: LoRA on a 7B VLM typically needs a ~24 GB GPU; a 3–4B model fits smaller GPUs. To clarify with the supervisor today.</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Draft only — to be refined with the supervisor. Timeline is a proposal, not a course deadline. Questions to settle today: which 1–2 use cases, GPU access, and what the seminar paper should look like.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out logo All purpose">
  <p:cSld name="Title without logo All purpose">
    <p:spTree>
      <p:nvGrpSpPr>
        <p:cNvPr id="12" name="Shape 12"/>
        <p:cNvGrpSpPr/>
        <p:nvPr/>
      </p:nvGrpSpPr>
      <p:grpSpPr>
        <a:xfrm>
          <a:off x="0" y="0"/>
          <a:ext cx="0" cy="0"/>
          <a:chOff x="0" y="0"/>
          <a:chExt cx="0" cy="0"/>
        </a:xfrm>
      </p:grpSpPr>
      <p:sp>
        <p:nvSpPr>
          <p:cNvPr id="13" name="Google Shape;13;p16"/>
          <p:cNvSpPr/>
          <p:nvPr/>
        </p:nvSpPr>
        <p:spPr>
          <a:xfrm>
            <a:off x="0" y="0"/>
            <a:ext cx="12192000" cy="61436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4" name="Google Shape;14;p16"/>
          <p:cNvSpPr txBox="1"/>
          <p:nvPr>
            <p:ph idx="1" type="subTitle"/>
          </p:nvPr>
        </p:nvSpPr>
        <p:spPr>
          <a:xfrm>
            <a:off x="486000" y="5410800"/>
            <a:ext cx="11115450" cy="730800"/>
          </a:xfrm>
          <a:prstGeom prst="rect">
            <a:avLst/>
          </a:prstGeom>
          <a:noFill/>
          <a:ln>
            <a:noFill/>
          </a:ln>
        </p:spPr>
        <p:txBody>
          <a:bodyPr anchorCtr="0" anchor="t" bIns="45700" lIns="91425" spcFirstLastPara="1" rIns="91425" wrap="square" tIns="45700">
            <a:noAutofit/>
          </a:bodyPr>
          <a:lstStyle>
            <a:lvl1pPr lvl="0" algn="l">
              <a:lnSpc>
                <a:spcPct val="105000"/>
              </a:lnSpc>
              <a:spcBef>
                <a:spcPts val="0"/>
              </a:spcBef>
              <a:spcAft>
                <a:spcPts val="0"/>
              </a:spcAft>
              <a:buClr>
                <a:schemeClr val="lt1"/>
              </a:buClr>
              <a:buSzPts val="2160"/>
              <a:buNone/>
              <a:defRPr sz="1800">
                <a:solidFill>
                  <a:schemeClr val="lt1"/>
                </a:solidFill>
              </a:defRPr>
            </a:lvl1pPr>
            <a:lvl2pPr lvl="1" algn="ctr">
              <a:lnSpc>
                <a:spcPct val="105000"/>
              </a:lnSpc>
              <a:spcBef>
                <a:spcPts val="0"/>
              </a:spcBef>
              <a:spcAft>
                <a:spcPts val="0"/>
              </a:spcAft>
              <a:buClr>
                <a:schemeClr val="dk1"/>
              </a:buClr>
              <a:buSzPts val="2500"/>
              <a:buNone/>
              <a:defRPr sz="2000"/>
            </a:lvl2pPr>
            <a:lvl3pPr lvl="2" algn="ctr">
              <a:lnSpc>
                <a:spcPct val="105000"/>
              </a:lnSpc>
              <a:spcBef>
                <a:spcPts val="0"/>
              </a:spcBef>
              <a:spcAft>
                <a:spcPts val="0"/>
              </a:spcAft>
              <a:buClr>
                <a:schemeClr val="dk1"/>
              </a:buClr>
              <a:buSzPts val="1530"/>
              <a:buNone/>
              <a:defRPr sz="1800"/>
            </a:lvl3pPr>
            <a:lvl4pPr lvl="3" algn="ctr">
              <a:lnSpc>
                <a:spcPct val="105000"/>
              </a:lnSpc>
              <a:spcBef>
                <a:spcPts val="0"/>
              </a:spcBef>
              <a:spcAft>
                <a:spcPts val="0"/>
              </a:spcAft>
              <a:buClr>
                <a:schemeClr val="dk1"/>
              </a:buClr>
              <a:buSzPts val="1760"/>
              <a:buNone/>
              <a:defRPr sz="1600"/>
            </a:lvl4pPr>
            <a:lvl5pPr lvl="4" algn="ctr">
              <a:lnSpc>
                <a:spcPct val="105000"/>
              </a:lnSpc>
              <a:spcBef>
                <a:spcPts val="0"/>
              </a:spcBef>
              <a:spcAft>
                <a:spcPts val="0"/>
              </a:spcAft>
              <a:buClr>
                <a:schemeClr val="dk1"/>
              </a:buClr>
              <a:buSzPts val="104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 name="Google Shape;15;p16"/>
          <p:cNvSpPr txBox="1"/>
          <p:nvPr>
            <p:ph type="title"/>
          </p:nvPr>
        </p:nvSpPr>
        <p:spPr>
          <a:xfrm>
            <a:off x="475200" y="1306800"/>
            <a:ext cx="11128476" cy="2008800"/>
          </a:xfrm>
          <a:prstGeom prst="rect">
            <a:avLst/>
          </a:prstGeom>
          <a:noFill/>
          <a:ln>
            <a:noFill/>
          </a:ln>
        </p:spPr>
        <p:txBody>
          <a:bodyPr anchorCtr="0" anchor="b" bIns="45700" lIns="91425" spcFirstLastPara="1" rIns="91425" wrap="square" tIns="45700">
            <a:noAutofit/>
          </a:bodyPr>
          <a:lstStyle>
            <a:lvl1pPr lvl="0" algn="l">
              <a:lnSpc>
                <a:spcPct val="83000"/>
              </a:lnSpc>
              <a:spcBef>
                <a:spcPts val="0"/>
              </a:spcBef>
              <a:spcAft>
                <a:spcPts val="0"/>
              </a:spcAft>
              <a:buClr>
                <a:schemeClr val="lt1"/>
              </a:buClr>
              <a:buSzPts val="4500"/>
              <a:buFont typeface="Arial Black"/>
              <a:buNone/>
              <a:defRPr sz="45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6" name="Google Shape;16;p16"/>
          <p:cNvPicPr preferRelativeResize="0"/>
          <p:nvPr/>
        </p:nvPicPr>
        <p:blipFill rotWithShape="1">
          <a:blip r:embed="rId2">
            <a:alphaModFix/>
          </a:blip>
          <a:srcRect b="0" l="0" r="0" t="0"/>
          <a:stretch/>
        </p:blipFill>
        <p:spPr>
          <a:xfrm>
            <a:off x="447071" y="3231115"/>
            <a:ext cx="2196000" cy="2196083"/>
          </a:xfrm>
          <a:prstGeom prst="rect">
            <a:avLst/>
          </a:prstGeom>
          <a:noFill/>
          <a:ln>
            <a:noFill/>
          </a:ln>
        </p:spPr>
      </p:pic>
      <p:sp>
        <p:nvSpPr>
          <p:cNvPr id="17" name="Google Shape;17;p16"/>
          <p:cNvSpPr txBox="1"/>
          <p:nvPr>
            <p:ph idx="10" type="dt"/>
          </p:nvPr>
        </p:nvSpPr>
        <p:spPr>
          <a:xfrm>
            <a:off x="9424800" y="6357600"/>
            <a:ext cx="8172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6"/>
          <p:cNvSpPr txBox="1"/>
          <p:nvPr>
            <p:ph idx="11" type="ftr"/>
          </p:nvPr>
        </p:nvSpPr>
        <p:spPr>
          <a:xfrm>
            <a:off x="5889600" y="6350400"/>
            <a:ext cx="24264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6"/>
          <p:cNvSpPr txBox="1"/>
          <p:nvPr>
            <p:ph idx="12" type="sldNum"/>
          </p:nvPr>
        </p:nvSpPr>
        <p:spPr>
          <a:xfrm>
            <a:off x="11019600" y="6357600"/>
            <a:ext cx="6858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624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p:cSld name="Text">
    <p:spTree>
      <p:nvGrpSpPr>
        <p:cNvPr id="20" name="Shape 20"/>
        <p:cNvGrpSpPr/>
        <p:nvPr/>
      </p:nvGrpSpPr>
      <p:grpSpPr>
        <a:xfrm>
          <a:off x="0" y="0"/>
          <a:ext cx="0" cy="0"/>
          <a:chOff x="0" y="0"/>
          <a:chExt cx="0" cy="0"/>
        </a:xfrm>
      </p:grpSpPr>
      <p:sp>
        <p:nvSpPr>
          <p:cNvPr id="21" name="Google Shape;21;p17"/>
          <p:cNvSpPr txBox="1"/>
          <p:nvPr>
            <p:ph type="title"/>
          </p:nvPr>
        </p:nvSpPr>
        <p:spPr>
          <a:xfrm>
            <a:off x="486000" y="575999"/>
            <a:ext cx="11124000" cy="990000"/>
          </a:xfrm>
          <a:prstGeom prst="rect">
            <a:avLst/>
          </a:prstGeom>
          <a:noFill/>
          <a:ln>
            <a:noFill/>
          </a:ln>
        </p:spPr>
        <p:txBody>
          <a:bodyPr anchorCtr="0" anchor="t" bIns="45700" lIns="91425" spcFirstLastPara="1" rIns="91425" wrap="square" tIns="45700">
            <a:noAutofit/>
          </a:bodyPr>
          <a:lstStyle>
            <a:lvl1pPr lvl="0" algn="l">
              <a:lnSpc>
                <a:spcPct val="83000"/>
              </a:lnSpc>
              <a:spcBef>
                <a:spcPts val="0"/>
              </a:spcBef>
              <a:spcAft>
                <a:spcPts val="0"/>
              </a:spcAft>
              <a:buClr>
                <a:schemeClr val="dk1"/>
              </a:buClr>
              <a:buSzPts val="30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7"/>
          <p:cNvSpPr txBox="1"/>
          <p:nvPr>
            <p:ph idx="1" type="body"/>
          </p:nvPr>
        </p:nvSpPr>
        <p:spPr>
          <a:xfrm>
            <a:off x="471600" y="1621584"/>
            <a:ext cx="11138400" cy="4516749"/>
          </a:xfrm>
          <a:prstGeom prst="rect">
            <a:avLst/>
          </a:prstGeom>
          <a:noFill/>
          <a:ln>
            <a:noFill/>
          </a:ln>
        </p:spPr>
        <p:txBody>
          <a:bodyPr anchorCtr="0" anchor="t" bIns="45700" lIns="91425" spcFirstLastPara="1" rIns="91425" wrap="square" tIns="45700">
            <a:noAutofit/>
          </a:bodyPr>
          <a:lstStyle>
            <a:lvl1pPr indent="-381000" lvl="0" marL="457200" algn="l">
              <a:lnSpc>
                <a:spcPct val="105000"/>
              </a:lnSpc>
              <a:spcBef>
                <a:spcPts val="800"/>
              </a:spcBef>
              <a:spcAft>
                <a:spcPts val="0"/>
              </a:spcAft>
              <a:buClr>
                <a:schemeClr val="dk1"/>
              </a:buClr>
              <a:buSzPts val="2400"/>
              <a:buChar char="•"/>
              <a:defRPr/>
            </a:lvl1pPr>
            <a:lvl2pPr indent="-387350" lvl="1" marL="914400" algn="l">
              <a:lnSpc>
                <a:spcPct val="105000"/>
              </a:lnSpc>
              <a:spcBef>
                <a:spcPts val="0"/>
              </a:spcBef>
              <a:spcAft>
                <a:spcPts val="0"/>
              </a:spcAft>
              <a:buClr>
                <a:schemeClr val="dk1"/>
              </a:buClr>
              <a:buSzPts val="2500"/>
              <a:buChar char="◦"/>
              <a:defRPr/>
            </a:lvl2pPr>
            <a:lvl3pPr indent="-325755" lvl="2" marL="1371600" algn="l">
              <a:lnSpc>
                <a:spcPct val="105000"/>
              </a:lnSpc>
              <a:spcBef>
                <a:spcPts val="0"/>
              </a:spcBef>
              <a:spcAft>
                <a:spcPts val="0"/>
              </a:spcAft>
              <a:buClr>
                <a:schemeClr val="dk1"/>
              </a:buClr>
              <a:buSzPts val="1530"/>
              <a:buChar char="▪"/>
              <a:defRPr/>
            </a:lvl3pPr>
            <a:lvl4pPr indent="-354330" lvl="3" marL="1828800" algn="l">
              <a:lnSpc>
                <a:spcPct val="105000"/>
              </a:lnSpc>
              <a:spcBef>
                <a:spcPts val="0"/>
              </a:spcBef>
              <a:spcAft>
                <a:spcPts val="0"/>
              </a:spcAft>
              <a:buClr>
                <a:schemeClr val="dk1"/>
              </a:buClr>
              <a:buSzPts val="1980"/>
              <a:buChar char="-"/>
              <a:defRPr/>
            </a:lvl4pPr>
            <a:lvl5pPr indent="-302895" lvl="4" marL="2286000" algn="l">
              <a:lnSpc>
                <a:spcPct val="105000"/>
              </a:lnSpc>
              <a:spcBef>
                <a:spcPts val="0"/>
              </a:spcBef>
              <a:spcAft>
                <a:spcPts val="0"/>
              </a:spcAft>
              <a:buClr>
                <a:schemeClr val="dk1"/>
              </a:buClr>
              <a:buSzPts val="117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17"/>
          <p:cNvSpPr txBox="1"/>
          <p:nvPr>
            <p:ph idx="2" type="body"/>
          </p:nvPr>
        </p:nvSpPr>
        <p:spPr>
          <a:xfrm>
            <a:off x="471600" y="5858820"/>
            <a:ext cx="11138400" cy="278127"/>
          </a:xfrm>
          <a:prstGeom prst="rect">
            <a:avLst/>
          </a:prstGeom>
          <a:noFill/>
          <a:ln>
            <a:noFill/>
          </a:ln>
        </p:spPr>
        <p:txBody>
          <a:bodyPr anchorCtr="0" anchor="b" bIns="45700" lIns="91425" spcFirstLastPara="1" rIns="91425" wrap="square" tIns="45700">
            <a:noAutofit/>
          </a:bodyPr>
          <a:lstStyle>
            <a:lvl1pPr indent="-228600" lvl="0" marL="457200" algn="l">
              <a:lnSpc>
                <a:spcPct val="83000"/>
              </a:lnSpc>
              <a:spcBef>
                <a:spcPts val="800"/>
              </a:spcBef>
              <a:spcAft>
                <a:spcPts val="0"/>
              </a:spcAft>
              <a:buClr>
                <a:schemeClr val="dk1"/>
              </a:buClr>
              <a:buSzPts val="960"/>
              <a:buNone/>
              <a:defRPr b="0" sz="800">
                <a:latin typeface="Arial"/>
                <a:ea typeface="Arial"/>
                <a:cs typeface="Arial"/>
                <a:sym typeface="Arial"/>
              </a:defRPr>
            </a:lvl1pPr>
            <a:lvl2pPr indent="-228600" lvl="1" marL="914400" algn="l">
              <a:lnSpc>
                <a:spcPct val="133333"/>
              </a:lnSpc>
              <a:spcBef>
                <a:spcPts val="0"/>
              </a:spcBef>
              <a:spcAft>
                <a:spcPts val="0"/>
              </a:spcAft>
              <a:buClr>
                <a:schemeClr val="dk1"/>
              </a:buClr>
              <a:buSzPts val="938"/>
              <a:buNone/>
              <a:defRPr sz="750"/>
            </a:lvl2pPr>
            <a:lvl3pPr indent="-228600" lvl="2" marL="1371600" algn="l">
              <a:lnSpc>
                <a:spcPct val="133333"/>
              </a:lnSpc>
              <a:spcBef>
                <a:spcPts val="0"/>
              </a:spcBef>
              <a:spcAft>
                <a:spcPts val="0"/>
              </a:spcAft>
              <a:buClr>
                <a:schemeClr val="dk1"/>
              </a:buClr>
              <a:buSzPts val="638"/>
              <a:buNone/>
              <a:defRPr sz="750"/>
            </a:lvl3pPr>
            <a:lvl4pPr indent="-228600" lvl="3" marL="1828800" algn="l">
              <a:lnSpc>
                <a:spcPct val="133333"/>
              </a:lnSpc>
              <a:spcBef>
                <a:spcPts val="0"/>
              </a:spcBef>
              <a:spcAft>
                <a:spcPts val="0"/>
              </a:spcAft>
              <a:buClr>
                <a:schemeClr val="dk1"/>
              </a:buClr>
              <a:buSzPts val="825"/>
              <a:buNone/>
              <a:defRPr sz="750"/>
            </a:lvl4pPr>
            <a:lvl5pPr indent="-228600" lvl="4" marL="2286000" algn="l">
              <a:lnSpc>
                <a:spcPct val="133333"/>
              </a:lnSpc>
              <a:spcBef>
                <a:spcPts val="0"/>
              </a:spcBef>
              <a:spcAft>
                <a:spcPts val="0"/>
              </a:spcAft>
              <a:buClr>
                <a:schemeClr val="dk1"/>
              </a:buClr>
              <a:buSzPts val="488"/>
              <a:buNone/>
              <a:defRPr sz="75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7"/>
          <p:cNvSpPr txBox="1"/>
          <p:nvPr>
            <p:ph idx="10" type="dt"/>
          </p:nvPr>
        </p:nvSpPr>
        <p:spPr>
          <a:xfrm>
            <a:off x="9424800" y="6357600"/>
            <a:ext cx="8172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7"/>
          <p:cNvSpPr txBox="1"/>
          <p:nvPr>
            <p:ph idx="11" type="ftr"/>
          </p:nvPr>
        </p:nvSpPr>
        <p:spPr>
          <a:xfrm>
            <a:off x="5889600" y="6350400"/>
            <a:ext cx="24264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7"/>
          <p:cNvSpPr txBox="1"/>
          <p:nvPr>
            <p:ph idx="12" type="sldNum"/>
          </p:nvPr>
        </p:nvSpPr>
        <p:spPr>
          <a:xfrm>
            <a:off x="11019600" y="6357600"/>
            <a:ext cx="6858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and contrast">
  <p:cSld name="Comparison and contrast">
    <p:spTree>
      <p:nvGrpSpPr>
        <p:cNvPr id="27" name="Shape 27"/>
        <p:cNvGrpSpPr/>
        <p:nvPr/>
      </p:nvGrpSpPr>
      <p:grpSpPr>
        <a:xfrm>
          <a:off x="0" y="0"/>
          <a:ext cx="0" cy="0"/>
          <a:chOff x="0" y="0"/>
          <a:chExt cx="0" cy="0"/>
        </a:xfrm>
      </p:grpSpPr>
      <p:sp>
        <p:nvSpPr>
          <p:cNvPr id="28" name="Google Shape;28;p18"/>
          <p:cNvSpPr txBox="1"/>
          <p:nvPr>
            <p:ph type="title"/>
          </p:nvPr>
        </p:nvSpPr>
        <p:spPr>
          <a:xfrm>
            <a:off x="486000" y="575999"/>
            <a:ext cx="11124000" cy="990000"/>
          </a:xfrm>
          <a:prstGeom prst="rect">
            <a:avLst/>
          </a:prstGeom>
          <a:noFill/>
          <a:ln>
            <a:noFill/>
          </a:ln>
        </p:spPr>
        <p:txBody>
          <a:bodyPr anchorCtr="0" anchor="t" bIns="45700" lIns="91425" spcFirstLastPara="1" rIns="91425" wrap="square" tIns="45700">
            <a:noAutofit/>
          </a:bodyPr>
          <a:lstStyle>
            <a:lvl1pPr lvl="0" algn="l">
              <a:lnSpc>
                <a:spcPct val="83000"/>
              </a:lnSpc>
              <a:spcBef>
                <a:spcPts val="0"/>
              </a:spcBef>
              <a:spcAft>
                <a:spcPts val="0"/>
              </a:spcAft>
              <a:buClr>
                <a:schemeClr val="dk1"/>
              </a:buClr>
              <a:buSzPts val="30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8"/>
          <p:cNvSpPr txBox="1"/>
          <p:nvPr>
            <p:ph idx="1" type="body"/>
          </p:nvPr>
        </p:nvSpPr>
        <p:spPr>
          <a:xfrm>
            <a:off x="478800" y="1641600"/>
            <a:ext cx="5400000" cy="4514400"/>
          </a:xfrm>
          <a:prstGeom prst="rect">
            <a:avLst/>
          </a:prstGeom>
          <a:noFill/>
          <a:ln>
            <a:noFill/>
          </a:ln>
        </p:spPr>
        <p:txBody>
          <a:bodyPr anchorCtr="0" anchor="t" bIns="45700" lIns="91425" spcFirstLastPara="1" rIns="91425" wrap="square" tIns="45700">
            <a:noAutofit/>
          </a:bodyPr>
          <a:lstStyle>
            <a:lvl1pPr indent="-381000" lvl="0" marL="457200" algn="l">
              <a:lnSpc>
                <a:spcPct val="105000"/>
              </a:lnSpc>
              <a:spcBef>
                <a:spcPts val="800"/>
              </a:spcBef>
              <a:spcAft>
                <a:spcPts val="0"/>
              </a:spcAft>
              <a:buClr>
                <a:schemeClr val="dk1"/>
              </a:buClr>
              <a:buSzPts val="2400"/>
              <a:buChar char="•"/>
              <a:defRPr/>
            </a:lvl1pPr>
            <a:lvl2pPr indent="-387350" lvl="1" marL="914400" algn="l">
              <a:lnSpc>
                <a:spcPct val="105000"/>
              </a:lnSpc>
              <a:spcBef>
                <a:spcPts val="0"/>
              </a:spcBef>
              <a:spcAft>
                <a:spcPts val="0"/>
              </a:spcAft>
              <a:buClr>
                <a:schemeClr val="dk1"/>
              </a:buClr>
              <a:buSzPts val="2500"/>
              <a:buChar char="◦"/>
              <a:defRPr/>
            </a:lvl2pPr>
            <a:lvl3pPr indent="-325755" lvl="2" marL="1371600" algn="l">
              <a:lnSpc>
                <a:spcPct val="105000"/>
              </a:lnSpc>
              <a:spcBef>
                <a:spcPts val="0"/>
              </a:spcBef>
              <a:spcAft>
                <a:spcPts val="0"/>
              </a:spcAft>
              <a:buClr>
                <a:schemeClr val="dk1"/>
              </a:buClr>
              <a:buSzPts val="1530"/>
              <a:buChar char="▪"/>
              <a:defRPr/>
            </a:lvl3pPr>
            <a:lvl4pPr indent="-354330" lvl="3" marL="1828800" algn="l">
              <a:lnSpc>
                <a:spcPct val="105000"/>
              </a:lnSpc>
              <a:spcBef>
                <a:spcPts val="0"/>
              </a:spcBef>
              <a:spcAft>
                <a:spcPts val="0"/>
              </a:spcAft>
              <a:buClr>
                <a:schemeClr val="dk1"/>
              </a:buClr>
              <a:buSzPts val="1980"/>
              <a:buChar char="-"/>
              <a:defRPr/>
            </a:lvl4pPr>
            <a:lvl5pPr indent="-302895" lvl="4" marL="2286000" algn="l">
              <a:lnSpc>
                <a:spcPct val="105000"/>
              </a:lnSpc>
              <a:spcBef>
                <a:spcPts val="0"/>
              </a:spcBef>
              <a:spcAft>
                <a:spcPts val="0"/>
              </a:spcAft>
              <a:buClr>
                <a:schemeClr val="dk1"/>
              </a:buClr>
              <a:buSzPts val="117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18"/>
          <p:cNvSpPr txBox="1"/>
          <p:nvPr>
            <p:ph idx="2" type="body"/>
          </p:nvPr>
        </p:nvSpPr>
        <p:spPr>
          <a:xfrm>
            <a:off x="6213600" y="1638000"/>
            <a:ext cx="5400000" cy="4514400"/>
          </a:xfrm>
          <a:prstGeom prst="rect">
            <a:avLst/>
          </a:prstGeom>
          <a:noFill/>
          <a:ln>
            <a:noFill/>
          </a:ln>
        </p:spPr>
        <p:txBody>
          <a:bodyPr anchorCtr="0" anchor="t" bIns="45700" lIns="91425" spcFirstLastPara="1" rIns="91425" wrap="square" tIns="45700">
            <a:noAutofit/>
          </a:bodyPr>
          <a:lstStyle>
            <a:lvl1pPr indent="-365760" lvl="0" marL="457200" algn="l">
              <a:lnSpc>
                <a:spcPct val="105000"/>
              </a:lnSpc>
              <a:spcBef>
                <a:spcPts val="800"/>
              </a:spcBef>
              <a:spcAft>
                <a:spcPts val="0"/>
              </a:spcAft>
              <a:buClr>
                <a:schemeClr val="dk1"/>
              </a:buClr>
              <a:buSzPts val="2160"/>
              <a:buChar char="•"/>
              <a:defRPr/>
            </a:lvl1pPr>
            <a:lvl2pPr indent="-371475" lvl="1" marL="914400" algn="l">
              <a:lnSpc>
                <a:spcPct val="105000"/>
              </a:lnSpc>
              <a:spcBef>
                <a:spcPts val="0"/>
              </a:spcBef>
              <a:spcAft>
                <a:spcPts val="0"/>
              </a:spcAft>
              <a:buClr>
                <a:schemeClr val="dk1"/>
              </a:buClr>
              <a:buSzPts val="2250"/>
              <a:buChar char="◦"/>
              <a:defRPr/>
            </a:lvl2pPr>
            <a:lvl3pPr indent="-325755" lvl="2" marL="1371600" algn="l">
              <a:lnSpc>
                <a:spcPct val="105000"/>
              </a:lnSpc>
              <a:spcBef>
                <a:spcPts val="0"/>
              </a:spcBef>
              <a:spcAft>
                <a:spcPts val="0"/>
              </a:spcAft>
              <a:buClr>
                <a:schemeClr val="dk1"/>
              </a:buClr>
              <a:buSzPts val="1530"/>
              <a:buChar char="▪"/>
              <a:defRPr/>
            </a:lvl3pPr>
            <a:lvl4pPr indent="-354330" lvl="3" marL="1828800" algn="l">
              <a:lnSpc>
                <a:spcPct val="105000"/>
              </a:lnSpc>
              <a:spcBef>
                <a:spcPts val="0"/>
              </a:spcBef>
              <a:spcAft>
                <a:spcPts val="0"/>
              </a:spcAft>
              <a:buClr>
                <a:schemeClr val="dk1"/>
              </a:buClr>
              <a:buSzPts val="1980"/>
              <a:buChar char="-"/>
              <a:defRPr/>
            </a:lvl4pPr>
            <a:lvl5pPr indent="-302895" lvl="4" marL="2286000" algn="l">
              <a:lnSpc>
                <a:spcPct val="105000"/>
              </a:lnSpc>
              <a:spcBef>
                <a:spcPts val="0"/>
              </a:spcBef>
              <a:spcAft>
                <a:spcPts val="0"/>
              </a:spcAft>
              <a:buClr>
                <a:schemeClr val="dk1"/>
              </a:buClr>
              <a:buSzPts val="117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18"/>
          <p:cNvSpPr txBox="1"/>
          <p:nvPr>
            <p:ph idx="10" type="dt"/>
          </p:nvPr>
        </p:nvSpPr>
        <p:spPr>
          <a:xfrm>
            <a:off x="9424800" y="6357600"/>
            <a:ext cx="8172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8"/>
          <p:cNvSpPr txBox="1"/>
          <p:nvPr>
            <p:ph idx="11" type="ftr"/>
          </p:nvPr>
        </p:nvSpPr>
        <p:spPr>
          <a:xfrm>
            <a:off x="5889600" y="6350400"/>
            <a:ext cx="24264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8"/>
          <p:cNvSpPr txBox="1"/>
          <p:nvPr>
            <p:ph idx="12" type="sldNum"/>
          </p:nvPr>
        </p:nvSpPr>
        <p:spPr>
          <a:xfrm>
            <a:off x="11019600" y="6357600"/>
            <a:ext cx="6858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End with logo All purpose" showMasterSp="0">
  <p:cSld name="Title/End with logo All purpose">
    <p:bg>
      <p:bgPr>
        <a:solidFill>
          <a:schemeClr val="accent1"/>
        </a:solidFill>
      </p:bgPr>
    </p:bg>
    <p:spTree>
      <p:nvGrpSpPr>
        <p:cNvPr id="34" name="Shape 34"/>
        <p:cNvGrpSpPr/>
        <p:nvPr/>
      </p:nvGrpSpPr>
      <p:grpSpPr>
        <a:xfrm>
          <a:off x="0" y="0"/>
          <a:ext cx="0" cy="0"/>
          <a:chOff x="0" y="0"/>
          <a:chExt cx="0" cy="0"/>
        </a:xfrm>
      </p:grpSpPr>
      <p:sp>
        <p:nvSpPr>
          <p:cNvPr id="35" name="Google Shape;35;p19"/>
          <p:cNvSpPr txBox="1"/>
          <p:nvPr>
            <p:ph idx="1" type="subTitle"/>
          </p:nvPr>
        </p:nvSpPr>
        <p:spPr>
          <a:xfrm>
            <a:off x="486000" y="5410800"/>
            <a:ext cx="9216000" cy="730800"/>
          </a:xfrm>
          <a:prstGeom prst="rect">
            <a:avLst/>
          </a:prstGeom>
          <a:noFill/>
          <a:ln>
            <a:noFill/>
          </a:ln>
        </p:spPr>
        <p:txBody>
          <a:bodyPr anchorCtr="0" anchor="t" bIns="45700" lIns="91425" spcFirstLastPara="1" rIns="91425" wrap="square" tIns="45700">
            <a:noAutofit/>
          </a:bodyPr>
          <a:lstStyle>
            <a:lvl1pPr lvl="0" algn="l">
              <a:lnSpc>
                <a:spcPct val="105000"/>
              </a:lnSpc>
              <a:spcBef>
                <a:spcPts val="0"/>
              </a:spcBef>
              <a:spcAft>
                <a:spcPts val="0"/>
              </a:spcAft>
              <a:buClr>
                <a:schemeClr val="lt1"/>
              </a:buClr>
              <a:buSzPts val="2160"/>
              <a:buNone/>
              <a:defRPr sz="1800">
                <a:solidFill>
                  <a:schemeClr val="lt1"/>
                </a:solidFill>
              </a:defRPr>
            </a:lvl1pPr>
            <a:lvl2pPr lvl="1" algn="ctr">
              <a:lnSpc>
                <a:spcPct val="105000"/>
              </a:lnSpc>
              <a:spcBef>
                <a:spcPts val="0"/>
              </a:spcBef>
              <a:spcAft>
                <a:spcPts val="0"/>
              </a:spcAft>
              <a:buClr>
                <a:schemeClr val="dk1"/>
              </a:buClr>
              <a:buSzPts val="2500"/>
              <a:buNone/>
              <a:defRPr sz="2000"/>
            </a:lvl2pPr>
            <a:lvl3pPr lvl="2" algn="ctr">
              <a:lnSpc>
                <a:spcPct val="105000"/>
              </a:lnSpc>
              <a:spcBef>
                <a:spcPts val="0"/>
              </a:spcBef>
              <a:spcAft>
                <a:spcPts val="0"/>
              </a:spcAft>
              <a:buClr>
                <a:schemeClr val="dk1"/>
              </a:buClr>
              <a:buSzPts val="1530"/>
              <a:buNone/>
              <a:defRPr sz="1800"/>
            </a:lvl3pPr>
            <a:lvl4pPr lvl="3" algn="ctr">
              <a:lnSpc>
                <a:spcPct val="105000"/>
              </a:lnSpc>
              <a:spcBef>
                <a:spcPts val="0"/>
              </a:spcBef>
              <a:spcAft>
                <a:spcPts val="0"/>
              </a:spcAft>
              <a:buClr>
                <a:schemeClr val="dk1"/>
              </a:buClr>
              <a:buSzPts val="1760"/>
              <a:buNone/>
              <a:defRPr sz="1600"/>
            </a:lvl4pPr>
            <a:lvl5pPr lvl="4" algn="ctr">
              <a:lnSpc>
                <a:spcPct val="105000"/>
              </a:lnSpc>
              <a:spcBef>
                <a:spcPts val="0"/>
              </a:spcBef>
              <a:spcAft>
                <a:spcPts val="0"/>
              </a:spcAft>
              <a:buClr>
                <a:schemeClr val="dk1"/>
              </a:buClr>
              <a:buSzPts val="104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19"/>
          <p:cNvSpPr txBox="1"/>
          <p:nvPr>
            <p:ph type="title"/>
          </p:nvPr>
        </p:nvSpPr>
        <p:spPr>
          <a:xfrm>
            <a:off x="475200" y="1306800"/>
            <a:ext cx="9226800" cy="2008800"/>
          </a:xfrm>
          <a:prstGeom prst="rect">
            <a:avLst/>
          </a:prstGeom>
          <a:noFill/>
          <a:ln>
            <a:noFill/>
          </a:ln>
        </p:spPr>
        <p:txBody>
          <a:bodyPr anchorCtr="0" anchor="b" bIns="45700" lIns="91425" spcFirstLastPara="1" rIns="91425" wrap="square" tIns="45700">
            <a:noAutofit/>
          </a:bodyPr>
          <a:lstStyle>
            <a:lvl1pPr lvl="0" algn="l">
              <a:lnSpc>
                <a:spcPct val="83000"/>
              </a:lnSpc>
              <a:spcBef>
                <a:spcPts val="0"/>
              </a:spcBef>
              <a:spcAft>
                <a:spcPts val="0"/>
              </a:spcAft>
              <a:buClr>
                <a:schemeClr val="lt1"/>
              </a:buClr>
              <a:buSzPts val="4500"/>
              <a:buFont typeface="Arial Black"/>
              <a:buNone/>
              <a:defRPr sz="45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9"/>
          <p:cNvSpPr txBox="1"/>
          <p:nvPr/>
        </p:nvSpPr>
        <p:spPr>
          <a:xfrm>
            <a:off x="10065600" y="5500800"/>
            <a:ext cx="1396800" cy="733534"/>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lt1"/>
                </a:solidFill>
                <a:latin typeface="Arial Black"/>
                <a:ea typeface="Arial Black"/>
                <a:cs typeface="Arial Black"/>
                <a:sym typeface="Arial Black"/>
              </a:rPr>
              <a:t>JOHANNES KEPLER UNIVERSITY LINZ</a:t>
            </a:r>
            <a:endParaRPr b="0" i="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Altenberger Straße 69</a:t>
            </a:r>
            <a:endParaRPr b="0" i="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4040 Linz, Austria</a:t>
            </a:r>
            <a:endParaRPr b="0" i="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jku.at</a:t>
            </a:r>
            <a:endParaRPr b="0" i="0" sz="800" u="none" cap="none" strike="noStrike">
              <a:solidFill>
                <a:schemeClr val="lt1"/>
              </a:solidFill>
              <a:latin typeface="Arial"/>
              <a:ea typeface="Arial"/>
              <a:cs typeface="Arial"/>
              <a:sym typeface="Arial"/>
            </a:endParaRPr>
          </a:p>
        </p:txBody>
      </p:sp>
      <p:sp>
        <p:nvSpPr>
          <p:cNvPr id="38" name="Google Shape;38;p19"/>
          <p:cNvSpPr/>
          <p:nvPr>
            <p:ph idx="2" type="pic"/>
          </p:nvPr>
        </p:nvSpPr>
        <p:spPr>
          <a:xfrm>
            <a:off x="10151559" y="2516799"/>
            <a:ext cx="1468800" cy="1085721"/>
          </a:xfrm>
          <a:prstGeom prst="rect">
            <a:avLst/>
          </a:prstGeom>
          <a:noFill/>
          <a:ln>
            <a:noFill/>
          </a:ln>
        </p:spPr>
      </p:sp>
      <p:sp>
        <p:nvSpPr>
          <p:cNvPr id="39" name="Google Shape;39;p19"/>
          <p:cNvSpPr/>
          <p:nvPr>
            <p:ph idx="3" type="pic"/>
          </p:nvPr>
        </p:nvSpPr>
        <p:spPr>
          <a:xfrm>
            <a:off x="10151745" y="4039231"/>
            <a:ext cx="1468800" cy="1085721"/>
          </a:xfrm>
          <a:prstGeom prst="rect">
            <a:avLst/>
          </a:prstGeom>
          <a:noFill/>
          <a:ln>
            <a:noFill/>
          </a:ln>
        </p:spPr>
      </p:sp>
      <p:pic>
        <p:nvPicPr>
          <p:cNvPr id="40" name="Google Shape;40;p19"/>
          <p:cNvPicPr preferRelativeResize="0"/>
          <p:nvPr/>
        </p:nvPicPr>
        <p:blipFill rotWithShape="1">
          <a:blip r:embed="rId2">
            <a:alphaModFix/>
          </a:blip>
          <a:srcRect b="0" l="0" r="0" t="0"/>
          <a:stretch/>
        </p:blipFill>
        <p:spPr>
          <a:xfrm>
            <a:off x="447071" y="3231115"/>
            <a:ext cx="2196000" cy="2196083"/>
          </a:xfrm>
          <a:prstGeom prst="rect">
            <a:avLst/>
          </a:prstGeom>
          <a:noFill/>
          <a:ln>
            <a:noFill/>
          </a:ln>
        </p:spPr>
      </p:pic>
      <p:pic>
        <p:nvPicPr>
          <p:cNvPr id="41" name="Google Shape;41;p19"/>
          <p:cNvPicPr preferRelativeResize="0"/>
          <p:nvPr/>
        </p:nvPicPr>
        <p:blipFill rotWithShape="1">
          <a:blip r:embed="rId3">
            <a:alphaModFix/>
          </a:blip>
          <a:srcRect b="0" l="0" r="0" t="0"/>
          <a:stretch/>
        </p:blipFill>
        <p:spPr>
          <a:xfrm>
            <a:off x="9702000" y="554400"/>
            <a:ext cx="1932066" cy="136800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624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image and text">
  <p:cSld name="Small image and text">
    <p:spTree>
      <p:nvGrpSpPr>
        <p:cNvPr id="42" name="Shape 42"/>
        <p:cNvGrpSpPr/>
        <p:nvPr/>
      </p:nvGrpSpPr>
      <p:grpSpPr>
        <a:xfrm>
          <a:off x="0" y="0"/>
          <a:ext cx="0" cy="0"/>
          <a:chOff x="0" y="0"/>
          <a:chExt cx="0" cy="0"/>
        </a:xfrm>
      </p:grpSpPr>
      <p:sp>
        <p:nvSpPr>
          <p:cNvPr id="43" name="Google Shape;43;p20"/>
          <p:cNvSpPr txBox="1"/>
          <p:nvPr>
            <p:ph type="title"/>
          </p:nvPr>
        </p:nvSpPr>
        <p:spPr>
          <a:xfrm>
            <a:off x="486000" y="575999"/>
            <a:ext cx="11124000" cy="990000"/>
          </a:xfrm>
          <a:prstGeom prst="rect">
            <a:avLst/>
          </a:prstGeom>
          <a:noFill/>
          <a:ln>
            <a:noFill/>
          </a:ln>
        </p:spPr>
        <p:txBody>
          <a:bodyPr anchorCtr="0" anchor="t" bIns="45700" lIns="91425" spcFirstLastPara="1" rIns="91425" wrap="square" tIns="45700">
            <a:noAutofit/>
          </a:bodyPr>
          <a:lstStyle>
            <a:lvl1pPr lvl="0" algn="l">
              <a:lnSpc>
                <a:spcPct val="83000"/>
              </a:lnSpc>
              <a:spcBef>
                <a:spcPts val="0"/>
              </a:spcBef>
              <a:spcAft>
                <a:spcPts val="0"/>
              </a:spcAft>
              <a:buClr>
                <a:schemeClr val="dk1"/>
              </a:buClr>
              <a:buSzPts val="30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0"/>
          <p:cNvSpPr txBox="1"/>
          <p:nvPr>
            <p:ph idx="1" type="body"/>
          </p:nvPr>
        </p:nvSpPr>
        <p:spPr>
          <a:xfrm>
            <a:off x="4386048" y="1641600"/>
            <a:ext cx="7225200" cy="4500000"/>
          </a:xfrm>
          <a:prstGeom prst="rect">
            <a:avLst/>
          </a:prstGeom>
          <a:noFill/>
          <a:ln>
            <a:noFill/>
          </a:ln>
        </p:spPr>
        <p:txBody>
          <a:bodyPr anchorCtr="0" anchor="t" bIns="45700" lIns="91425" spcFirstLastPara="1" rIns="91425" wrap="square" tIns="45700">
            <a:noAutofit/>
          </a:bodyPr>
          <a:lstStyle>
            <a:lvl1pPr indent="-365760" lvl="0" marL="457200" algn="l">
              <a:lnSpc>
                <a:spcPct val="105000"/>
              </a:lnSpc>
              <a:spcBef>
                <a:spcPts val="800"/>
              </a:spcBef>
              <a:spcAft>
                <a:spcPts val="0"/>
              </a:spcAft>
              <a:buClr>
                <a:schemeClr val="dk1"/>
              </a:buClr>
              <a:buSzPts val="2160"/>
              <a:buChar char="•"/>
              <a:defRPr/>
            </a:lvl1pPr>
            <a:lvl2pPr indent="-371475" lvl="1" marL="914400" algn="l">
              <a:lnSpc>
                <a:spcPct val="105000"/>
              </a:lnSpc>
              <a:spcBef>
                <a:spcPts val="0"/>
              </a:spcBef>
              <a:spcAft>
                <a:spcPts val="0"/>
              </a:spcAft>
              <a:buClr>
                <a:schemeClr val="dk1"/>
              </a:buClr>
              <a:buSzPts val="2250"/>
              <a:buChar char="◦"/>
              <a:defRPr/>
            </a:lvl2pPr>
            <a:lvl3pPr indent="-325755" lvl="2" marL="1371600" algn="l">
              <a:lnSpc>
                <a:spcPct val="105000"/>
              </a:lnSpc>
              <a:spcBef>
                <a:spcPts val="0"/>
              </a:spcBef>
              <a:spcAft>
                <a:spcPts val="0"/>
              </a:spcAft>
              <a:buClr>
                <a:schemeClr val="dk1"/>
              </a:buClr>
              <a:buSzPts val="1530"/>
              <a:buChar char="▪"/>
              <a:defRPr/>
            </a:lvl3pPr>
            <a:lvl4pPr indent="-354330" lvl="3" marL="1828800" algn="l">
              <a:lnSpc>
                <a:spcPct val="105000"/>
              </a:lnSpc>
              <a:spcBef>
                <a:spcPts val="0"/>
              </a:spcBef>
              <a:spcAft>
                <a:spcPts val="0"/>
              </a:spcAft>
              <a:buClr>
                <a:schemeClr val="dk1"/>
              </a:buClr>
              <a:buSzPts val="1980"/>
              <a:buChar char="-"/>
              <a:defRPr/>
            </a:lvl4pPr>
            <a:lvl5pPr indent="-302895" lvl="4" marL="2286000" algn="l">
              <a:lnSpc>
                <a:spcPct val="105000"/>
              </a:lnSpc>
              <a:spcBef>
                <a:spcPts val="0"/>
              </a:spcBef>
              <a:spcAft>
                <a:spcPts val="0"/>
              </a:spcAft>
              <a:buClr>
                <a:schemeClr val="dk1"/>
              </a:buClr>
              <a:buSzPts val="117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20"/>
          <p:cNvSpPr txBox="1"/>
          <p:nvPr>
            <p:ph idx="10" type="dt"/>
          </p:nvPr>
        </p:nvSpPr>
        <p:spPr>
          <a:xfrm>
            <a:off x="9424800" y="6357600"/>
            <a:ext cx="8172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0"/>
          <p:cNvSpPr txBox="1"/>
          <p:nvPr>
            <p:ph idx="11" type="ftr"/>
          </p:nvPr>
        </p:nvSpPr>
        <p:spPr>
          <a:xfrm>
            <a:off x="5889600" y="6350400"/>
            <a:ext cx="24264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0"/>
          <p:cNvSpPr txBox="1"/>
          <p:nvPr>
            <p:ph idx="12" type="sldNum"/>
          </p:nvPr>
        </p:nvSpPr>
        <p:spPr>
          <a:xfrm>
            <a:off x="11019600" y="6357600"/>
            <a:ext cx="6858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8" name="Google Shape;48;p20"/>
          <p:cNvSpPr/>
          <p:nvPr>
            <p:ph idx="2" type="pic"/>
          </p:nvPr>
        </p:nvSpPr>
        <p:spPr>
          <a:xfrm>
            <a:off x="575733" y="1724300"/>
            <a:ext cx="3395133" cy="44172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KU Logo" showMasterSp="0">
  <p:cSld name="JKU Logo">
    <p:spTree>
      <p:nvGrpSpPr>
        <p:cNvPr id="49" name="Shape 49"/>
        <p:cNvGrpSpPr/>
        <p:nvPr/>
      </p:nvGrpSpPr>
      <p:grpSpPr>
        <a:xfrm>
          <a:off x="0" y="0"/>
          <a:ext cx="0" cy="0"/>
          <a:chOff x="0" y="0"/>
          <a:chExt cx="0" cy="0"/>
        </a:xfrm>
      </p:grpSpPr>
      <p:pic>
        <p:nvPicPr>
          <p:cNvPr id="50" name="Google Shape;50;p21"/>
          <p:cNvPicPr preferRelativeResize="0"/>
          <p:nvPr/>
        </p:nvPicPr>
        <p:blipFill rotWithShape="1">
          <a:blip r:embed="rId2">
            <a:alphaModFix/>
          </a:blip>
          <a:srcRect b="0" l="0" r="0" t="0"/>
          <a:stretch/>
        </p:blipFill>
        <p:spPr>
          <a:xfrm>
            <a:off x="2739600" y="1573200"/>
            <a:ext cx="7118139" cy="50400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End with logo" showMasterSp="0">
  <p:cSld name="Title/End with logo">
    <p:spTree>
      <p:nvGrpSpPr>
        <p:cNvPr id="51" name="Shape 51"/>
        <p:cNvGrpSpPr/>
        <p:nvPr/>
      </p:nvGrpSpPr>
      <p:grpSpPr>
        <a:xfrm>
          <a:off x="0" y="0"/>
          <a:ext cx="0" cy="0"/>
          <a:chOff x="0" y="0"/>
          <a:chExt cx="0" cy="0"/>
        </a:xfrm>
      </p:grpSpPr>
      <p:sp>
        <p:nvSpPr>
          <p:cNvPr id="52" name="Google Shape;52;p22"/>
          <p:cNvSpPr txBox="1"/>
          <p:nvPr>
            <p:ph idx="1" type="subTitle"/>
          </p:nvPr>
        </p:nvSpPr>
        <p:spPr>
          <a:xfrm>
            <a:off x="486000" y="5410800"/>
            <a:ext cx="9216000" cy="730800"/>
          </a:xfrm>
          <a:prstGeom prst="rect">
            <a:avLst/>
          </a:prstGeom>
          <a:noFill/>
          <a:ln>
            <a:noFill/>
          </a:ln>
        </p:spPr>
        <p:txBody>
          <a:bodyPr anchorCtr="0" anchor="t" bIns="45700" lIns="91425" spcFirstLastPara="1" rIns="91425" wrap="square" tIns="45700">
            <a:noAutofit/>
          </a:bodyPr>
          <a:lstStyle>
            <a:lvl1pPr lvl="0" algn="l">
              <a:lnSpc>
                <a:spcPct val="105000"/>
              </a:lnSpc>
              <a:spcBef>
                <a:spcPts val="0"/>
              </a:spcBef>
              <a:spcAft>
                <a:spcPts val="0"/>
              </a:spcAft>
              <a:buClr>
                <a:schemeClr val="dk1"/>
              </a:buClr>
              <a:buSzPts val="2160"/>
              <a:buNone/>
              <a:defRPr sz="1800"/>
            </a:lvl1pPr>
            <a:lvl2pPr lvl="1" algn="ctr">
              <a:lnSpc>
                <a:spcPct val="105000"/>
              </a:lnSpc>
              <a:spcBef>
                <a:spcPts val="0"/>
              </a:spcBef>
              <a:spcAft>
                <a:spcPts val="0"/>
              </a:spcAft>
              <a:buClr>
                <a:schemeClr val="dk1"/>
              </a:buClr>
              <a:buSzPts val="2500"/>
              <a:buNone/>
              <a:defRPr sz="2000"/>
            </a:lvl2pPr>
            <a:lvl3pPr lvl="2" algn="ctr">
              <a:lnSpc>
                <a:spcPct val="105000"/>
              </a:lnSpc>
              <a:spcBef>
                <a:spcPts val="0"/>
              </a:spcBef>
              <a:spcAft>
                <a:spcPts val="0"/>
              </a:spcAft>
              <a:buClr>
                <a:schemeClr val="dk1"/>
              </a:buClr>
              <a:buSzPts val="1530"/>
              <a:buNone/>
              <a:defRPr sz="1800"/>
            </a:lvl3pPr>
            <a:lvl4pPr lvl="3" algn="ctr">
              <a:lnSpc>
                <a:spcPct val="105000"/>
              </a:lnSpc>
              <a:spcBef>
                <a:spcPts val="0"/>
              </a:spcBef>
              <a:spcAft>
                <a:spcPts val="0"/>
              </a:spcAft>
              <a:buClr>
                <a:schemeClr val="dk1"/>
              </a:buClr>
              <a:buSzPts val="1760"/>
              <a:buNone/>
              <a:defRPr sz="1600"/>
            </a:lvl4pPr>
            <a:lvl5pPr lvl="4" algn="ctr">
              <a:lnSpc>
                <a:spcPct val="105000"/>
              </a:lnSpc>
              <a:spcBef>
                <a:spcPts val="0"/>
              </a:spcBef>
              <a:spcAft>
                <a:spcPts val="0"/>
              </a:spcAft>
              <a:buClr>
                <a:schemeClr val="dk1"/>
              </a:buClr>
              <a:buSzPts val="104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3" name="Google Shape;53;p22"/>
          <p:cNvSpPr txBox="1"/>
          <p:nvPr>
            <p:ph type="title"/>
          </p:nvPr>
        </p:nvSpPr>
        <p:spPr>
          <a:xfrm>
            <a:off x="475200" y="1306800"/>
            <a:ext cx="9226800" cy="2008800"/>
          </a:xfrm>
          <a:prstGeom prst="rect">
            <a:avLst/>
          </a:prstGeom>
          <a:noFill/>
          <a:ln>
            <a:noFill/>
          </a:ln>
        </p:spPr>
        <p:txBody>
          <a:bodyPr anchorCtr="0" anchor="b" bIns="45700" lIns="91425" spcFirstLastPara="1" rIns="91425" wrap="square" tIns="45700">
            <a:noAutofit/>
          </a:bodyPr>
          <a:lstStyle>
            <a:lvl1pPr lvl="0" algn="l">
              <a:lnSpc>
                <a:spcPct val="83000"/>
              </a:lnSpc>
              <a:spcBef>
                <a:spcPts val="0"/>
              </a:spcBef>
              <a:spcAft>
                <a:spcPts val="0"/>
              </a:spcAft>
              <a:buClr>
                <a:schemeClr val="dk1"/>
              </a:buClr>
              <a:buSzPts val="4500"/>
              <a:buFont typeface="Arial Black"/>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2"/>
          <p:cNvSpPr txBox="1"/>
          <p:nvPr/>
        </p:nvSpPr>
        <p:spPr>
          <a:xfrm>
            <a:off x="10065600" y="5500800"/>
            <a:ext cx="1396800" cy="733534"/>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dk1"/>
                </a:solidFill>
                <a:latin typeface="Arial Black"/>
                <a:ea typeface="Arial Black"/>
                <a:cs typeface="Arial Black"/>
                <a:sym typeface="Arial Black"/>
              </a:rPr>
              <a:t>JOHANNES KEPLER UNIVERSITY LINZ</a:t>
            </a:r>
            <a:endParaRPr b="0" i="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Altenberger Straße 69</a:t>
            </a:r>
            <a:endParaRPr b="0" i="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4040 Linz, Austria</a:t>
            </a:r>
            <a:endParaRPr b="0" i="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jku.at</a:t>
            </a:r>
            <a:endParaRPr b="0" i="0" sz="800" u="none" cap="none" strike="noStrike">
              <a:solidFill>
                <a:schemeClr val="dk1"/>
              </a:solidFill>
              <a:latin typeface="Arial"/>
              <a:ea typeface="Arial"/>
              <a:cs typeface="Arial"/>
              <a:sym typeface="Arial"/>
            </a:endParaRPr>
          </a:p>
        </p:txBody>
      </p:sp>
      <p:pic>
        <p:nvPicPr>
          <p:cNvPr id="55" name="Google Shape;55;p22"/>
          <p:cNvPicPr preferRelativeResize="0"/>
          <p:nvPr/>
        </p:nvPicPr>
        <p:blipFill rotWithShape="1">
          <a:blip r:embed="rId2">
            <a:alphaModFix/>
          </a:blip>
          <a:srcRect b="0" l="0" r="0" t="0"/>
          <a:stretch/>
        </p:blipFill>
        <p:spPr>
          <a:xfrm>
            <a:off x="9702000" y="554400"/>
            <a:ext cx="1932066" cy="1368000"/>
          </a:xfrm>
          <a:prstGeom prst="rect">
            <a:avLst/>
          </a:prstGeom>
          <a:noFill/>
          <a:ln>
            <a:noFill/>
          </a:ln>
        </p:spPr>
      </p:pic>
      <p:sp>
        <p:nvSpPr>
          <p:cNvPr id="56" name="Google Shape;56;p22"/>
          <p:cNvSpPr/>
          <p:nvPr>
            <p:ph idx="2" type="pic"/>
          </p:nvPr>
        </p:nvSpPr>
        <p:spPr>
          <a:xfrm>
            <a:off x="10151559" y="2516799"/>
            <a:ext cx="1468800" cy="1085721"/>
          </a:xfrm>
          <a:prstGeom prst="rect">
            <a:avLst/>
          </a:prstGeom>
          <a:noFill/>
          <a:ln>
            <a:noFill/>
          </a:ln>
        </p:spPr>
      </p:sp>
      <p:sp>
        <p:nvSpPr>
          <p:cNvPr id="57" name="Google Shape;57;p22"/>
          <p:cNvSpPr/>
          <p:nvPr>
            <p:ph idx="3" type="pic"/>
          </p:nvPr>
        </p:nvSpPr>
        <p:spPr>
          <a:xfrm>
            <a:off x="10151745" y="4039231"/>
            <a:ext cx="1468800" cy="1085721"/>
          </a:xfrm>
          <a:prstGeom prst="rect">
            <a:avLst/>
          </a:prstGeom>
          <a:noFill/>
          <a:ln>
            <a:noFill/>
          </a:ln>
        </p:spPr>
      </p:sp>
      <p:pic>
        <p:nvPicPr>
          <p:cNvPr id="58" name="Google Shape;58;p22"/>
          <p:cNvPicPr preferRelativeResize="0"/>
          <p:nvPr/>
        </p:nvPicPr>
        <p:blipFill rotWithShape="1">
          <a:blip r:embed="rId3">
            <a:alphaModFix/>
          </a:blip>
          <a:srcRect b="38849" l="27455" r="42710" t="15293"/>
          <a:stretch/>
        </p:blipFill>
        <p:spPr>
          <a:xfrm>
            <a:off x="304246" y="3236317"/>
            <a:ext cx="2520000" cy="2307271"/>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624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out logo">
  <p:cSld name="Title without logo">
    <p:spTree>
      <p:nvGrpSpPr>
        <p:cNvPr id="59" name="Shape 59"/>
        <p:cNvGrpSpPr/>
        <p:nvPr/>
      </p:nvGrpSpPr>
      <p:grpSpPr>
        <a:xfrm>
          <a:off x="0" y="0"/>
          <a:ext cx="0" cy="0"/>
          <a:chOff x="0" y="0"/>
          <a:chExt cx="0" cy="0"/>
        </a:xfrm>
      </p:grpSpPr>
      <p:sp>
        <p:nvSpPr>
          <p:cNvPr id="60" name="Google Shape;60;p23"/>
          <p:cNvSpPr txBox="1"/>
          <p:nvPr>
            <p:ph idx="1" type="subTitle"/>
          </p:nvPr>
        </p:nvSpPr>
        <p:spPr>
          <a:xfrm>
            <a:off x="485999" y="5410800"/>
            <a:ext cx="11113227" cy="730800"/>
          </a:xfrm>
          <a:prstGeom prst="rect">
            <a:avLst/>
          </a:prstGeom>
          <a:noFill/>
          <a:ln>
            <a:noFill/>
          </a:ln>
        </p:spPr>
        <p:txBody>
          <a:bodyPr anchorCtr="0" anchor="t" bIns="45700" lIns="91425" spcFirstLastPara="1" rIns="91425" wrap="square" tIns="45700">
            <a:noAutofit/>
          </a:bodyPr>
          <a:lstStyle>
            <a:lvl1pPr lvl="0" algn="l">
              <a:lnSpc>
                <a:spcPct val="105000"/>
              </a:lnSpc>
              <a:spcBef>
                <a:spcPts val="0"/>
              </a:spcBef>
              <a:spcAft>
                <a:spcPts val="0"/>
              </a:spcAft>
              <a:buClr>
                <a:schemeClr val="dk1"/>
              </a:buClr>
              <a:buSzPts val="2160"/>
              <a:buNone/>
              <a:defRPr sz="1800"/>
            </a:lvl1pPr>
            <a:lvl2pPr lvl="1" algn="ctr">
              <a:lnSpc>
                <a:spcPct val="105000"/>
              </a:lnSpc>
              <a:spcBef>
                <a:spcPts val="0"/>
              </a:spcBef>
              <a:spcAft>
                <a:spcPts val="0"/>
              </a:spcAft>
              <a:buClr>
                <a:schemeClr val="dk1"/>
              </a:buClr>
              <a:buSzPts val="2500"/>
              <a:buNone/>
              <a:defRPr sz="2000"/>
            </a:lvl2pPr>
            <a:lvl3pPr lvl="2" algn="ctr">
              <a:lnSpc>
                <a:spcPct val="105000"/>
              </a:lnSpc>
              <a:spcBef>
                <a:spcPts val="0"/>
              </a:spcBef>
              <a:spcAft>
                <a:spcPts val="0"/>
              </a:spcAft>
              <a:buClr>
                <a:schemeClr val="dk1"/>
              </a:buClr>
              <a:buSzPts val="1530"/>
              <a:buNone/>
              <a:defRPr sz="1800"/>
            </a:lvl3pPr>
            <a:lvl4pPr lvl="3" algn="ctr">
              <a:lnSpc>
                <a:spcPct val="105000"/>
              </a:lnSpc>
              <a:spcBef>
                <a:spcPts val="0"/>
              </a:spcBef>
              <a:spcAft>
                <a:spcPts val="0"/>
              </a:spcAft>
              <a:buClr>
                <a:schemeClr val="dk1"/>
              </a:buClr>
              <a:buSzPts val="1760"/>
              <a:buNone/>
              <a:defRPr sz="1600"/>
            </a:lvl4pPr>
            <a:lvl5pPr lvl="4" algn="ctr">
              <a:lnSpc>
                <a:spcPct val="105000"/>
              </a:lnSpc>
              <a:spcBef>
                <a:spcPts val="0"/>
              </a:spcBef>
              <a:spcAft>
                <a:spcPts val="0"/>
              </a:spcAft>
              <a:buClr>
                <a:schemeClr val="dk1"/>
              </a:buClr>
              <a:buSzPts val="104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61" name="Google Shape;61;p23"/>
          <p:cNvSpPr txBox="1"/>
          <p:nvPr>
            <p:ph type="title"/>
          </p:nvPr>
        </p:nvSpPr>
        <p:spPr>
          <a:xfrm>
            <a:off x="475200" y="1306800"/>
            <a:ext cx="11126250" cy="2008800"/>
          </a:xfrm>
          <a:prstGeom prst="rect">
            <a:avLst/>
          </a:prstGeom>
          <a:noFill/>
          <a:ln>
            <a:noFill/>
          </a:ln>
        </p:spPr>
        <p:txBody>
          <a:bodyPr anchorCtr="0" anchor="b" bIns="45700" lIns="91425" spcFirstLastPara="1" rIns="91425" wrap="square" tIns="45700">
            <a:noAutofit/>
          </a:bodyPr>
          <a:lstStyle>
            <a:lvl1pPr lvl="0" algn="l">
              <a:lnSpc>
                <a:spcPct val="83000"/>
              </a:lnSpc>
              <a:spcBef>
                <a:spcPts val="0"/>
              </a:spcBef>
              <a:spcAft>
                <a:spcPts val="0"/>
              </a:spcAft>
              <a:buClr>
                <a:schemeClr val="dk1"/>
              </a:buClr>
              <a:buSzPts val="4500"/>
              <a:buFont typeface="Arial Black"/>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62" name="Google Shape;62;p23"/>
          <p:cNvPicPr preferRelativeResize="0"/>
          <p:nvPr/>
        </p:nvPicPr>
        <p:blipFill rotWithShape="1">
          <a:blip r:embed="rId2">
            <a:alphaModFix/>
          </a:blip>
          <a:srcRect b="38849" l="27455" r="42710" t="15293"/>
          <a:stretch/>
        </p:blipFill>
        <p:spPr>
          <a:xfrm>
            <a:off x="304246" y="3236317"/>
            <a:ext cx="2520000" cy="2307271"/>
          </a:xfrm>
          <a:prstGeom prst="rect">
            <a:avLst/>
          </a:prstGeom>
          <a:noFill/>
          <a:ln>
            <a:noFill/>
          </a:ln>
        </p:spPr>
      </p:pic>
      <p:sp>
        <p:nvSpPr>
          <p:cNvPr id="63" name="Google Shape;63;p23"/>
          <p:cNvSpPr txBox="1"/>
          <p:nvPr>
            <p:ph idx="10" type="dt"/>
          </p:nvPr>
        </p:nvSpPr>
        <p:spPr>
          <a:xfrm>
            <a:off x="9424800" y="6357600"/>
            <a:ext cx="8172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3"/>
          <p:cNvSpPr txBox="1"/>
          <p:nvPr>
            <p:ph idx="11" type="ftr"/>
          </p:nvPr>
        </p:nvSpPr>
        <p:spPr>
          <a:xfrm>
            <a:off x="5889600" y="6350400"/>
            <a:ext cx="24264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3"/>
          <p:cNvSpPr txBox="1"/>
          <p:nvPr>
            <p:ph idx="12" type="sldNum"/>
          </p:nvPr>
        </p:nvSpPr>
        <p:spPr>
          <a:xfrm>
            <a:off x="11019600" y="6357600"/>
            <a:ext cx="6858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624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operation overview">
  <p:cSld name="Cooperation overview">
    <p:spTree>
      <p:nvGrpSpPr>
        <p:cNvPr id="66" name="Shape 66"/>
        <p:cNvGrpSpPr/>
        <p:nvPr/>
      </p:nvGrpSpPr>
      <p:grpSpPr>
        <a:xfrm>
          <a:off x="0" y="0"/>
          <a:ext cx="0" cy="0"/>
          <a:chOff x="0" y="0"/>
          <a:chExt cx="0" cy="0"/>
        </a:xfrm>
      </p:grpSpPr>
      <p:sp>
        <p:nvSpPr>
          <p:cNvPr id="67" name="Google Shape;67;p24"/>
          <p:cNvSpPr txBox="1"/>
          <p:nvPr>
            <p:ph idx="10" type="dt"/>
          </p:nvPr>
        </p:nvSpPr>
        <p:spPr>
          <a:xfrm>
            <a:off x="9424800" y="6357600"/>
            <a:ext cx="8172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4"/>
          <p:cNvSpPr txBox="1"/>
          <p:nvPr>
            <p:ph idx="11" type="ftr"/>
          </p:nvPr>
        </p:nvSpPr>
        <p:spPr>
          <a:xfrm>
            <a:off x="5889600" y="6350400"/>
            <a:ext cx="24264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4"/>
          <p:cNvSpPr txBox="1"/>
          <p:nvPr>
            <p:ph idx="12" type="sldNum"/>
          </p:nvPr>
        </p:nvSpPr>
        <p:spPr>
          <a:xfrm>
            <a:off x="11019600" y="6357600"/>
            <a:ext cx="6858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70" name="Google Shape;70;p24"/>
          <p:cNvSpPr txBox="1"/>
          <p:nvPr>
            <p:ph type="title"/>
          </p:nvPr>
        </p:nvSpPr>
        <p:spPr>
          <a:xfrm>
            <a:off x="486000" y="575999"/>
            <a:ext cx="11124000" cy="990000"/>
          </a:xfrm>
          <a:prstGeom prst="rect">
            <a:avLst/>
          </a:prstGeom>
          <a:noFill/>
          <a:ln>
            <a:noFill/>
          </a:ln>
        </p:spPr>
        <p:txBody>
          <a:bodyPr anchorCtr="0" anchor="t" bIns="45700" lIns="91425" spcFirstLastPara="1" rIns="91425" wrap="square" tIns="45700">
            <a:noAutofit/>
          </a:bodyPr>
          <a:lstStyle>
            <a:lvl1pPr lvl="0" algn="l">
              <a:lnSpc>
                <a:spcPct val="83000"/>
              </a:lnSpc>
              <a:spcBef>
                <a:spcPts val="0"/>
              </a:spcBef>
              <a:spcAft>
                <a:spcPts val="0"/>
              </a:spcAft>
              <a:buClr>
                <a:schemeClr val="dk1"/>
              </a:buClr>
              <a:buSzPts val="30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4"/>
          <p:cNvSpPr/>
          <p:nvPr>
            <p:ph idx="2" type="pic"/>
          </p:nvPr>
        </p:nvSpPr>
        <p:spPr>
          <a:xfrm>
            <a:off x="8241458" y="1721189"/>
            <a:ext cx="3384000" cy="1270800"/>
          </a:xfrm>
          <a:prstGeom prst="rect">
            <a:avLst/>
          </a:prstGeom>
          <a:noFill/>
          <a:ln>
            <a:noFill/>
          </a:ln>
        </p:spPr>
      </p:sp>
      <p:sp>
        <p:nvSpPr>
          <p:cNvPr id="72" name="Google Shape;72;p24"/>
          <p:cNvSpPr/>
          <p:nvPr>
            <p:ph idx="3" type="pic"/>
          </p:nvPr>
        </p:nvSpPr>
        <p:spPr>
          <a:xfrm>
            <a:off x="574656" y="1721189"/>
            <a:ext cx="3384000" cy="1270800"/>
          </a:xfrm>
          <a:prstGeom prst="rect">
            <a:avLst/>
          </a:prstGeom>
          <a:noFill/>
          <a:ln>
            <a:noFill/>
          </a:ln>
        </p:spPr>
      </p:sp>
      <p:sp>
        <p:nvSpPr>
          <p:cNvPr id="73" name="Google Shape;73;p24"/>
          <p:cNvSpPr/>
          <p:nvPr>
            <p:ph idx="4" type="pic"/>
          </p:nvPr>
        </p:nvSpPr>
        <p:spPr>
          <a:xfrm>
            <a:off x="4407277" y="1720152"/>
            <a:ext cx="3384000" cy="1270800"/>
          </a:xfrm>
          <a:prstGeom prst="rect">
            <a:avLst/>
          </a:prstGeom>
          <a:noFill/>
          <a:ln>
            <a:noFill/>
          </a:ln>
        </p:spPr>
      </p:sp>
      <p:sp>
        <p:nvSpPr>
          <p:cNvPr id="74" name="Google Shape;74;p24"/>
          <p:cNvSpPr/>
          <p:nvPr>
            <p:ph idx="5" type="pic"/>
          </p:nvPr>
        </p:nvSpPr>
        <p:spPr>
          <a:xfrm>
            <a:off x="8241458" y="3291327"/>
            <a:ext cx="3384000" cy="1270800"/>
          </a:xfrm>
          <a:prstGeom prst="rect">
            <a:avLst/>
          </a:prstGeom>
          <a:noFill/>
          <a:ln>
            <a:noFill/>
          </a:ln>
        </p:spPr>
      </p:sp>
      <p:sp>
        <p:nvSpPr>
          <p:cNvPr id="75" name="Google Shape;75;p24"/>
          <p:cNvSpPr/>
          <p:nvPr>
            <p:ph idx="6" type="pic"/>
          </p:nvPr>
        </p:nvSpPr>
        <p:spPr>
          <a:xfrm>
            <a:off x="574656" y="3291327"/>
            <a:ext cx="3384000" cy="1270800"/>
          </a:xfrm>
          <a:prstGeom prst="rect">
            <a:avLst/>
          </a:prstGeom>
          <a:noFill/>
          <a:ln>
            <a:noFill/>
          </a:ln>
        </p:spPr>
      </p:sp>
      <p:sp>
        <p:nvSpPr>
          <p:cNvPr id="76" name="Google Shape;76;p24"/>
          <p:cNvSpPr/>
          <p:nvPr>
            <p:ph idx="7" type="pic"/>
          </p:nvPr>
        </p:nvSpPr>
        <p:spPr>
          <a:xfrm>
            <a:off x="4407277" y="3290290"/>
            <a:ext cx="3384000" cy="1270800"/>
          </a:xfrm>
          <a:prstGeom prst="rect">
            <a:avLst/>
          </a:prstGeom>
          <a:noFill/>
          <a:ln>
            <a:noFill/>
          </a:ln>
        </p:spPr>
      </p:sp>
      <p:sp>
        <p:nvSpPr>
          <p:cNvPr id="77" name="Google Shape;77;p24"/>
          <p:cNvSpPr/>
          <p:nvPr>
            <p:ph idx="8" type="pic"/>
          </p:nvPr>
        </p:nvSpPr>
        <p:spPr>
          <a:xfrm>
            <a:off x="8246376" y="4867487"/>
            <a:ext cx="3384000" cy="1270800"/>
          </a:xfrm>
          <a:prstGeom prst="rect">
            <a:avLst/>
          </a:prstGeom>
          <a:noFill/>
          <a:ln>
            <a:noFill/>
          </a:ln>
        </p:spPr>
      </p:sp>
      <p:sp>
        <p:nvSpPr>
          <p:cNvPr id="78" name="Google Shape;78;p24"/>
          <p:cNvSpPr/>
          <p:nvPr>
            <p:ph idx="9" type="pic"/>
          </p:nvPr>
        </p:nvSpPr>
        <p:spPr>
          <a:xfrm>
            <a:off x="579574" y="4867487"/>
            <a:ext cx="3384000" cy="1270800"/>
          </a:xfrm>
          <a:prstGeom prst="rect">
            <a:avLst/>
          </a:prstGeom>
          <a:noFill/>
          <a:ln>
            <a:noFill/>
          </a:ln>
        </p:spPr>
      </p:sp>
      <p:sp>
        <p:nvSpPr>
          <p:cNvPr id="79" name="Google Shape;79;p24"/>
          <p:cNvSpPr/>
          <p:nvPr>
            <p:ph idx="13" type="pic"/>
          </p:nvPr>
        </p:nvSpPr>
        <p:spPr>
          <a:xfrm>
            <a:off x="4412195" y="4866450"/>
            <a:ext cx="3384000" cy="1270800"/>
          </a:xfrm>
          <a:prstGeom prst="rect">
            <a:avLst/>
          </a:prstGeom>
          <a:noFill/>
          <a:ln>
            <a:noFill/>
          </a:ln>
        </p:spPr>
      </p:sp>
    </p:spTree>
  </p:cSld>
  <p:clrMapOvr>
    <a:masterClrMapping/>
  </p:clrMapOvr>
  <p:extLst>
    <p:ext uri="{DCECCB84-F9BA-43D5-87BE-67443E8EF086}">
      <p15:sldGuideLst>
        <p15:guide id="1" orient="horz" pos="3566">
          <p15:clr>
            <a:srgbClr val="FBAE40"/>
          </p15:clr>
        </p15:guide>
        <p15:guide id="2" pos="54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verview">
  <p:cSld name="Overview">
    <p:spTree>
      <p:nvGrpSpPr>
        <p:cNvPr id="80" name="Shape 80"/>
        <p:cNvGrpSpPr/>
        <p:nvPr/>
      </p:nvGrpSpPr>
      <p:grpSpPr>
        <a:xfrm>
          <a:off x="0" y="0"/>
          <a:ext cx="0" cy="0"/>
          <a:chOff x="0" y="0"/>
          <a:chExt cx="0" cy="0"/>
        </a:xfrm>
      </p:grpSpPr>
      <p:sp>
        <p:nvSpPr>
          <p:cNvPr id="81" name="Google Shape;81;p25"/>
          <p:cNvSpPr txBox="1"/>
          <p:nvPr>
            <p:ph idx="1" type="body"/>
          </p:nvPr>
        </p:nvSpPr>
        <p:spPr>
          <a:xfrm>
            <a:off x="623093" y="636613"/>
            <a:ext cx="10845364" cy="5499267"/>
          </a:xfrm>
          <a:prstGeom prst="rect">
            <a:avLst/>
          </a:prstGeom>
          <a:noFill/>
          <a:ln>
            <a:noFill/>
          </a:ln>
        </p:spPr>
        <p:txBody>
          <a:bodyPr anchorCtr="0" anchor="t" bIns="45700" lIns="91425" spcFirstLastPara="1" rIns="91425" wrap="square" tIns="45700">
            <a:noAutofit/>
          </a:bodyPr>
          <a:lstStyle>
            <a:lvl1pPr indent="-228600" lvl="0" marL="457200" algn="l">
              <a:lnSpc>
                <a:spcPct val="105000"/>
              </a:lnSpc>
              <a:spcBef>
                <a:spcPts val="1600"/>
              </a:spcBef>
              <a:spcAft>
                <a:spcPts val="0"/>
              </a:spcAft>
              <a:buClr>
                <a:schemeClr val="dk1"/>
              </a:buClr>
              <a:buSzPts val="2040"/>
              <a:buFont typeface="Arial"/>
              <a:buNone/>
              <a:defRPr sz="1700">
                <a:latin typeface="Arial Black"/>
                <a:ea typeface="Arial Black"/>
                <a:cs typeface="Arial Black"/>
                <a:sym typeface="Arial Black"/>
              </a:defRPr>
            </a:lvl1pPr>
            <a:lvl2pPr indent="-347663" lvl="1" marL="914400" algn="l">
              <a:lnSpc>
                <a:spcPct val="105000"/>
              </a:lnSpc>
              <a:spcBef>
                <a:spcPts val="0"/>
              </a:spcBef>
              <a:spcAft>
                <a:spcPts val="0"/>
              </a:spcAft>
              <a:buClr>
                <a:schemeClr val="dk1"/>
              </a:buClr>
              <a:buSzPts val="1875"/>
              <a:buFont typeface="Arial"/>
              <a:buChar char="•"/>
              <a:defRPr sz="1500"/>
            </a:lvl2pPr>
            <a:lvl3pPr indent="-325755" lvl="2" marL="1371600" algn="l">
              <a:lnSpc>
                <a:spcPct val="105000"/>
              </a:lnSpc>
              <a:spcBef>
                <a:spcPts val="0"/>
              </a:spcBef>
              <a:spcAft>
                <a:spcPts val="0"/>
              </a:spcAft>
              <a:buClr>
                <a:schemeClr val="dk1"/>
              </a:buClr>
              <a:buSzPts val="1530"/>
              <a:buChar char="▪"/>
              <a:defRPr/>
            </a:lvl3pPr>
            <a:lvl4pPr indent="-354330" lvl="3" marL="1828800" algn="l">
              <a:lnSpc>
                <a:spcPct val="105000"/>
              </a:lnSpc>
              <a:spcBef>
                <a:spcPts val="0"/>
              </a:spcBef>
              <a:spcAft>
                <a:spcPts val="0"/>
              </a:spcAft>
              <a:buClr>
                <a:schemeClr val="dk1"/>
              </a:buClr>
              <a:buSzPts val="1980"/>
              <a:buChar char="-"/>
              <a:defRPr/>
            </a:lvl4pPr>
            <a:lvl5pPr indent="-302895" lvl="4" marL="2286000" algn="l">
              <a:lnSpc>
                <a:spcPct val="105000"/>
              </a:lnSpc>
              <a:spcBef>
                <a:spcPts val="0"/>
              </a:spcBef>
              <a:spcAft>
                <a:spcPts val="0"/>
              </a:spcAft>
              <a:buClr>
                <a:schemeClr val="dk1"/>
              </a:buClr>
              <a:buSzPts val="117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25"/>
          <p:cNvSpPr txBox="1"/>
          <p:nvPr>
            <p:ph idx="10" type="dt"/>
          </p:nvPr>
        </p:nvSpPr>
        <p:spPr>
          <a:xfrm>
            <a:off x="9424800" y="6357600"/>
            <a:ext cx="8172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
          <p:cNvSpPr txBox="1"/>
          <p:nvPr>
            <p:ph idx="11" type="ftr"/>
          </p:nvPr>
        </p:nvSpPr>
        <p:spPr>
          <a:xfrm>
            <a:off x="5889600" y="6350400"/>
            <a:ext cx="24264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5"/>
          <p:cNvSpPr txBox="1"/>
          <p:nvPr>
            <p:ph idx="12" type="sldNum"/>
          </p:nvPr>
        </p:nvSpPr>
        <p:spPr>
          <a:xfrm>
            <a:off x="11019600" y="6357600"/>
            <a:ext cx="6858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mage, black text">
  <p:cSld name="Large image, black text">
    <p:spTree>
      <p:nvGrpSpPr>
        <p:cNvPr id="85" name="Shape 85"/>
        <p:cNvGrpSpPr/>
        <p:nvPr/>
      </p:nvGrpSpPr>
      <p:grpSpPr>
        <a:xfrm>
          <a:off x="0" y="0"/>
          <a:ext cx="0" cy="0"/>
          <a:chOff x="0" y="0"/>
          <a:chExt cx="0" cy="0"/>
        </a:xfrm>
      </p:grpSpPr>
      <p:sp>
        <p:nvSpPr>
          <p:cNvPr id="86" name="Google Shape;86;p26"/>
          <p:cNvSpPr/>
          <p:nvPr>
            <p:ph idx="2" type="pic"/>
          </p:nvPr>
        </p:nvSpPr>
        <p:spPr>
          <a:xfrm>
            <a:off x="0" y="0"/>
            <a:ext cx="12192000" cy="6156000"/>
          </a:xfrm>
          <a:prstGeom prst="rect">
            <a:avLst/>
          </a:prstGeom>
          <a:noFill/>
          <a:ln>
            <a:noFill/>
          </a:ln>
        </p:spPr>
      </p:sp>
      <p:sp>
        <p:nvSpPr>
          <p:cNvPr id="87" name="Google Shape;87;p26"/>
          <p:cNvSpPr txBox="1"/>
          <p:nvPr>
            <p:ph type="title"/>
          </p:nvPr>
        </p:nvSpPr>
        <p:spPr>
          <a:xfrm>
            <a:off x="486000" y="575999"/>
            <a:ext cx="11124000" cy="990000"/>
          </a:xfrm>
          <a:prstGeom prst="rect">
            <a:avLst/>
          </a:prstGeom>
          <a:noFill/>
          <a:ln>
            <a:noFill/>
          </a:ln>
        </p:spPr>
        <p:txBody>
          <a:bodyPr anchorCtr="0" anchor="t" bIns="45700" lIns="91425" spcFirstLastPara="1" rIns="91425" wrap="square" tIns="45700">
            <a:noAutofit/>
          </a:bodyPr>
          <a:lstStyle>
            <a:lvl1pPr lvl="0" algn="l">
              <a:lnSpc>
                <a:spcPct val="83000"/>
              </a:lnSpc>
              <a:spcBef>
                <a:spcPts val="0"/>
              </a:spcBef>
              <a:spcAft>
                <a:spcPts val="0"/>
              </a:spcAft>
              <a:buClr>
                <a:schemeClr val="dk1"/>
              </a:buClr>
              <a:buSzPts val="30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6"/>
          <p:cNvSpPr txBox="1"/>
          <p:nvPr>
            <p:ph idx="10" type="dt"/>
          </p:nvPr>
        </p:nvSpPr>
        <p:spPr>
          <a:xfrm>
            <a:off x="9424800" y="6357600"/>
            <a:ext cx="8172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26"/>
          <p:cNvSpPr txBox="1"/>
          <p:nvPr>
            <p:ph idx="11" type="ftr"/>
          </p:nvPr>
        </p:nvSpPr>
        <p:spPr>
          <a:xfrm>
            <a:off x="5889600" y="6350400"/>
            <a:ext cx="24264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26"/>
          <p:cNvSpPr txBox="1"/>
          <p:nvPr>
            <p:ph idx="12" type="sldNum"/>
          </p:nvPr>
        </p:nvSpPr>
        <p:spPr>
          <a:xfrm>
            <a:off x="11019600" y="6357600"/>
            <a:ext cx="6858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mage, white text">
  <p:cSld name="Large image, white text">
    <p:spTree>
      <p:nvGrpSpPr>
        <p:cNvPr id="91" name="Shape 91"/>
        <p:cNvGrpSpPr/>
        <p:nvPr/>
      </p:nvGrpSpPr>
      <p:grpSpPr>
        <a:xfrm>
          <a:off x="0" y="0"/>
          <a:ext cx="0" cy="0"/>
          <a:chOff x="0" y="0"/>
          <a:chExt cx="0" cy="0"/>
        </a:xfrm>
      </p:grpSpPr>
      <p:sp>
        <p:nvSpPr>
          <p:cNvPr id="92" name="Google Shape;92;p27"/>
          <p:cNvSpPr/>
          <p:nvPr>
            <p:ph idx="2" type="pic"/>
          </p:nvPr>
        </p:nvSpPr>
        <p:spPr>
          <a:xfrm>
            <a:off x="0" y="0"/>
            <a:ext cx="12192000" cy="6156000"/>
          </a:xfrm>
          <a:prstGeom prst="rect">
            <a:avLst/>
          </a:prstGeom>
          <a:noFill/>
          <a:ln>
            <a:noFill/>
          </a:ln>
        </p:spPr>
      </p:sp>
      <p:sp>
        <p:nvSpPr>
          <p:cNvPr id="93" name="Google Shape;93;p27"/>
          <p:cNvSpPr txBox="1"/>
          <p:nvPr>
            <p:ph type="title"/>
          </p:nvPr>
        </p:nvSpPr>
        <p:spPr>
          <a:xfrm>
            <a:off x="486000" y="575999"/>
            <a:ext cx="11124000" cy="990000"/>
          </a:xfrm>
          <a:prstGeom prst="rect">
            <a:avLst/>
          </a:prstGeom>
          <a:noFill/>
          <a:ln>
            <a:noFill/>
          </a:ln>
        </p:spPr>
        <p:txBody>
          <a:bodyPr anchorCtr="0" anchor="t" bIns="45700" lIns="91425" spcFirstLastPara="1" rIns="91425" wrap="square" tIns="45700">
            <a:noAutofit/>
          </a:bodyPr>
          <a:lstStyle>
            <a:lvl1pPr lvl="0" algn="l">
              <a:lnSpc>
                <a:spcPct val="83000"/>
              </a:lnSpc>
              <a:spcBef>
                <a:spcPts val="0"/>
              </a:spcBef>
              <a:spcAft>
                <a:spcPts val="0"/>
              </a:spcAft>
              <a:buClr>
                <a:schemeClr val="lt1"/>
              </a:buClr>
              <a:buSzPts val="3000"/>
              <a:buFont typeface="Arial Black"/>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27"/>
          <p:cNvSpPr txBox="1"/>
          <p:nvPr>
            <p:ph idx="10" type="dt"/>
          </p:nvPr>
        </p:nvSpPr>
        <p:spPr>
          <a:xfrm>
            <a:off x="9424800" y="6357600"/>
            <a:ext cx="8172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27"/>
          <p:cNvSpPr txBox="1"/>
          <p:nvPr>
            <p:ph idx="11" type="ftr"/>
          </p:nvPr>
        </p:nvSpPr>
        <p:spPr>
          <a:xfrm>
            <a:off x="5889600" y="6350400"/>
            <a:ext cx="24264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7"/>
          <p:cNvSpPr txBox="1"/>
          <p:nvPr>
            <p:ph idx="12" type="sldNum"/>
          </p:nvPr>
        </p:nvSpPr>
        <p:spPr>
          <a:xfrm>
            <a:off x="11019600" y="6357600"/>
            <a:ext cx="6858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mage and text">
  <p:cSld name="Large image and text">
    <p:spTree>
      <p:nvGrpSpPr>
        <p:cNvPr id="97" name="Shape 97"/>
        <p:cNvGrpSpPr/>
        <p:nvPr/>
      </p:nvGrpSpPr>
      <p:grpSpPr>
        <a:xfrm>
          <a:off x="0" y="0"/>
          <a:ext cx="0" cy="0"/>
          <a:chOff x="0" y="0"/>
          <a:chExt cx="0" cy="0"/>
        </a:xfrm>
      </p:grpSpPr>
      <p:sp>
        <p:nvSpPr>
          <p:cNvPr id="98" name="Google Shape;98;p28"/>
          <p:cNvSpPr txBox="1"/>
          <p:nvPr>
            <p:ph idx="1" type="body"/>
          </p:nvPr>
        </p:nvSpPr>
        <p:spPr>
          <a:xfrm>
            <a:off x="8136000" y="1638000"/>
            <a:ext cx="3474000" cy="4510800"/>
          </a:xfrm>
          <a:prstGeom prst="rect">
            <a:avLst/>
          </a:prstGeom>
          <a:noFill/>
          <a:ln>
            <a:noFill/>
          </a:ln>
        </p:spPr>
        <p:txBody>
          <a:bodyPr anchorCtr="0" anchor="t" bIns="45700" lIns="91425" spcFirstLastPara="1" rIns="91425" wrap="square" tIns="45700">
            <a:noAutofit/>
          </a:bodyPr>
          <a:lstStyle>
            <a:lvl1pPr indent="-365760" lvl="0" marL="457200" algn="l">
              <a:lnSpc>
                <a:spcPct val="105000"/>
              </a:lnSpc>
              <a:spcBef>
                <a:spcPts val="800"/>
              </a:spcBef>
              <a:spcAft>
                <a:spcPts val="0"/>
              </a:spcAft>
              <a:buClr>
                <a:schemeClr val="dk1"/>
              </a:buClr>
              <a:buSzPts val="2160"/>
              <a:buChar char="•"/>
              <a:defRPr/>
            </a:lvl1pPr>
            <a:lvl2pPr indent="-371475" lvl="1" marL="914400" algn="l">
              <a:lnSpc>
                <a:spcPct val="105000"/>
              </a:lnSpc>
              <a:spcBef>
                <a:spcPts val="0"/>
              </a:spcBef>
              <a:spcAft>
                <a:spcPts val="0"/>
              </a:spcAft>
              <a:buClr>
                <a:schemeClr val="dk1"/>
              </a:buClr>
              <a:buSzPts val="2250"/>
              <a:buChar char="◦"/>
              <a:defRPr/>
            </a:lvl2pPr>
            <a:lvl3pPr indent="-325755" lvl="2" marL="1371600" algn="l">
              <a:lnSpc>
                <a:spcPct val="105000"/>
              </a:lnSpc>
              <a:spcBef>
                <a:spcPts val="0"/>
              </a:spcBef>
              <a:spcAft>
                <a:spcPts val="0"/>
              </a:spcAft>
              <a:buClr>
                <a:schemeClr val="dk1"/>
              </a:buClr>
              <a:buSzPts val="1530"/>
              <a:buChar char="▪"/>
              <a:defRPr/>
            </a:lvl3pPr>
            <a:lvl4pPr indent="-354330" lvl="3" marL="1828800" algn="l">
              <a:lnSpc>
                <a:spcPct val="105000"/>
              </a:lnSpc>
              <a:spcBef>
                <a:spcPts val="0"/>
              </a:spcBef>
              <a:spcAft>
                <a:spcPts val="0"/>
              </a:spcAft>
              <a:buClr>
                <a:schemeClr val="dk1"/>
              </a:buClr>
              <a:buSzPts val="1980"/>
              <a:buChar char="-"/>
              <a:defRPr/>
            </a:lvl4pPr>
            <a:lvl5pPr indent="-302895" lvl="4" marL="2286000" algn="l">
              <a:lnSpc>
                <a:spcPct val="105000"/>
              </a:lnSpc>
              <a:spcBef>
                <a:spcPts val="0"/>
              </a:spcBef>
              <a:spcAft>
                <a:spcPts val="0"/>
              </a:spcAft>
              <a:buClr>
                <a:schemeClr val="dk1"/>
              </a:buClr>
              <a:buSzPts val="117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p28"/>
          <p:cNvSpPr/>
          <p:nvPr>
            <p:ph idx="2" type="pic"/>
          </p:nvPr>
        </p:nvSpPr>
        <p:spPr>
          <a:xfrm>
            <a:off x="576000" y="1721513"/>
            <a:ext cx="7214400" cy="4417200"/>
          </a:xfrm>
          <a:prstGeom prst="rect">
            <a:avLst/>
          </a:prstGeom>
          <a:noFill/>
          <a:ln>
            <a:noFill/>
          </a:ln>
        </p:spPr>
      </p:sp>
      <p:sp>
        <p:nvSpPr>
          <p:cNvPr id="100" name="Google Shape;100;p28"/>
          <p:cNvSpPr txBox="1"/>
          <p:nvPr>
            <p:ph idx="3" type="body"/>
          </p:nvPr>
        </p:nvSpPr>
        <p:spPr>
          <a:xfrm>
            <a:off x="576000" y="5864981"/>
            <a:ext cx="7214400" cy="274118"/>
          </a:xfrm>
          <a:prstGeom prst="rect">
            <a:avLst/>
          </a:prstGeom>
          <a:noFill/>
          <a:ln>
            <a:noFill/>
          </a:ln>
        </p:spPr>
        <p:txBody>
          <a:bodyPr anchorCtr="0" anchor="b" bIns="45700" lIns="91425" spcFirstLastPara="1" rIns="91425" wrap="square" tIns="45700">
            <a:noAutofit/>
          </a:bodyPr>
          <a:lstStyle>
            <a:lvl1pPr indent="-228600" lvl="0" marL="457200" algn="l">
              <a:lnSpc>
                <a:spcPct val="83000"/>
              </a:lnSpc>
              <a:spcBef>
                <a:spcPts val="800"/>
              </a:spcBef>
              <a:spcAft>
                <a:spcPts val="0"/>
              </a:spcAft>
              <a:buClr>
                <a:schemeClr val="dk1"/>
              </a:buClr>
              <a:buSzPts val="960"/>
              <a:buNone/>
              <a:defRPr b="0" sz="800">
                <a:latin typeface="Arial"/>
                <a:ea typeface="Arial"/>
                <a:cs typeface="Arial"/>
                <a:sym typeface="Arial"/>
              </a:defRPr>
            </a:lvl1pPr>
            <a:lvl2pPr indent="-228600" lvl="1" marL="914400" algn="l">
              <a:lnSpc>
                <a:spcPct val="133333"/>
              </a:lnSpc>
              <a:spcBef>
                <a:spcPts val="0"/>
              </a:spcBef>
              <a:spcAft>
                <a:spcPts val="0"/>
              </a:spcAft>
              <a:buClr>
                <a:schemeClr val="dk1"/>
              </a:buClr>
              <a:buSzPts val="938"/>
              <a:buNone/>
              <a:defRPr sz="750"/>
            </a:lvl2pPr>
            <a:lvl3pPr indent="-228600" lvl="2" marL="1371600" algn="l">
              <a:lnSpc>
                <a:spcPct val="133333"/>
              </a:lnSpc>
              <a:spcBef>
                <a:spcPts val="0"/>
              </a:spcBef>
              <a:spcAft>
                <a:spcPts val="0"/>
              </a:spcAft>
              <a:buClr>
                <a:schemeClr val="dk1"/>
              </a:buClr>
              <a:buSzPts val="638"/>
              <a:buNone/>
              <a:defRPr sz="750"/>
            </a:lvl3pPr>
            <a:lvl4pPr indent="-228600" lvl="3" marL="1828800" algn="l">
              <a:lnSpc>
                <a:spcPct val="133333"/>
              </a:lnSpc>
              <a:spcBef>
                <a:spcPts val="0"/>
              </a:spcBef>
              <a:spcAft>
                <a:spcPts val="0"/>
              </a:spcAft>
              <a:buClr>
                <a:schemeClr val="dk1"/>
              </a:buClr>
              <a:buSzPts val="825"/>
              <a:buNone/>
              <a:defRPr sz="750"/>
            </a:lvl4pPr>
            <a:lvl5pPr indent="-228600" lvl="4" marL="2286000" algn="l">
              <a:lnSpc>
                <a:spcPct val="133333"/>
              </a:lnSpc>
              <a:spcBef>
                <a:spcPts val="0"/>
              </a:spcBef>
              <a:spcAft>
                <a:spcPts val="0"/>
              </a:spcAft>
              <a:buClr>
                <a:schemeClr val="dk1"/>
              </a:buClr>
              <a:buSzPts val="488"/>
              <a:buNone/>
              <a:defRPr sz="75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28"/>
          <p:cNvSpPr txBox="1"/>
          <p:nvPr>
            <p:ph type="title"/>
          </p:nvPr>
        </p:nvSpPr>
        <p:spPr>
          <a:xfrm>
            <a:off x="486000" y="575999"/>
            <a:ext cx="11124000" cy="990000"/>
          </a:xfrm>
          <a:prstGeom prst="rect">
            <a:avLst/>
          </a:prstGeom>
          <a:noFill/>
          <a:ln>
            <a:noFill/>
          </a:ln>
        </p:spPr>
        <p:txBody>
          <a:bodyPr anchorCtr="0" anchor="t" bIns="45700" lIns="91425" spcFirstLastPara="1" rIns="91425" wrap="square" tIns="45700">
            <a:noAutofit/>
          </a:bodyPr>
          <a:lstStyle>
            <a:lvl1pPr lvl="0" algn="l">
              <a:lnSpc>
                <a:spcPct val="83000"/>
              </a:lnSpc>
              <a:spcBef>
                <a:spcPts val="0"/>
              </a:spcBef>
              <a:spcAft>
                <a:spcPts val="0"/>
              </a:spcAft>
              <a:buClr>
                <a:schemeClr val="dk1"/>
              </a:buClr>
              <a:buSzPts val="30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28"/>
          <p:cNvSpPr txBox="1"/>
          <p:nvPr>
            <p:ph idx="10" type="dt"/>
          </p:nvPr>
        </p:nvSpPr>
        <p:spPr>
          <a:xfrm>
            <a:off x="9424800" y="6357600"/>
            <a:ext cx="8172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28"/>
          <p:cNvSpPr txBox="1"/>
          <p:nvPr>
            <p:ph idx="11" type="ftr"/>
          </p:nvPr>
        </p:nvSpPr>
        <p:spPr>
          <a:xfrm>
            <a:off x="5889600" y="6350400"/>
            <a:ext cx="24264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28"/>
          <p:cNvSpPr txBox="1"/>
          <p:nvPr>
            <p:ph idx="12" type="sldNum"/>
          </p:nvPr>
        </p:nvSpPr>
        <p:spPr>
          <a:xfrm>
            <a:off x="11019600" y="6357600"/>
            <a:ext cx="6858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rmulas">
  <p:cSld name="Formulas">
    <p:spTree>
      <p:nvGrpSpPr>
        <p:cNvPr id="105" name="Shape 105"/>
        <p:cNvGrpSpPr/>
        <p:nvPr/>
      </p:nvGrpSpPr>
      <p:grpSpPr>
        <a:xfrm>
          <a:off x="0" y="0"/>
          <a:ext cx="0" cy="0"/>
          <a:chOff x="0" y="0"/>
          <a:chExt cx="0" cy="0"/>
        </a:xfrm>
      </p:grpSpPr>
      <p:sp>
        <p:nvSpPr>
          <p:cNvPr id="106" name="Google Shape;106;p29"/>
          <p:cNvSpPr/>
          <p:nvPr>
            <p:ph idx="2" type="pic"/>
          </p:nvPr>
        </p:nvSpPr>
        <p:spPr>
          <a:xfrm>
            <a:off x="2070000" y="1724299"/>
            <a:ext cx="8074800" cy="4417200"/>
          </a:xfrm>
          <a:prstGeom prst="rect">
            <a:avLst/>
          </a:prstGeom>
          <a:noFill/>
          <a:ln>
            <a:noFill/>
          </a:ln>
        </p:spPr>
      </p:sp>
      <p:sp>
        <p:nvSpPr>
          <p:cNvPr id="107" name="Google Shape;107;p29"/>
          <p:cNvSpPr txBox="1"/>
          <p:nvPr>
            <p:ph idx="1" type="body"/>
          </p:nvPr>
        </p:nvSpPr>
        <p:spPr>
          <a:xfrm>
            <a:off x="2048400" y="5863959"/>
            <a:ext cx="8096400" cy="278127"/>
          </a:xfrm>
          <a:prstGeom prst="rect">
            <a:avLst/>
          </a:prstGeom>
          <a:noFill/>
          <a:ln>
            <a:noFill/>
          </a:ln>
        </p:spPr>
        <p:txBody>
          <a:bodyPr anchorCtr="0" anchor="b" bIns="45700" lIns="91425" spcFirstLastPara="1" rIns="91425" wrap="square" tIns="45700">
            <a:noAutofit/>
          </a:bodyPr>
          <a:lstStyle>
            <a:lvl1pPr indent="-228600" lvl="0" marL="457200" algn="l">
              <a:lnSpc>
                <a:spcPct val="83000"/>
              </a:lnSpc>
              <a:spcBef>
                <a:spcPts val="800"/>
              </a:spcBef>
              <a:spcAft>
                <a:spcPts val="0"/>
              </a:spcAft>
              <a:buClr>
                <a:schemeClr val="dk1"/>
              </a:buClr>
              <a:buSzPts val="960"/>
              <a:buNone/>
              <a:defRPr b="0" sz="800">
                <a:latin typeface="Arial"/>
                <a:ea typeface="Arial"/>
                <a:cs typeface="Arial"/>
                <a:sym typeface="Arial"/>
              </a:defRPr>
            </a:lvl1pPr>
            <a:lvl2pPr indent="-228600" lvl="1" marL="914400" algn="l">
              <a:lnSpc>
                <a:spcPct val="133333"/>
              </a:lnSpc>
              <a:spcBef>
                <a:spcPts val="0"/>
              </a:spcBef>
              <a:spcAft>
                <a:spcPts val="0"/>
              </a:spcAft>
              <a:buClr>
                <a:schemeClr val="dk1"/>
              </a:buClr>
              <a:buSzPts val="938"/>
              <a:buNone/>
              <a:defRPr sz="750"/>
            </a:lvl2pPr>
            <a:lvl3pPr indent="-228600" lvl="2" marL="1371600" algn="l">
              <a:lnSpc>
                <a:spcPct val="133333"/>
              </a:lnSpc>
              <a:spcBef>
                <a:spcPts val="0"/>
              </a:spcBef>
              <a:spcAft>
                <a:spcPts val="0"/>
              </a:spcAft>
              <a:buClr>
                <a:schemeClr val="dk1"/>
              </a:buClr>
              <a:buSzPts val="638"/>
              <a:buNone/>
              <a:defRPr sz="750"/>
            </a:lvl3pPr>
            <a:lvl4pPr indent="-228600" lvl="3" marL="1828800" algn="l">
              <a:lnSpc>
                <a:spcPct val="133333"/>
              </a:lnSpc>
              <a:spcBef>
                <a:spcPts val="0"/>
              </a:spcBef>
              <a:spcAft>
                <a:spcPts val="0"/>
              </a:spcAft>
              <a:buClr>
                <a:schemeClr val="dk1"/>
              </a:buClr>
              <a:buSzPts val="825"/>
              <a:buNone/>
              <a:defRPr sz="750"/>
            </a:lvl4pPr>
            <a:lvl5pPr indent="-228600" lvl="4" marL="2286000" algn="l">
              <a:lnSpc>
                <a:spcPct val="133333"/>
              </a:lnSpc>
              <a:spcBef>
                <a:spcPts val="0"/>
              </a:spcBef>
              <a:spcAft>
                <a:spcPts val="0"/>
              </a:spcAft>
              <a:buClr>
                <a:schemeClr val="dk1"/>
              </a:buClr>
              <a:buSzPts val="488"/>
              <a:buNone/>
              <a:defRPr sz="75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29"/>
          <p:cNvSpPr txBox="1"/>
          <p:nvPr>
            <p:ph type="title"/>
          </p:nvPr>
        </p:nvSpPr>
        <p:spPr>
          <a:xfrm>
            <a:off x="486000" y="575999"/>
            <a:ext cx="11124000" cy="990000"/>
          </a:xfrm>
          <a:prstGeom prst="rect">
            <a:avLst/>
          </a:prstGeom>
          <a:noFill/>
          <a:ln>
            <a:noFill/>
          </a:ln>
        </p:spPr>
        <p:txBody>
          <a:bodyPr anchorCtr="0" anchor="t" bIns="45700" lIns="91425" spcFirstLastPara="1" rIns="91425" wrap="square" tIns="45700">
            <a:noAutofit/>
          </a:bodyPr>
          <a:lstStyle>
            <a:lvl1pPr lvl="0" algn="l">
              <a:lnSpc>
                <a:spcPct val="83000"/>
              </a:lnSpc>
              <a:spcBef>
                <a:spcPts val="0"/>
              </a:spcBef>
              <a:spcAft>
                <a:spcPts val="0"/>
              </a:spcAft>
              <a:buClr>
                <a:schemeClr val="dk1"/>
              </a:buClr>
              <a:buSzPts val="30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29"/>
          <p:cNvSpPr txBox="1"/>
          <p:nvPr>
            <p:ph idx="10" type="dt"/>
          </p:nvPr>
        </p:nvSpPr>
        <p:spPr>
          <a:xfrm>
            <a:off x="9424800" y="6357600"/>
            <a:ext cx="8172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29"/>
          <p:cNvSpPr txBox="1"/>
          <p:nvPr>
            <p:ph idx="11" type="ftr"/>
          </p:nvPr>
        </p:nvSpPr>
        <p:spPr>
          <a:xfrm>
            <a:off x="5889600" y="6350400"/>
            <a:ext cx="24264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29"/>
          <p:cNvSpPr txBox="1"/>
          <p:nvPr>
            <p:ph idx="12" type="sldNum"/>
          </p:nvPr>
        </p:nvSpPr>
        <p:spPr>
          <a:xfrm>
            <a:off x="11019600" y="6357600"/>
            <a:ext cx="6858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o">
  <p:cSld name="Video">
    <p:spTree>
      <p:nvGrpSpPr>
        <p:cNvPr id="112" name="Shape 112"/>
        <p:cNvGrpSpPr/>
        <p:nvPr/>
      </p:nvGrpSpPr>
      <p:grpSpPr>
        <a:xfrm>
          <a:off x="0" y="0"/>
          <a:ext cx="0" cy="0"/>
          <a:chOff x="0" y="0"/>
          <a:chExt cx="0" cy="0"/>
        </a:xfrm>
      </p:grpSpPr>
      <p:sp>
        <p:nvSpPr>
          <p:cNvPr id="113" name="Google Shape;113;p30"/>
          <p:cNvSpPr txBox="1"/>
          <p:nvPr>
            <p:ph type="title"/>
          </p:nvPr>
        </p:nvSpPr>
        <p:spPr>
          <a:xfrm>
            <a:off x="486000" y="575999"/>
            <a:ext cx="11124000" cy="990000"/>
          </a:xfrm>
          <a:prstGeom prst="rect">
            <a:avLst/>
          </a:prstGeom>
          <a:noFill/>
          <a:ln>
            <a:noFill/>
          </a:ln>
        </p:spPr>
        <p:txBody>
          <a:bodyPr anchorCtr="0" anchor="t" bIns="45700" lIns="91425" spcFirstLastPara="1" rIns="91425" wrap="square" tIns="45700">
            <a:noAutofit/>
          </a:bodyPr>
          <a:lstStyle>
            <a:lvl1pPr lvl="0" algn="l">
              <a:lnSpc>
                <a:spcPct val="83000"/>
              </a:lnSpc>
              <a:spcBef>
                <a:spcPts val="0"/>
              </a:spcBef>
              <a:spcAft>
                <a:spcPts val="0"/>
              </a:spcAft>
              <a:buClr>
                <a:schemeClr val="dk1"/>
              </a:buClr>
              <a:buSzPts val="30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30"/>
          <p:cNvSpPr/>
          <p:nvPr>
            <p:ph idx="2" type="media"/>
          </p:nvPr>
        </p:nvSpPr>
        <p:spPr>
          <a:xfrm>
            <a:off x="576000" y="1724302"/>
            <a:ext cx="11034000" cy="4417200"/>
          </a:xfrm>
          <a:prstGeom prst="rect">
            <a:avLst/>
          </a:prstGeom>
          <a:noFill/>
          <a:ln>
            <a:noFill/>
          </a:ln>
        </p:spPr>
        <p:txBody>
          <a:bodyPr anchorCtr="0" anchor="t" bIns="45700" lIns="91425" spcFirstLastPara="1" rIns="91425" wrap="square" tIns="45700">
            <a:noAutofit/>
          </a:bodyPr>
          <a:lstStyle>
            <a:lvl1pPr lvl="0" marR="0" rtl="0" algn="l">
              <a:lnSpc>
                <a:spcPct val="105000"/>
              </a:lnSpc>
              <a:spcBef>
                <a:spcPts val="800"/>
              </a:spcBef>
              <a:spcAft>
                <a:spcPts val="0"/>
              </a:spcAft>
              <a:buClr>
                <a:schemeClr val="dk1"/>
              </a:buClr>
              <a:buSzPts val="2400"/>
              <a:buFont typeface="Arial"/>
              <a:buChar char="•"/>
              <a:defRPr b="0" i="0" sz="2000" u="none" cap="none" strike="noStrike">
                <a:solidFill>
                  <a:schemeClr val="dk1"/>
                </a:solidFill>
                <a:latin typeface="Arial"/>
                <a:ea typeface="Arial"/>
                <a:cs typeface="Arial"/>
                <a:sym typeface="Arial"/>
              </a:defRPr>
            </a:lvl1pPr>
            <a:lvl2pPr lvl="1" marR="0" rtl="0" algn="l">
              <a:lnSpc>
                <a:spcPct val="105000"/>
              </a:lnSpc>
              <a:spcBef>
                <a:spcPts val="0"/>
              </a:spcBef>
              <a:spcAft>
                <a:spcPts val="0"/>
              </a:spcAft>
              <a:buClr>
                <a:schemeClr val="dk1"/>
              </a:buClr>
              <a:buSzPts val="2500"/>
              <a:buFont typeface="Arial"/>
              <a:buChar char="◦"/>
              <a:defRPr b="0" i="0" sz="2000" u="none" cap="none" strike="noStrike">
                <a:solidFill>
                  <a:schemeClr val="dk1"/>
                </a:solidFill>
                <a:latin typeface="Arial"/>
                <a:ea typeface="Arial"/>
                <a:cs typeface="Arial"/>
                <a:sym typeface="Arial"/>
              </a:defRPr>
            </a:lvl2pPr>
            <a:lvl3pPr lvl="2" marR="0" rtl="0" algn="l">
              <a:lnSpc>
                <a:spcPct val="105000"/>
              </a:lnSpc>
              <a:spcBef>
                <a:spcPts val="0"/>
              </a:spcBef>
              <a:spcAft>
                <a:spcPts val="0"/>
              </a:spcAft>
              <a:buClr>
                <a:schemeClr val="dk1"/>
              </a:buClr>
              <a:buSzPts val="1530"/>
              <a:buFont typeface="Noto Sans Symbols"/>
              <a:buChar char="▪"/>
              <a:defRPr b="0" i="0" sz="1800" u="none" cap="none" strike="noStrike">
                <a:solidFill>
                  <a:schemeClr val="dk1"/>
                </a:solidFill>
                <a:latin typeface="Arial"/>
                <a:ea typeface="Arial"/>
                <a:cs typeface="Arial"/>
                <a:sym typeface="Arial"/>
              </a:defRPr>
            </a:lvl3pPr>
            <a:lvl4pPr lvl="3" marR="0" rtl="0" algn="l">
              <a:lnSpc>
                <a:spcPct val="105000"/>
              </a:lnSpc>
              <a:spcBef>
                <a:spcPts val="0"/>
              </a:spcBef>
              <a:spcAft>
                <a:spcPts val="0"/>
              </a:spcAft>
              <a:buClr>
                <a:schemeClr val="dk1"/>
              </a:buClr>
              <a:buSzPts val="1980"/>
              <a:buFont typeface="Arial"/>
              <a:buChar char="-"/>
              <a:defRPr b="0" i="0" sz="1800" u="none" cap="none" strike="noStrike">
                <a:solidFill>
                  <a:schemeClr val="dk1"/>
                </a:solidFill>
                <a:latin typeface="Arial"/>
                <a:ea typeface="Arial"/>
                <a:cs typeface="Arial"/>
                <a:sym typeface="Arial"/>
              </a:defRPr>
            </a:lvl4pPr>
            <a:lvl5pPr lvl="4" marR="0" rtl="0" algn="l">
              <a:lnSpc>
                <a:spcPct val="105000"/>
              </a:lnSpc>
              <a:spcBef>
                <a:spcPts val="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5" name="Google Shape;115;p30"/>
          <p:cNvSpPr txBox="1"/>
          <p:nvPr>
            <p:ph idx="1" type="body"/>
          </p:nvPr>
        </p:nvSpPr>
        <p:spPr>
          <a:xfrm>
            <a:off x="576000" y="5864400"/>
            <a:ext cx="11034000" cy="278127"/>
          </a:xfrm>
          <a:prstGeom prst="rect">
            <a:avLst/>
          </a:prstGeom>
          <a:noFill/>
          <a:ln>
            <a:noFill/>
          </a:ln>
        </p:spPr>
        <p:txBody>
          <a:bodyPr anchorCtr="0" anchor="b" bIns="45700" lIns="91425" spcFirstLastPara="1" rIns="91425" wrap="square" tIns="45700">
            <a:noAutofit/>
          </a:bodyPr>
          <a:lstStyle>
            <a:lvl1pPr indent="-228600" lvl="0" marL="457200" algn="l">
              <a:lnSpc>
                <a:spcPct val="83000"/>
              </a:lnSpc>
              <a:spcBef>
                <a:spcPts val="800"/>
              </a:spcBef>
              <a:spcAft>
                <a:spcPts val="0"/>
              </a:spcAft>
              <a:buClr>
                <a:schemeClr val="dk1"/>
              </a:buClr>
              <a:buSzPts val="960"/>
              <a:buNone/>
              <a:defRPr b="0" sz="800">
                <a:latin typeface="Arial"/>
                <a:ea typeface="Arial"/>
                <a:cs typeface="Arial"/>
                <a:sym typeface="Arial"/>
              </a:defRPr>
            </a:lvl1pPr>
            <a:lvl2pPr indent="-228600" lvl="1" marL="914400" algn="l">
              <a:lnSpc>
                <a:spcPct val="133333"/>
              </a:lnSpc>
              <a:spcBef>
                <a:spcPts val="0"/>
              </a:spcBef>
              <a:spcAft>
                <a:spcPts val="0"/>
              </a:spcAft>
              <a:buClr>
                <a:schemeClr val="dk1"/>
              </a:buClr>
              <a:buSzPts val="938"/>
              <a:buNone/>
              <a:defRPr sz="750"/>
            </a:lvl2pPr>
            <a:lvl3pPr indent="-228600" lvl="2" marL="1371600" algn="l">
              <a:lnSpc>
                <a:spcPct val="133333"/>
              </a:lnSpc>
              <a:spcBef>
                <a:spcPts val="0"/>
              </a:spcBef>
              <a:spcAft>
                <a:spcPts val="0"/>
              </a:spcAft>
              <a:buClr>
                <a:schemeClr val="dk1"/>
              </a:buClr>
              <a:buSzPts val="638"/>
              <a:buNone/>
              <a:defRPr sz="750"/>
            </a:lvl3pPr>
            <a:lvl4pPr indent="-228600" lvl="3" marL="1828800" algn="l">
              <a:lnSpc>
                <a:spcPct val="133333"/>
              </a:lnSpc>
              <a:spcBef>
                <a:spcPts val="0"/>
              </a:spcBef>
              <a:spcAft>
                <a:spcPts val="0"/>
              </a:spcAft>
              <a:buClr>
                <a:schemeClr val="dk1"/>
              </a:buClr>
              <a:buSzPts val="825"/>
              <a:buNone/>
              <a:defRPr sz="750"/>
            </a:lvl4pPr>
            <a:lvl5pPr indent="-228600" lvl="4" marL="2286000" algn="l">
              <a:lnSpc>
                <a:spcPct val="133333"/>
              </a:lnSpc>
              <a:spcBef>
                <a:spcPts val="0"/>
              </a:spcBef>
              <a:spcAft>
                <a:spcPts val="0"/>
              </a:spcAft>
              <a:buClr>
                <a:schemeClr val="dk1"/>
              </a:buClr>
              <a:buSzPts val="488"/>
              <a:buNone/>
              <a:defRPr sz="75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 name="Google Shape;116;p30"/>
          <p:cNvSpPr txBox="1"/>
          <p:nvPr>
            <p:ph idx="10" type="dt"/>
          </p:nvPr>
        </p:nvSpPr>
        <p:spPr>
          <a:xfrm>
            <a:off x="9424800" y="6357600"/>
            <a:ext cx="8172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30"/>
          <p:cNvSpPr txBox="1"/>
          <p:nvPr>
            <p:ph idx="11" type="ftr"/>
          </p:nvPr>
        </p:nvSpPr>
        <p:spPr>
          <a:xfrm>
            <a:off x="5889600" y="6350400"/>
            <a:ext cx="24264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30"/>
          <p:cNvSpPr txBox="1"/>
          <p:nvPr>
            <p:ph idx="12" type="sldNum"/>
          </p:nvPr>
        </p:nvSpPr>
        <p:spPr>
          <a:xfrm>
            <a:off x="11019600" y="6357600"/>
            <a:ext cx="6858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smaller images and text">
  <p:cSld name="3 smaller images and text">
    <p:spTree>
      <p:nvGrpSpPr>
        <p:cNvPr id="119" name="Shape 119"/>
        <p:cNvGrpSpPr/>
        <p:nvPr/>
      </p:nvGrpSpPr>
      <p:grpSpPr>
        <a:xfrm>
          <a:off x="0" y="0"/>
          <a:ext cx="0" cy="0"/>
          <a:chOff x="0" y="0"/>
          <a:chExt cx="0" cy="0"/>
        </a:xfrm>
      </p:grpSpPr>
      <p:sp>
        <p:nvSpPr>
          <p:cNvPr id="120" name="Google Shape;120;p31"/>
          <p:cNvSpPr txBox="1"/>
          <p:nvPr>
            <p:ph type="title"/>
          </p:nvPr>
        </p:nvSpPr>
        <p:spPr>
          <a:xfrm>
            <a:off x="486000" y="575999"/>
            <a:ext cx="11124000" cy="990000"/>
          </a:xfrm>
          <a:prstGeom prst="rect">
            <a:avLst/>
          </a:prstGeom>
          <a:noFill/>
          <a:ln>
            <a:noFill/>
          </a:ln>
        </p:spPr>
        <p:txBody>
          <a:bodyPr anchorCtr="0" anchor="t" bIns="45700" lIns="91425" spcFirstLastPara="1" rIns="91425" wrap="square" tIns="45700">
            <a:noAutofit/>
          </a:bodyPr>
          <a:lstStyle>
            <a:lvl1pPr lvl="0" algn="l">
              <a:lnSpc>
                <a:spcPct val="83000"/>
              </a:lnSpc>
              <a:spcBef>
                <a:spcPts val="0"/>
              </a:spcBef>
              <a:spcAft>
                <a:spcPts val="0"/>
              </a:spcAft>
              <a:buClr>
                <a:schemeClr val="dk1"/>
              </a:buClr>
              <a:buSzPts val="30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31"/>
          <p:cNvSpPr txBox="1"/>
          <p:nvPr>
            <p:ph idx="1" type="body"/>
          </p:nvPr>
        </p:nvSpPr>
        <p:spPr>
          <a:xfrm>
            <a:off x="4388099" y="1638000"/>
            <a:ext cx="7225200" cy="4503600"/>
          </a:xfrm>
          <a:prstGeom prst="rect">
            <a:avLst/>
          </a:prstGeom>
          <a:noFill/>
          <a:ln>
            <a:noFill/>
          </a:ln>
        </p:spPr>
        <p:txBody>
          <a:bodyPr anchorCtr="0" anchor="t" bIns="45700" lIns="91425" spcFirstLastPara="1" rIns="91425" wrap="square" tIns="45700">
            <a:noAutofit/>
          </a:bodyPr>
          <a:lstStyle>
            <a:lvl1pPr indent="-365760" lvl="0" marL="457200" algn="l">
              <a:lnSpc>
                <a:spcPct val="105000"/>
              </a:lnSpc>
              <a:spcBef>
                <a:spcPts val="800"/>
              </a:spcBef>
              <a:spcAft>
                <a:spcPts val="0"/>
              </a:spcAft>
              <a:buClr>
                <a:schemeClr val="dk1"/>
              </a:buClr>
              <a:buSzPts val="2160"/>
              <a:buChar char="•"/>
              <a:defRPr/>
            </a:lvl1pPr>
            <a:lvl2pPr indent="-371475" lvl="1" marL="914400" algn="l">
              <a:lnSpc>
                <a:spcPct val="105000"/>
              </a:lnSpc>
              <a:spcBef>
                <a:spcPts val="0"/>
              </a:spcBef>
              <a:spcAft>
                <a:spcPts val="0"/>
              </a:spcAft>
              <a:buClr>
                <a:schemeClr val="dk1"/>
              </a:buClr>
              <a:buSzPts val="2250"/>
              <a:buChar char="◦"/>
              <a:defRPr/>
            </a:lvl2pPr>
            <a:lvl3pPr indent="-325755" lvl="2" marL="1371600" algn="l">
              <a:lnSpc>
                <a:spcPct val="105000"/>
              </a:lnSpc>
              <a:spcBef>
                <a:spcPts val="0"/>
              </a:spcBef>
              <a:spcAft>
                <a:spcPts val="0"/>
              </a:spcAft>
              <a:buClr>
                <a:schemeClr val="dk1"/>
              </a:buClr>
              <a:buSzPts val="1530"/>
              <a:buChar char="▪"/>
              <a:defRPr/>
            </a:lvl3pPr>
            <a:lvl4pPr indent="-354330" lvl="3" marL="1828800" algn="l">
              <a:lnSpc>
                <a:spcPct val="105000"/>
              </a:lnSpc>
              <a:spcBef>
                <a:spcPts val="0"/>
              </a:spcBef>
              <a:spcAft>
                <a:spcPts val="0"/>
              </a:spcAft>
              <a:buClr>
                <a:schemeClr val="dk1"/>
              </a:buClr>
              <a:buSzPts val="1980"/>
              <a:buChar char="-"/>
              <a:defRPr/>
            </a:lvl4pPr>
            <a:lvl5pPr indent="-302895" lvl="4" marL="2286000" algn="l">
              <a:lnSpc>
                <a:spcPct val="105000"/>
              </a:lnSpc>
              <a:spcBef>
                <a:spcPts val="0"/>
              </a:spcBef>
              <a:spcAft>
                <a:spcPts val="0"/>
              </a:spcAft>
              <a:buClr>
                <a:schemeClr val="dk1"/>
              </a:buClr>
              <a:buSzPts val="117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p31"/>
          <p:cNvSpPr/>
          <p:nvPr/>
        </p:nvSpPr>
        <p:spPr>
          <a:xfrm>
            <a:off x="4911547" y="1444171"/>
            <a:ext cx="626533" cy="432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3" name="Google Shape;123;p31"/>
          <p:cNvSpPr/>
          <p:nvPr>
            <p:ph idx="2" type="pic"/>
          </p:nvPr>
        </p:nvSpPr>
        <p:spPr>
          <a:xfrm>
            <a:off x="577711" y="1725845"/>
            <a:ext cx="3393156" cy="1368000"/>
          </a:xfrm>
          <a:prstGeom prst="rect">
            <a:avLst/>
          </a:prstGeom>
          <a:noFill/>
          <a:ln>
            <a:noFill/>
          </a:ln>
        </p:spPr>
      </p:sp>
      <p:sp>
        <p:nvSpPr>
          <p:cNvPr id="124" name="Google Shape;124;p31"/>
          <p:cNvSpPr/>
          <p:nvPr>
            <p:ph idx="3" type="pic"/>
          </p:nvPr>
        </p:nvSpPr>
        <p:spPr>
          <a:xfrm>
            <a:off x="577703" y="3254918"/>
            <a:ext cx="3393063" cy="1368000"/>
          </a:xfrm>
          <a:prstGeom prst="rect">
            <a:avLst/>
          </a:prstGeom>
          <a:noFill/>
          <a:ln>
            <a:noFill/>
          </a:ln>
        </p:spPr>
      </p:sp>
      <p:sp>
        <p:nvSpPr>
          <p:cNvPr id="125" name="Google Shape;125;p31"/>
          <p:cNvSpPr/>
          <p:nvPr>
            <p:ph idx="4" type="pic"/>
          </p:nvPr>
        </p:nvSpPr>
        <p:spPr>
          <a:xfrm>
            <a:off x="577703" y="4775571"/>
            <a:ext cx="3393063" cy="1368000"/>
          </a:xfrm>
          <a:prstGeom prst="rect">
            <a:avLst/>
          </a:prstGeom>
          <a:noFill/>
          <a:ln>
            <a:noFill/>
          </a:ln>
        </p:spPr>
      </p:sp>
      <p:sp>
        <p:nvSpPr>
          <p:cNvPr id="126" name="Google Shape;126;p31"/>
          <p:cNvSpPr txBox="1"/>
          <p:nvPr>
            <p:ph idx="10" type="dt"/>
          </p:nvPr>
        </p:nvSpPr>
        <p:spPr>
          <a:xfrm>
            <a:off x="9424800" y="6357600"/>
            <a:ext cx="8172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31"/>
          <p:cNvSpPr txBox="1"/>
          <p:nvPr>
            <p:ph idx="11" type="ftr"/>
          </p:nvPr>
        </p:nvSpPr>
        <p:spPr>
          <a:xfrm>
            <a:off x="5889600" y="6350400"/>
            <a:ext cx="24264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31"/>
          <p:cNvSpPr txBox="1"/>
          <p:nvPr>
            <p:ph idx="12" type="sldNum"/>
          </p:nvPr>
        </p:nvSpPr>
        <p:spPr>
          <a:xfrm>
            <a:off x="11019600" y="6357600"/>
            <a:ext cx="6858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r">
  <p:cSld name="Leer">
    <p:spTree>
      <p:nvGrpSpPr>
        <p:cNvPr id="129" name="Shape 129"/>
        <p:cNvGrpSpPr/>
        <p:nvPr/>
      </p:nvGrpSpPr>
      <p:grpSpPr>
        <a:xfrm>
          <a:off x="0" y="0"/>
          <a:ext cx="0" cy="0"/>
          <a:chOff x="0" y="0"/>
          <a:chExt cx="0" cy="0"/>
        </a:xfrm>
      </p:grpSpPr>
      <p:sp>
        <p:nvSpPr>
          <p:cNvPr id="130" name="Google Shape;130;p32"/>
          <p:cNvSpPr txBox="1"/>
          <p:nvPr>
            <p:ph type="title"/>
          </p:nvPr>
        </p:nvSpPr>
        <p:spPr>
          <a:xfrm>
            <a:off x="486000" y="575999"/>
            <a:ext cx="11124000" cy="990000"/>
          </a:xfrm>
          <a:prstGeom prst="rect">
            <a:avLst/>
          </a:prstGeom>
          <a:noFill/>
          <a:ln>
            <a:noFill/>
          </a:ln>
        </p:spPr>
        <p:txBody>
          <a:bodyPr anchorCtr="0" anchor="t" bIns="45700" lIns="91425" spcFirstLastPara="1" rIns="91425" wrap="square" tIns="45700">
            <a:noAutofit/>
          </a:bodyPr>
          <a:lstStyle>
            <a:lvl1pPr lvl="0" algn="l">
              <a:lnSpc>
                <a:spcPct val="83000"/>
              </a:lnSpc>
              <a:spcBef>
                <a:spcPts val="0"/>
              </a:spcBef>
              <a:spcAft>
                <a:spcPts val="0"/>
              </a:spcAft>
              <a:buClr>
                <a:schemeClr val="dk1"/>
              </a:buClr>
              <a:buSzPts val="30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32"/>
          <p:cNvSpPr txBox="1"/>
          <p:nvPr>
            <p:ph idx="10" type="dt"/>
          </p:nvPr>
        </p:nvSpPr>
        <p:spPr>
          <a:xfrm>
            <a:off x="9424800" y="6357600"/>
            <a:ext cx="8172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32"/>
          <p:cNvSpPr txBox="1"/>
          <p:nvPr>
            <p:ph idx="11" type="ftr"/>
          </p:nvPr>
        </p:nvSpPr>
        <p:spPr>
          <a:xfrm>
            <a:off x="5889600" y="6350400"/>
            <a:ext cx="24264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32"/>
          <p:cNvSpPr txBox="1"/>
          <p:nvPr>
            <p:ph idx="12" type="sldNum"/>
          </p:nvPr>
        </p:nvSpPr>
        <p:spPr>
          <a:xfrm>
            <a:off x="11019600" y="6357600"/>
            <a:ext cx="6858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KU Logo All purpose" showMasterSp="0">
  <p:cSld name="JKU Logo All purpose">
    <p:bg>
      <p:bgPr>
        <a:solidFill>
          <a:schemeClr val="accent1"/>
        </a:solidFill>
      </p:bgPr>
    </p:bg>
    <p:spTree>
      <p:nvGrpSpPr>
        <p:cNvPr id="134" name="Shape 134"/>
        <p:cNvGrpSpPr/>
        <p:nvPr/>
      </p:nvGrpSpPr>
      <p:grpSpPr>
        <a:xfrm>
          <a:off x="0" y="0"/>
          <a:ext cx="0" cy="0"/>
          <a:chOff x="0" y="0"/>
          <a:chExt cx="0" cy="0"/>
        </a:xfrm>
      </p:grpSpPr>
      <p:pic>
        <p:nvPicPr>
          <p:cNvPr id="135" name="Google Shape;135;p33"/>
          <p:cNvPicPr preferRelativeResize="0"/>
          <p:nvPr/>
        </p:nvPicPr>
        <p:blipFill rotWithShape="1">
          <a:blip r:embed="rId2">
            <a:alphaModFix/>
          </a:blip>
          <a:srcRect b="0" l="0" r="0" t="0"/>
          <a:stretch/>
        </p:blipFill>
        <p:spPr>
          <a:xfrm>
            <a:off x="2739600" y="1573200"/>
            <a:ext cx="7118139" cy="50400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KU Logo TNF" showMasterSp="0">
  <p:cSld name="JKU Logo TNF">
    <p:bg>
      <p:bgPr>
        <a:solidFill>
          <a:schemeClr val="accent2"/>
        </a:solidFill>
      </p:bgPr>
    </p:bg>
    <p:spTree>
      <p:nvGrpSpPr>
        <p:cNvPr id="136" name="Shape 136"/>
        <p:cNvGrpSpPr/>
        <p:nvPr/>
      </p:nvGrpSpPr>
      <p:grpSpPr>
        <a:xfrm>
          <a:off x="0" y="0"/>
          <a:ext cx="0" cy="0"/>
          <a:chOff x="0" y="0"/>
          <a:chExt cx="0" cy="0"/>
        </a:xfrm>
      </p:grpSpPr>
      <p:pic>
        <p:nvPicPr>
          <p:cNvPr id="137" name="Google Shape;137;p34"/>
          <p:cNvPicPr preferRelativeResize="0"/>
          <p:nvPr/>
        </p:nvPicPr>
        <p:blipFill rotWithShape="1">
          <a:blip r:embed="rId2">
            <a:alphaModFix/>
          </a:blip>
          <a:srcRect b="0" l="0" r="0" t="0"/>
          <a:stretch/>
        </p:blipFill>
        <p:spPr>
          <a:xfrm>
            <a:off x="2739600" y="1573200"/>
            <a:ext cx="7118139" cy="50400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End with logo TNF" showMasterSp="0">
  <p:cSld name="Title/End with logo TNF">
    <p:bg>
      <p:bgPr>
        <a:solidFill>
          <a:schemeClr val="accent2"/>
        </a:solidFill>
      </p:bgPr>
    </p:bg>
    <p:spTree>
      <p:nvGrpSpPr>
        <p:cNvPr id="138" name="Shape 138"/>
        <p:cNvGrpSpPr/>
        <p:nvPr/>
      </p:nvGrpSpPr>
      <p:grpSpPr>
        <a:xfrm>
          <a:off x="0" y="0"/>
          <a:ext cx="0" cy="0"/>
          <a:chOff x="0" y="0"/>
          <a:chExt cx="0" cy="0"/>
        </a:xfrm>
      </p:grpSpPr>
      <p:sp>
        <p:nvSpPr>
          <p:cNvPr id="139" name="Google Shape;139;p35"/>
          <p:cNvSpPr txBox="1"/>
          <p:nvPr>
            <p:ph idx="1" type="subTitle"/>
          </p:nvPr>
        </p:nvSpPr>
        <p:spPr>
          <a:xfrm>
            <a:off x="486000" y="5410800"/>
            <a:ext cx="9216000" cy="730800"/>
          </a:xfrm>
          <a:prstGeom prst="rect">
            <a:avLst/>
          </a:prstGeom>
          <a:noFill/>
          <a:ln>
            <a:noFill/>
          </a:ln>
        </p:spPr>
        <p:txBody>
          <a:bodyPr anchorCtr="0" anchor="t" bIns="45700" lIns="91425" spcFirstLastPara="1" rIns="91425" wrap="square" tIns="45700">
            <a:noAutofit/>
          </a:bodyPr>
          <a:lstStyle>
            <a:lvl1pPr lvl="0" algn="l">
              <a:lnSpc>
                <a:spcPct val="105000"/>
              </a:lnSpc>
              <a:spcBef>
                <a:spcPts val="0"/>
              </a:spcBef>
              <a:spcAft>
                <a:spcPts val="0"/>
              </a:spcAft>
              <a:buClr>
                <a:schemeClr val="lt1"/>
              </a:buClr>
              <a:buSzPts val="2160"/>
              <a:buNone/>
              <a:defRPr sz="1800">
                <a:solidFill>
                  <a:schemeClr val="lt1"/>
                </a:solidFill>
              </a:defRPr>
            </a:lvl1pPr>
            <a:lvl2pPr lvl="1" algn="ctr">
              <a:lnSpc>
                <a:spcPct val="105000"/>
              </a:lnSpc>
              <a:spcBef>
                <a:spcPts val="0"/>
              </a:spcBef>
              <a:spcAft>
                <a:spcPts val="0"/>
              </a:spcAft>
              <a:buClr>
                <a:schemeClr val="dk1"/>
              </a:buClr>
              <a:buSzPts val="2500"/>
              <a:buNone/>
              <a:defRPr sz="2000"/>
            </a:lvl2pPr>
            <a:lvl3pPr lvl="2" algn="ctr">
              <a:lnSpc>
                <a:spcPct val="105000"/>
              </a:lnSpc>
              <a:spcBef>
                <a:spcPts val="0"/>
              </a:spcBef>
              <a:spcAft>
                <a:spcPts val="0"/>
              </a:spcAft>
              <a:buClr>
                <a:schemeClr val="dk1"/>
              </a:buClr>
              <a:buSzPts val="1530"/>
              <a:buNone/>
              <a:defRPr sz="1800"/>
            </a:lvl3pPr>
            <a:lvl4pPr lvl="3" algn="ctr">
              <a:lnSpc>
                <a:spcPct val="105000"/>
              </a:lnSpc>
              <a:spcBef>
                <a:spcPts val="0"/>
              </a:spcBef>
              <a:spcAft>
                <a:spcPts val="0"/>
              </a:spcAft>
              <a:buClr>
                <a:schemeClr val="dk1"/>
              </a:buClr>
              <a:buSzPts val="1760"/>
              <a:buNone/>
              <a:defRPr sz="1600"/>
            </a:lvl4pPr>
            <a:lvl5pPr lvl="4" algn="ctr">
              <a:lnSpc>
                <a:spcPct val="105000"/>
              </a:lnSpc>
              <a:spcBef>
                <a:spcPts val="0"/>
              </a:spcBef>
              <a:spcAft>
                <a:spcPts val="0"/>
              </a:spcAft>
              <a:buClr>
                <a:schemeClr val="dk1"/>
              </a:buClr>
              <a:buSzPts val="104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0" name="Google Shape;140;p35"/>
          <p:cNvSpPr txBox="1"/>
          <p:nvPr>
            <p:ph type="title"/>
          </p:nvPr>
        </p:nvSpPr>
        <p:spPr>
          <a:xfrm>
            <a:off x="475200" y="1306800"/>
            <a:ext cx="9226800" cy="2008800"/>
          </a:xfrm>
          <a:prstGeom prst="rect">
            <a:avLst/>
          </a:prstGeom>
          <a:noFill/>
          <a:ln>
            <a:noFill/>
          </a:ln>
        </p:spPr>
        <p:txBody>
          <a:bodyPr anchorCtr="0" anchor="b" bIns="45700" lIns="91425" spcFirstLastPara="1" rIns="91425" wrap="square" tIns="45700">
            <a:noAutofit/>
          </a:bodyPr>
          <a:lstStyle>
            <a:lvl1pPr lvl="0" algn="l">
              <a:lnSpc>
                <a:spcPct val="83000"/>
              </a:lnSpc>
              <a:spcBef>
                <a:spcPts val="0"/>
              </a:spcBef>
              <a:spcAft>
                <a:spcPts val="0"/>
              </a:spcAft>
              <a:buClr>
                <a:schemeClr val="lt1"/>
              </a:buClr>
              <a:buSzPts val="4500"/>
              <a:buFont typeface="Arial Black"/>
              <a:buNone/>
              <a:defRPr sz="45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35"/>
          <p:cNvSpPr txBox="1"/>
          <p:nvPr/>
        </p:nvSpPr>
        <p:spPr>
          <a:xfrm>
            <a:off x="10065600" y="5500800"/>
            <a:ext cx="1396800" cy="733534"/>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lt1"/>
                </a:solidFill>
                <a:latin typeface="Arial Black"/>
                <a:ea typeface="Arial Black"/>
                <a:cs typeface="Arial Black"/>
                <a:sym typeface="Arial Black"/>
              </a:rPr>
              <a:t>JOHANNES KEPLER UNIVERSITY LINZ</a:t>
            </a:r>
            <a:endParaRPr b="0" i="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Altenberger Straße 69</a:t>
            </a:r>
            <a:endParaRPr b="0" i="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4040 Linz, Austria</a:t>
            </a:r>
            <a:endParaRPr b="0" i="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jku.at</a:t>
            </a:r>
            <a:endParaRPr b="0" i="0" sz="800" u="none" cap="none" strike="noStrike">
              <a:solidFill>
                <a:schemeClr val="lt1"/>
              </a:solidFill>
              <a:latin typeface="Arial"/>
              <a:ea typeface="Arial"/>
              <a:cs typeface="Arial"/>
              <a:sym typeface="Arial"/>
            </a:endParaRPr>
          </a:p>
        </p:txBody>
      </p:sp>
      <p:sp>
        <p:nvSpPr>
          <p:cNvPr id="142" name="Google Shape;142;p35"/>
          <p:cNvSpPr/>
          <p:nvPr>
            <p:ph idx="2" type="pic"/>
          </p:nvPr>
        </p:nvSpPr>
        <p:spPr>
          <a:xfrm>
            <a:off x="10151559" y="2516799"/>
            <a:ext cx="1468800" cy="1085721"/>
          </a:xfrm>
          <a:prstGeom prst="rect">
            <a:avLst/>
          </a:prstGeom>
          <a:noFill/>
          <a:ln>
            <a:noFill/>
          </a:ln>
        </p:spPr>
      </p:sp>
      <p:sp>
        <p:nvSpPr>
          <p:cNvPr id="143" name="Google Shape;143;p35"/>
          <p:cNvSpPr/>
          <p:nvPr>
            <p:ph idx="3" type="pic"/>
          </p:nvPr>
        </p:nvSpPr>
        <p:spPr>
          <a:xfrm>
            <a:off x="10151745" y="4039231"/>
            <a:ext cx="1468800" cy="1085721"/>
          </a:xfrm>
          <a:prstGeom prst="rect">
            <a:avLst/>
          </a:prstGeom>
          <a:noFill/>
          <a:ln>
            <a:noFill/>
          </a:ln>
        </p:spPr>
      </p:sp>
      <p:pic>
        <p:nvPicPr>
          <p:cNvPr id="144" name="Google Shape;144;p35"/>
          <p:cNvPicPr preferRelativeResize="0"/>
          <p:nvPr/>
        </p:nvPicPr>
        <p:blipFill rotWithShape="1">
          <a:blip r:embed="rId2">
            <a:alphaModFix/>
          </a:blip>
          <a:srcRect b="0" l="0" r="0" t="0"/>
          <a:stretch/>
        </p:blipFill>
        <p:spPr>
          <a:xfrm>
            <a:off x="447071" y="3231115"/>
            <a:ext cx="2196000" cy="2196083"/>
          </a:xfrm>
          <a:prstGeom prst="rect">
            <a:avLst/>
          </a:prstGeom>
          <a:noFill/>
          <a:ln>
            <a:noFill/>
          </a:ln>
        </p:spPr>
      </p:pic>
      <p:pic>
        <p:nvPicPr>
          <p:cNvPr id="145" name="Google Shape;145;p35"/>
          <p:cNvPicPr preferRelativeResize="0"/>
          <p:nvPr/>
        </p:nvPicPr>
        <p:blipFill rotWithShape="1">
          <a:blip r:embed="rId3">
            <a:alphaModFix/>
          </a:blip>
          <a:srcRect b="0" l="0" r="0" t="0"/>
          <a:stretch/>
        </p:blipFill>
        <p:spPr>
          <a:xfrm>
            <a:off x="9702001" y="554400"/>
            <a:ext cx="1932066" cy="136800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624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out logo TNF">
  <p:cSld name="Title without logo TNF">
    <p:bg>
      <p:bgPr>
        <a:solidFill>
          <a:schemeClr val="lt1"/>
        </a:solidFill>
      </p:bgPr>
    </p:bg>
    <p:spTree>
      <p:nvGrpSpPr>
        <p:cNvPr id="146" name="Shape 146"/>
        <p:cNvGrpSpPr/>
        <p:nvPr/>
      </p:nvGrpSpPr>
      <p:grpSpPr>
        <a:xfrm>
          <a:off x="0" y="0"/>
          <a:ext cx="0" cy="0"/>
          <a:chOff x="0" y="0"/>
          <a:chExt cx="0" cy="0"/>
        </a:xfrm>
      </p:grpSpPr>
      <p:sp>
        <p:nvSpPr>
          <p:cNvPr id="147" name="Google Shape;147;p36"/>
          <p:cNvSpPr/>
          <p:nvPr/>
        </p:nvSpPr>
        <p:spPr>
          <a:xfrm>
            <a:off x="0" y="0"/>
            <a:ext cx="12192000" cy="614362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48" name="Google Shape;148;p36"/>
          <p:cNvSpPr txBox="1"/>
          <p:nvPr>
            <p:ph idx="1" type="subTitle"/>
          </p:nvPr>
        </p:nvSpPr>
        <p:spPr>
          <a:xfrm>
            <a:off x="486000" y="5410800"/>
            <a:ext cx="11115450" cy="730800"/>
          </a:xfrm>
          <a:prstGeom prst="rect">
            <a:avLst/>
          </a:prstGeom>
          <a:noFill/>
          <a:ln>
            <a:noFill/>
          </a:ln>
        </p:spPr>
        <p:txBody>
          <a:bodyPr anchorCtr="0" anchor="t" bIns="45700" lIns="91425" spcFirstLastPara="1" rIns="91425" wrap="square" tIns="45700">
            <a:noAutofit/>
          </a:bodyPr>
          <a:lstStyle>
            <a:lvl1pPr lvl="0" algn="l">
              <a:lnSpc>
                <a:spcPct val="105000"/>
              </a:lnSpc>
              <a:spcBef>
                <a:spcPts val="0"/>
              </a:spcBef>
              <a:spcAft>
                <a:spcPts val="0"/>
              </a:spcAft>
              <a:buClr>
                <a:schemeClr val="lt1"/>
              </a:buClr>
              <a:buSzPts val="2160"/>
              <a:buNone/>
              <a:defRPr sz="1800">
                <a:solidFill>
                  <a:schemeClr val="lt1"/>
                </a:solidFill>
              </a:defRPr>
            </a:lvl1pPr>
            <a:lvl2pPr lvl="1" algn="ctr">
              <a:lnSpc>
                <a:spcPct val="105000"/>
              </a:lnSpc>
              <a:spcBef>
                <a:spcPts val="0"/>
              </a:spcBef>
              <a:spcAft>
                <a:spcPts val="0"/>
              </a:spcAft>
              <a:buClr>
                <a:schemeClr val="dk1"/>
              </a:buClr>
              <a:buSzPts val="2500"/>
              <a:buNone/>
              <a:defRPr sz="2000"/>
            </a:lvl2pPr>
            <a:lvl3pPr lvl="2" algn="ctr">
              <a:lnSpc>
                <a:spcPct val="105000"/>
              </a:lnSpc>
              <a:spcBef>
                <a:spcPts val="0"/>
              </a:spcBef>
              <a:spcAft>
                <a:spcPts val="0"/>
              </a:spcAft>
              <a:buClr>
                <a:schemeClr val="dk1"/>
              </a:buClr>
              <a:buSzPts val="1530"/>
              <a:buNone/>
              <a:defRPr sz="1800"/>
            </a:lvl3pPr>
            <a:lvl4pPr lvl="3" algn="ctr">
              <a:lnSpc>
                <a:spcPct val="105000"/>
              </a:lnSpc>
              <a:spcBef>
                <a:spcPts val="0"/>
              </a:spcBef>
              <a:spcAft>
                <a:spcPts val="0"/>
              </a:spcAft>
              <a:buClr>
                <a:schemeClr val="dk1"/>
              </a:buClr>
              <a:buSzPts val="1760"/>
              <a:buNone/>
              <a:defRPr sz="1600"/>
            </a:lvl4pPr>
            <a:lvl5pPr lvl="4" algn="ctr">
              <a:lnSpc>
                <a:spcPct val="105000"/>
              </a:lnSpc>
              <a:spcBef>
                <a:spcPts val="0"/>
              </a:spcBef>
              <a:spcAft>
                <a:spcPts val="0"/>
              </a:spcAft>
              <a:buClr>
                <a:schemeClr val="dk1"/>
              </a:buClr>
              <a:buSzPts val="104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9" name="Google Shape;149;p36"/>
          <p:cNvSpPr txBox="1"/>
          <p:nvPr>
            <p:ph type="title"/>
          </p:nvPr>
        </p:nvSpPr>
        <p:spPr>
          <a:xfrm>
            <a:off x="475200" y="1306800"/>
            <a:ext cx="11128476" cy="2008800"/>
          </a:xfrm>
          <a:prstGeom prst="rect">
            <a:avLst/>
          </a:prstGeom>
          <a:noFill/>
          <a:ln>
            <a:noFill/>
          </a:ln>
        </p:spPr>
        <p:txBody>
          <a:bodyPr anchorCtr="0" anchor="b" bIns="45700" lIns="91425" spcFirstLastPara="1" rIns="91425" wrap="square" tIns="45700">
            <a:noAutofit/>
          </a:bodyPr>
          <a:lstStyle>
            <a:lvl1pPr lvl="0" algn="l">
              <a:lnSpc>
                <a:spcPct val="83000"/>
              </a:lnSpc>
              <a:spcBef>
                <a:spcPts val="0"/>
              </a:spcBef>
              <a:spcAft>
                <a:spcPts val="0"/>
              </a:spcAft>
              <a:buClr>
                <a:schemeClr val="lt1"/>
              </a:buClr>
              <a:buSzPts val="4500"/>
              <a:buFont typeface="Arial Black"/>
              <a:buNone/>
              <a:defRPr sz="45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50" name="Google Shape;150;p36"/>
          <p:cNvPicPr preferRelativeResize="0"/>
          <p:nvPr/>
        </p:nvPicPr>
        <p:blipFill rotWithShape="1">
          <a:blip r:embed="rId2">
            <a:alphaModFix/>
          </a:blip>
          <a:srcRect b="0" l="0" r="0" t="0"/>
          <a:stretch/>
        </p:blipFill>
        <p:spPr>
          <a:xfrm>
            <a:off x="447071" y="3231115"/>
            <a:ext cx="2196000" cy="2196083"/>
          </a:xfrm>
          <a:prstGeom prst="rect">
            <a:avLst/>
          </a:prstGeom>
          <a:noFill/>
          <a:ln>
            <a:noFill/>
          </a:ln>
        </p:spPr>
      </p:pic>
      <p:sp>
        <p:nvSpPr>
          <p:cNvPr id="151" name="Google Shape;151;p36"/>
          <p:cNvSpPr txBox="1"/>
          <p:nvPr>
            <p:ph idx="10" type="dt"/>
          </p:nvPr>
        </p:nvSpPr>
        <p:spPr>
          <a:xfrm>
            <a:off x="9424800" y="6357600"/>
            <a:ext cx="8172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36"/>
          <p:cNvSpPr txBox="1"/>
          <p:nvPr>
            <p:ph idx="11" type="ftr"/>
          </p:nvPr>
        </p:nvSpPr>
        <p:spPr>
          <a:xfrm>
            <a:off x="5889600" y="6350400"/>
            <a:ext cx="24264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36"/>
          <p:cNvSpPr txBox="1"/>
          <p:nvPr>
            <p:ph idx="12" type="sldNum"/>
          </p:nvPr>
        </p:nvSpPr>
        <p:spPr>
          <a:xfrm>
            <a:off x="11019600" y="6357600"/>
            <a:ext cx="6858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624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KU Logo SOWI" showMasterSp="0">
  <p:cSld name="JKU Logo SOWI">
    <p:bg>
      <p:bgPr>
        <a:solidFill>
          <a:schemeClr val="accent4"/>
        </a:solidFill>
      </p:bgPr>
    </p:bg>
    <p:spTree>
      <p:nvGrpSpPr>
        <p:cNvPr id="154" name="Shape 154"/>
        <p:cNvGrpSpPr/>
        <p:nvPr/>
      </p:nvGrpSpPr>
      <p:grpSpPr>
        <a:xfrm>
          <a:off x="0" y="0"/>
          <a:ext cx="0" cy="0"/>
          <a:chOff x="0" y="0"/>
          <a:chExt cx="0" cy="0"/>
        </a:xfrm>
      </p:grpSpPr>
      <p:pic>
        <p:nvPicPr>
          <p:cNvPr id="155" name="Google Shape;155;p37"/>
          <p:cNvPicPr preferRelativeResize="0"/>
          <p:nvPr/>
        </p:nvPicPr>
        <p:blipFill rotWithShape="1">
          <a:blip r:embed="rId2">
            <a:alphaModFix/>
          </a:blip>
          <a:srcRect b="0" l="0" r="0" t="0"/>
          <a:stretch/>
        </p:blipFill>
        <p:spPr>
          <a:xfrm>
            <a:off x="2739600" y="1573200"/>
            <a:ext cx="7118139" cy="50400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End with logo SOWI" showMasterSp="0">
  <p:cSld name="Title/End with logo SOWI">
    <p:bg>
      <p:bgPr>
        <a:solidFill>
          <a:schemeClr val="accent4"/>
        </a:solidFill>
      </p:bgPr>
    </p:bg>
    <p:spTree>
      <p:nvGrpSpPr>
        <p:cNvPr id="156" name="Shape 156"/>
        <p:cNvGrpSpPr/>
        <p:nvPr/>
      </p:nvGrpSpPr>
      <p:grpSpPr>
        <a:xfrm>
          <a:off x="0" y="0"/>
          <a:ext cx="0" cy="0"/>
          <a:chOff x="0" y="0"/>
          <a:chExt cx="0" cy="0"/>
        </a:xfrm>
      </p:grpSpPr>
      <p:sp>
        <p:nvSpPr>
          <p:cNvPr id="157" name="Google Shape;157;p38"/>
          <p:cNvSpPr txBox="1"/>
          <p:nvPr>
            <p:ph idx="1" type="subTitle"/>
          </p:nvPr>
        </p:nvSpPr>
        <p:spPr>
          <a:xfrm>
            <a:off x="486000" y="5410800"/>
            <a:ext cx="9216000" cy="730800"/>
          </a:xfrm>
          <a:prstGeom prst="rect">
            <a:avLst/>
          </a:prstGeom>
          <a:noFill/>
          <a:ln>
            <a:noFill/>
          </a:ln>
        </p:spPr>
        <p:txBody>
          <a:bodyPr anchorCtr="0" anchor="t" bIns="45700" lIns="91425" spcFirstLastPara="1" rIns="91425" wrap="square" tIns="45700">
            <a:noAutofit/>
          </a:bodyPr>
          <a:lstStyle>
            <a:lvl1pPr lvl="0" algn="l">
              <a:lnSpc>
                <a:spcPct val="105000"/>
              </a:lnSpc>
              <a:spcBef>
                <a:spcPts val="0"/>
              </a:spcBef>
              <a:spcAft>
                <a:spcPts val="0"/>
              </a:spcAft>
              <a:buClr>
                <a:schemeClr val="lt1"/>
              </a:buClr>
              <a:buSzPts val="2160"/>
              <a:buNone/>
              <a:defRPr sz="1800">
                <a:solidFill>
                  <a:schemeClr val="lt1"/>
                </a:solidFill>
              </a:defRPr>
            </a:lvl1pPr>
            <a:lvl2pPr lvl="1" algn="ctr">
              <a:lnSpc>
                <a:spcPct val="105000"/>
              </a:lnSpc>
              <a:spcBef>
                <a:spcPts val="0"/>
              </a:spcBef>
              <a:spcAft>
                <a:spcPts val="0"/>
              </a:spcAft>
              <a:buClr>
                <a:schemeClr val="dk1"/>
              </a:buClr>
              <a:buSzPts val="2500"/>
              <a:buNone/>
              <a:defRPr sz="2000"/>
            </a:lvl2pPr>
            <a:lvl3pPr lvl="2" algn="ctr">
              <a:lnSpc>
                <a:spcPct val="105000"/>
              </a:lnSpc>
              <a:spcBef>
                <a:spcPts val="0"/>
              </a:spcBef>
              <a:spcAft>
                <a:spcPts val="0"/>
              </a:spcAft>
              <a:buClr>
                <a:schemeClr val="dk1"/>
              </a:buClr>
              <a:buSzPts val="1530"/>
              <a:buNone/>
              <a:defRPr sz="1800"/>
            </a:lvl3pPr>
            <a:lvl4pPr lvl="3" algn="ctr">
              <a:lnSpc>
                <a:spcPct val="105000"/>
              </a:lnSpc>
              <a:spcBef>
                <a:spcPts val="0"/>
              </a:spcBef>
              <a:spcAft>
                <a:spcPts val="0"/>
              </a:spcAft>
              <a:buClr>
                <a:schemeClr val="dk1"/>
              </a:buClr>
              <a:buSzPts val="1760"/>
              <a:buNone/>
              <a:defRPr sz="1600"/>
            </a:lvl4pPr>
            <a:lvl5pPr lvl="4" algn="ctr">
              <a:lnSpc>
                <a:spcPct val="105000"/>
              </a:lnSpc>
              <a:spcBef>
                <a:spcPts val="0"/>
              </a:spcBef>
              <a:spcAft>
                <a:spcPts val="0"/>
              </a:spcAft>
              <a:buClr>
                <a:schemeClr val="dk1"/>
              </a:buClr>
              <a:buSzPts val="104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8" name="Google Shape;158;p38"/>
          <p:cNvSpPr txBox="1"/>
          <p:nvPr>
            <p:ph type="title"/>
          </p:nvPr>
        </p:nvSpPr>
        <p:spPr>
          <a:xfrm>
            <a:off x="475200" y="1306800"/>
            <a:ext cx="9226800" cy="2008800"/>
          </a:xfrm>
          <a:prstGeom prst="rect">
            <a:avLst/>
          </a:prstGeom>
          <a:noFill/>
          <a:ln>
            <a:noFill/>
          </a:ln>
        </p:spPr>
        <p:txBody>
          <a:bodyPr anchorCtr="0" anchor="b" bIns="45700" lIns="91425" spcFirstLastPara="1" rIns="91425" wrap="square" tIns="45700">
            <a:noAutofit/>
          </a:bodyPr>
          <a:lstStyle>
            <a:lvl1pPr lvl="0" algn="l">
              <a:lnSpc>
                <a:spcPct val="83000"/>
              </a:lnSpc>
              <a:spcBef>
                <a:spcPts val="0"/>
              </a:spcBef>
              <a:spcAft>
                <a:spcPts val="0"/>
              </a:spcAft>
              <a:buClr>
                <a:schemeClr val="lt1"/>
              </a:buClr>
              <a:buSzPts val="4500"/>
              <a:buFont typeface="Arial Black"/>
              <a:buNone/>
              <a:defRPr sz="45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38"/>
          <p:cNvSpPr txBox="1"/>
          <p:nvPr/>
        </p:nvSpPr>
        <p:spPr>
          <a:xfrm>
            <a:off x="10065600" y="5500800"/>
            <a:ext cx="1396800" cy="733534"/>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lt1"/>
                </a:solidFill>
                <a:latin typeface="Arial Black"/>
                <a:ea typeface="Arial Black"/>
                <a:cs typeface="Arial Black"/>
                <a:sym typeface="Arial Black"/>
              </a:rPr>
              <a:t>JOHANNES KEPLER UNIVERSITY LINZ</a:t>
            </a:r>
            <a:endParaRPr b="0" i="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Altenberger Straße 69</a:t>
            </a:r>
            <a:endParaRPr b="0" i="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4040 Linz, Austria</a:t>
            </a:r>
            <a:endParaRPr b="0" i="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jku.at</a:t>
            </a:r>
            <a:endParaRPr b="0" i="0" sz="800" u="none" cap="none" strike="noStrike">
              <a:solidFill>
                <a:schemeClr val="lt1"/>
              </a:solidFill>
              <a:latin typeface="Arial"/>
              <a:ea typeface="Arial"/>
              <a:cs typeface="Arial"/>
              <a:sym typeface="Arial"/>
            </a:endParaRPr>
          </a:p>
        </p:txBody>
      </p:sp>
      <p:sp>
        <p:nvSpPr>
          <p:cNvPr id="160" name="Google Shape;160;p38"/>
          <p:cNvSpPr/>
          <p:nvPr>
            <p:ph idx="2" type="pic"/>
          </p:nvPr>
        </p:nvSpPr>
        <p:spPr>
          <a:xfrm>
            <a:off x="10151559" y="2516799"/>
            <a:ext cx="1468800" cy="1085721"/>
          </a:xfrm>
          <a:prstGeom prst="rect">
            <a:avLst/>
          </a:prstGeom>
          <a:noFill/>
          <a:ln>
            <a:noFill/>
          </a:ln>
        </p:spPr>
      </p:sp>
      <p:sp>
        <p:nvSpPr>
          <p:cNvPr id="161" name="Google Shape;161;p38"/>
          <p:cNvSpPr/>
          <p:nvPr>
            <p:ph idx="3" type="pic"/>
          </p:nvPr>
        </p:nvSpPr>
        <p:spPr>
          <a:xfrm>
            <a:off x="10151745" y="4039231"/>
            <a:ext cx="1468800" cy="1085721"/>
          </a:xfrm>
          <a:prstGeom prst="rect">
            <a:avLst/>
          </a:prstGeom>
          <a:noFill/>
          <a:ln>
            <a:noFill/>
          </a:ln>
        </p:spPr>
      </p:sp>
      <p:pic>
        <p:nvPicPr>
          <p:cNvPr id="162" name="Google Shape;162;p38"/>
          <p:cNvPicPr preferRelativeResize="0"/>
          <p:nvPr/>
        </p:nvPicPr>
        <p:blipFill rotWithShape="1">
          <a:blip r:embed="rId2">
            <a:alphaModFix/>
          </a:blip>
          <a:srcRect b="0" l="0" r="0" t="0"/>
          <a:stretch/>
        </p:blipFill>
        <p:spPr>
          <a:xfrm>
            <a:off x="447071" y="3231115"/>
            <a:ext cx="2196000" cy="2196083"/>
          </a:xfrm>
          <a:prstGeom prst="rect">
            <a:avLst/>
          </a:prstGeom>
          <a:noFill/>
          <a:ln>
            <a:noFill/>
          </a:ln>
        </p:spPr>
      </p:pic>
      <p:pic>
        <p:nvPicPr>
          <p:cNvPr id="163" name="Google Shape;163;p38"/>
          <p:cNvPicPr preferRelativeResize="0"/>
          <p:nvPr/>
        </p:nvPicPr>
        <p:blipFill rotWithShape="1">
          <a:blip r:embed="rId3">
            <a:alphaModFix/>
          </a:blip>
          <a:srcRect b="0" l="0" r="0" t="0"/>
          <a:stretch/>
        </p:blipFill>
        <p:spPr>
          <a:xfrm>
            <a:off x="9702001" y="554400"/>
            <a:ext cx="1932066" cy="136800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624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out logo SOWI">
  <p:cSld name="Title without logo SOWI">
    <p:spTree>
      <p:nvGrpSpPr>
        <p:cNvPr id="164" name="Shape 164"/>
        <p:cNvGrpSpPr/>
        <p:nvPr/>
      </p:nvGrpSpPr>
      <p:grpSpPr>
        <a:xfrm>
          <a:off x="0" y="0"/>
          <a:ext cx="0" cy="0"/>
          <a:chOff x="0" y="0"/>
          <a:chExt cx="0" cy="0"/>
        </a:xfrm>
      </p:grpSpPr>
      <p:sp>
        <p:nvSpPr>
          <p:cNvPr id="165" name="Google Shape;165;p39"/>
          <p:cNvSpPr/>
          <p:nvPr/>
        </p:nvSpPr>
        <p:spPr>
          <a:xfrm>
            <a:off x="0" y="0"/>
            <a:ext cx="12192000" cy="6143625"/>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6" name="Google Shape;166;p39"/>
          <p:cNvSpPr txBox="1"/>
          <p:nvPr>
            <p:ph idx="1" type="subTitle"/>
          </p:nvPr>
        </p:nvSpPr>
        <p:spPr>
          <a:xfrm>
            <a:off x="486000" y="5410800"/>
            <a:ext cx="11115450" cy="730800"/>
          </a:xfrm>
          <a:prstGeom prst="rect">
            <a:avLst/>
          </a:prstGeom>
          <a:noFill/>
          <a:ln>
            <a:noFill/>
          </a:ln>
        </p:spPr>
        <p:txBody>
          <a:bodyPr anchorCtr="0" anchor="t" bIns="45700" lIns="91425" spcFirstLastPara="1" rIns="91425" wrap="square" tIns="45700">
            <a:noAutofit/>
          </a:bodyPr>
          <a:lstStyle>
            <a:lvl1pPr lvl="0" algn="l">
              <a:lnSpc>
                <a:spcPct val="105000"/>
              </a:lnSpc>
              <a:spcBef>
                <a:spcPts val="0"/>
              </a:spcBef>
              <a:spcAft>
                <a:spcPts val="0"/>
              </a:spcAft>
              <a:buClr>
                <a:schemeClr val="lt1"/>
              </a:buClr>
              <a:buSzPts val="2160"/>
              <a:buNone/>
              <a:defRPr sz="1800">
                <a:solidFill>
                  <a:schemeClr val="lt1"/>
                </a:solidFill>
              </a:defRPr>
            </a:lvl1pPr>
            <a:lvl2pPr lvl="1" algn="ctr">
              <a:lnSpc>
                <a:spcPct val="105000"/>
              </a:lnSpc>
              <a:spcBef>
                <a:spcPts val="0"/>
              </a:spcBef>
              <a:spcAft>
                <a:spcPts val="0"/>
              </a:spcAft>
              <a:buClr>
                <a:schemeClr val="dk1"/>
              </a:buClr>
              <a:buSzPts val="2500"/>
              <a:buNone/>
              <a:defRPr sz="2000"/>
            </a:lvl2pPr>
            <a:lvl3pPr lvl="2" algn="ctr">
              <a:lnSpc>
                <a:spcPct val="105000"/>
              </a:lnSpc>
              <a:spcBef>
                <a:spcPts val="0"/>
              </a:spcBef>
              <a:spcAft>
                <a:spcPts val="0"/>
              </a:spcAft>
              <a:buClr>
                <a:schemeClr val="dk1"/>
              </a:buClr>
              <a:buSzPts val="1530"/>
              <a:buNone/>
              <a:defRPr sz="1800"/>
            </a:lvl3pPr>
            <a:lvl4pPr lvl="3" algn="ctr">
              <a:lnSpc>
                <a:spcPct val="105000"/>
              </a:lnSpc>
              <a:spcBef>
                <a:spcPts val="0"/>
              </a:spcBef>
              <a:spcAft>
                <a:spcPts val="0"/>
              </a:spcAft>
              <a:buClr>
                <a:schemeClr val="dk1"/>
              </a:buClr>
              <a:buSzPts val="1760"/>
              <a:buNone/>
              <a:defRPr sz="1600"/>
            </a:lvl4pPr>
            <a:lvl5pPr lvl="4" algn="ctr">
              <a:lnSpc>
                <a:spcPct val="105000"/>
              </a:lnSpc>
              <a:spcBef>
                <a:spcPts val="0"/>
              </a:spcBef>
              <a:spcAft>
                <a:spcPts val="0"/>
              </a:spcAft>
              <a:buClr>
                <a:schemeClr val="dk1"/>
              </a:buClr>
              <a:buSzPts val="104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67" name="Google Shape;167;p39"/>
          <p:cNvSpPr txBox="1"/>
          <p:nvPr>
            <p:ph type="title"/>
          </p:nvPr>
        </p:nvSpPr>
        <p:spPr>
          <a:xfrm>
            <a:off x="475200" y="1306800"/>
            <a:ext cx="11128476" cy="2008800"/>
          </a:xfrm>
          <a:prstGeom prst="rect">
            <a:avLst/>
          </a:prstGeom>
          <a:noFill/>
          <a:ln>
            <a:noFill/>
          </a:ln>
        </p:spPr>
        <p:txBody>
          <a:bodyPr anchorCtr="0" anchor="b" bIns="45700" lIns="91425" spcFirstLastPara="1" rIns="91425" wrap="square" tIns="45700">
            <a:noAutofit/>
          </a:bodyPr>
          <a:lstStyle>
            <a:lvl1pPr lvl="0" algn="l">
              <a:lnSpc>
                <a:spcPct val="83000"/>
              </a:lnSpc>
              <a:spcBef>
                <a:spcPts val="0"/>
              </a:spcBef>
              <a:spcAft>
                <a:spcPts val="0"/>
              </a:spcAft>
              <a:buClr>
                <a:schemeClr val="lt1"/>
              </a:buClr>
              <a:buSzPts val="4500"/>
              <a:buFont typeface="Arial Black"/>
              <a:buNone/>
              <a:defRPr sz="45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68" name="Google Shape;168;p39"/>
          <p:cNvPicPr preferRelativeResize="0"/>
          <p:nvPr/>
        </p:nvPicPr>
        <p:blipFill rotWithShape="1">
          <a:blip r:embed="rId2">
            <a:alphaModFix/>
          </a:blip>
          <a:srcRect b="0" l="0" r="0" t="0"/>
          <a:stretch/>
        </p:blipFill>
        <p:spPr>
          <a:xfrm>
            <a:off x="447071" y="3231115"/>
            <a:ext cx="2196000" cy="2196083"/>
          </a:xfrm>
          <a:prstGeom prst="rect">
            <a:avLst/>
          </a:prstGeom>
          <a:noFill/>
          <a:ln>
            <a:noFill/>
          </a:ln>
        </p:spPr>
      </p:pic>
      <p:sp>
        <p:nvSpPr>
          <p:cNvPr id="169" name="Google Shape;169;p39"/>
          <p:cNvSpPr txBox="1"/>
          <p:nvPr>
            <p:ph idx="10" type="dt"/>
          </p:nvPr>
        </p:nvSpPr>
        <p:spPr>
          <a:xfrm>
            <a:off x="9424800" y="6357600"/>
            <a:ext cx="8172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 name="Google Shape;170;p39"/>
          <p:cNvSpPr txBox="1"/>
          <p:nvPr>
            <p:ph idx="11" type="ftr"/>
          </p:nvPr>
        </p:nvSpPr>
        <p:spPr>
          <a:xfrm>
            <a:off x="5889600" y="6350400"/>
            <a:ext cx="24264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 name="Google Shape;171;p39"/>
          <p:cNvSpPr txBox="1"/>
          <p:nvPr>
            <p:ph idx="12" type="sldNum"/>
          </p:nvPr>
        </p:nvSpPr>
        <p:spPr>
          <a:xfrm>
            <a:off x="11019600" y="6357600"/>
            <a:ext cx="6858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624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KU Logo RE" showMasterSp="0">
  <p:cSld name="JKU Logo RE">
    <p:bg>
      <p:bgPr>
        <a:solidFill>
          <a:schemeClr val="accent5"/>
        </a:solidFill>
      </p:bgPr>
    </p:bg>
    <p:spTree>
      <p:nvGrpSpPr>
        <p:cNvPr id="172" name="Shape 172"/>
        <p:cNvGrpSpPr/>
        <p:nvPr/>
      </p:nvGrpSpPr>
      <p:grpSpPr>
        <a:xfrm>
          <a:off x="0" y="0"/>
          <a:ext cx="0" cy="0"/>
          <a:chOff x="0" y="0"/>
          <a:chExt cx="0" cy="0"/>
        </a:xfrm>
      </p:grpSpPr>
      <p:pic>
        <p:nvPicPr>
          <p:cNvPr id="173" name="Google Shape;173;p40"/>
          <p:cNvPicPr preferRelativeResize="0"/>
          <p:nvPr/>
        </p:nvPicPr>
        <p:blipFill rotWithShape="1">
          <a:blip r:embed="rId2">
            <a:alphaModFix/>
          </a:blip>
          <a:srcRect b="0" l="0" r="0" t="0"/>
          <a:stretch/>
        </p:blipFill>
        <p:spPr>
          <a:xfrm>
            <a:off x="2739600" y="1573200"/>
            <a:ext cx="7118139" cy="5040000"/>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End with logo RE" showMasterSp="0">
  <p:cSld name="Title/End with logo RE">
    <p:bg>
      <p:bgPr>
        <a:solidFill>
          <a:schemeClr val="accent5"/>
        </a:solidFill>
      </p:bgPr>
    </p:bg>
    <p:spTree>
      <p:nvGrpSpPr>
        <p:cNvPr id="174" name="Shape 174"/>
        <p:cNvGrpSpPr/>
        <p:nvPr/>
      </p:nvGrpSpPr>
      <p:grpSpPr>
        <a:xfrm>
          <a:off x="0" y="0"/>
          <a:ext cx="0" cy="0"/>
          <a:chOff x="0" y="0"/>
          <a:chExt cx="0" cy="0"/>
        </a:xfrm>
      </p:grpSpPr>
      <p:sp>
        <p:nvSpPr>
          <p:cNvPr id="175" name="Google Shape;175;p41"/>
          <p:cNvSpPr txBox="1"/>
          <p:nvPr>
            <p:ph idx="1" type="subTitle"/>
          </p:nvPr>
        </p:nvSpPr>
        <p:spPr>
          <a:xfrm>
            <a:off x="486000" y="5410800"/>
            <a:ext cx="9216000" cy="730800"/>
          </a:xfrm>
          <a:prstGeom prst="rect">
            <a:avLst/>
          </a:prstGeom>
          <a:noFill/>
          <a:ln>
            <a:noFill/>
          </a:ln>
        </p:spPr>
        <p:txBody>
          <a:bodyPr anchorCtr="0" anchor="t" bIns="45700" lIns="91425" spcFirstLastPara="1" rIns="91425" wrap="square" tIns="45700">
            <a:noAutofit/>
          </a:bodyPr>
          <a:lstStyle>
            <a:lvl1pPr lvl="0" algn="l">
              <a:lnSpc>
                <a:spcPct val="105000"/>
              </a:lnSpc>
              <a:spcBef>
                <a:spcPts val="0"/>
              </a:spcBef>
              <a:spcAft>
                <a:spcPts val="0"/>
              </a:spcAft>
              <a:buClr>
                <a:schemeClr val="lt1"/>
              </a:buClr>
              <a:buSzPts val="2160"/>
              <a:buNone/>
              <a:defRPr sz="1800">
                <a:solidFill>
                  <a:schemeClr val="lt1"/>
                </a:solidFill>
              </a:defRPr>
            </a:lvl1pPr>
            <a:lvl2pPr lvl="1" algn="ctr">
              <a:lnSpc>
                <a:spcPct val="105000"/>
              </a:lnSpc>
              <a:spcBef>
                <a:spcPts val="0"/>
              </a:spcBef>
              <a:spcAft>
                <a:spcPts val="0"/>
              </a:spcAft>
              <a:buClr>
                <a:schemeClr val="dk1"/>
              </a:buClr>
              <a:buSzPts val="2500"/>
              <a:buNone/>
              <a:defRPr sz="2000"/>
            </a:lvl2pPr>
            <a:lvl3pPr lvl="2" algn="ctr">
              <a:lnSpc>
                <a:spcPct val="105000"/>
              </a:lnSpc>
              <a:spcBef>
                <a:spcPts val="0"/>
              </a:spcBef>
              <a:spcAft>
                <a:spcPts val="0"/>
              </a:spcAft>
              <a:buClr>
                <a:schemeClr val="dk1"/>
              </a:buClr>
              <a:buSzPts val="1530"/>
              <a:buNone/>
              <a:defRPr sz="1800"/>
            </a:lvl3pPr>
            <a:lvl4pPr lvl="3" algn="ctr">
              <a:lnSpc>
                <a:spcPct val="105000"/>
              </a:lnSpc>
              <a:spcBef>
                <a:spcPts val="0"/>
              </a:spcBef>
              <a:spcAft>
                <a:spcPts val="0"/>
              </a:spcAft>
              <a:buClr>
                <a:schemeClr val="dk1"/>
              </a:buClr>
              <a:buSzPts val="1760"/>
              <a:buNone/>
              <a:defRPr sz="1600"/>
            </a:lvl4pPr>
            <a:lvl5pPr lvl="4" algn="ctr">
              <a:lnSpc>
                <a:spcPct val="105000"/>
              </a:lnSpc>
              <a:spcBef>
                <a:spcPts val="0"/>
              </a:spcBef>
              <a:spcAft>
                <a:spcPts val="0"/>
              </a:spcAft>
              <a:buClr>
                <a:schemeClr val="dk1"/>
              </a:buClr>
              <a:buSzPts val="104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6" name="Google Shape;176;p41"/>
          <p:cNvSpPr txBox="1"/>
          <p:nvPr>
            <p:ph type="title"/>
          </p:nvPr>
        </p:nvSpPr>
        <p:spPr>
          <a:xfrm>
            <a:off x="475200" y="1306800"/>
            <a:ext cx="9226800" cy="2008800"/>
          </a:xfrm>
          <a:prstGeom prst="rect">
            <a:avLst/>
          </a:prstGeom>
          <a:noFill/>
          <a:ln>
            <a:noFill/>
          </a:ln>
        </p:spPr>
        <p:txBody>
          <a:bodyPr anchorCtr="0" anchor="b" bIns="45700" lIns="91425" spcFirstLastPara="1" rIns="91425" wrap="square" tIns="45700">
            <a:noAutofit/>
          </a:bodyPr>
          <a:lstStyle>
            <a:lvl1pPr lvl="0" algn="l">
              <a:lnSpc>
                <a:spcPct val="83000"/>
              </a:lnSpc>
              <a:spcBef>
                <a:spcPts val="0"/>
              </a:spcBef>
              <a:spcAft>
                <a:spcPts val="0"/>
              </a:spcAft>
              <a:buClr>
                <a:schemeClr val="lt1"/>
              </a:buClr>
              <a:buSzPts val="4500"/>
              <a:buFont typeface="Arial Black"/>
              <a:buNone/>
              <a:defRPr sz="45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 name="Google Shape;177;p41"/>
          <p:cNvSpPr txBox="1"/>
          <p:nvPr/>
        </p:nvSpPr>
        <p:spPr>
          <a:xfrm>
            <a:off x="10065600" y="5500800"/>
            <a:ext cx="1396800" cy="733534"/>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lt1"/>
                </a:solidFill>
                <a:latin typeface="Arial Black"/>
                <a:ea typeface="Arial Black"/>
                <a:cs typeface="Arial Black"/>
                <a:sym typeface="Arial Black"/>
              </a:rPr>
              <a:t>JOHANNES KEPLER UNIVERSITY LINZ</a:t>
            </a:r>
            <a:endParaRPr b="0" i="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Altenberger Straße 69</a:t>
            </a:r>
            <a:endParaRPr b="0" i="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4040 Linz, Austria</a:t>
            </a:r>
            <a:endParaRPr b="0" i="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jku.at</a:t>
            </a:r>
            <a:endParaRPr b="0" i="0" sz="800" u="none" cap="none" strike="noStrike">
              <a:solidFill>
                <a:schemeClr val="lt1"/>
              </a:solidFill>
              <a:latin typeface="Arial"/>
              <a:ea typeface="Arial"/>
              <a:cs typeface="Arial"/>
              <a:sym typeface="Arial"/>
            </a:endParaRPr>
          </a:p>
        </p:txBody>
      </p:sp>
      <p:sp>
        <p:nvSpPr>
          <p:cNvPr id="178" name="Google Shape;178;p41"/>
          <p:cNvSpPr/>
          <p:nvPr>
            <p:ph idx="2" type="pic"/>
          </p:nvPr>
        </p:nvSpPr>
        <p:spPr>
          <a:xfrm>
            <a:off x="10151559" y="2516799"/>
            <a:ext cx="1468800" cy="1085721"/>
          </a:xfrm>
          <a:prstGeom prst="rect">
            <a:avLst/>
          </a:prstGeom>
          <a:noFill/>
          <a:ln>
            <a:noFill/>
          </a:ln>
        </p:spPr>
      </p:sp>
      <p:sp>
        <p:nvSpPr>
          <p:cNvPr id="179" name="Google Shape;179;p41"/>
          <p:cNvSpPr/>
          <p:nvPr>
            <p:ph idx="3" type="pic"/>
          </p:nvPr>
        </p:nvSpPr>
        <p:spPr>
          <a:xfrm>
            <a:off x="10151745" y="4039231"/>
            <a:ext cx="1468800" cy="1085721"/>
          </a:xfrm>
          <a:prstGeom prst="rect">
            <a:avLst/>
          </a:prstGeom>
          <a:noFill/>
          <a:ln>
            <a:noFill/>
          </a:ln>
        </p:spPr>
      </p:sp>
      <p:pic>
        <p:nvPicPr>
          <p:cNvPr id="180" name="Google Shape;180;p41"/>
          <p:cNvPicPr preferRelativeResize="0"/>
          <p:nvPr/>
        </p:nvPicPr>
        <p:blipFill rotWithShape="1">
          <a:blip r:embed="rId2">
            <a:alphaModFix/>
          </a:blip>
          <a:srcRect b="0" l="0" r="0" t="0"/>
          <a:stretch/>
        </p:blipFill>
        <p:spPr>
          <a:xfrm>
            <a:off x="447071" y="3231115"/>
            <a:ext cx="2196000" cy="2196083"/>
          </a:xfrm>
          <a:prstGeom prst="rect">
            <a:avLst/>
          </a:prstGeom>
          <a:noFill/>
          <a:ln>
            <a:noFill/>
          </a:ln>
        </p:spPr>
      </p:pic>
      <p:pic>
        <p:nvPicPr>
          <p:cNvPr id="181" name="Google Shape;181;p41"/>
          <p:cNvPicPr preferRelativeResize="0"/>
          <p:nvPr/>
        </p:nvPicPr>
        <p:blipFill rotWithShape="1">
          <a:blip r:embed="rId3">
            <a:alphaModFix/>
          </a:blip>
          <a:srcRect b="0" l="0" r="0" t="0"/>
          <a:stretch/>
        </p:blipFill>
        <p:spPr>
          <a:xfrm>
            <a:off x="9702001" y="554400"/>
            <a:ext cx="1932066" cy="136800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624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out logo RE">
  <p:cSld name="Title without logo RE">
    <p:spTree>
      <p:nvGrpSpPr>
        <p:cNvPr id="182" name="Shape 182"/>
        <p:cNvGrpSpPr/>
        <p:nvPr/>
      </p:nvGrpSpPr>
      <p:grpSpPr>
        <a:xfrm>
          <a:off x="0" y="0"/>
          <a:ext cx="0" cy="0"/>
          <a:chOff x="0" y="0"/>
          <a:chExt cx="0" cy="0"/>
        </a:xfrm>
      </p:grpSpPr>
      <p:sp>
        <p:nvSpPr>
          <p:cNvPr id="183" name="Google Shape;183;p42"/>
          <p:cNvSpPr/>
          <p:nvPr/>
        </p:nvSpPr>
        <p:spPr>
          <a:xfrm>
            <a:off x="0" y="0"/>
            <a:ext cx="12192000" cy="6143625"/>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4" name="Google Shape;184;p42"/>
          <p:cNvSpPr txBox="1"/>
          <p:nvPr>
            <p:ph idx="1" type="subTitle"/>
          </p:nvPr>
        </p:nvSpPr>
        <p:spPr>
          <a:xfrm>
            <a:off x="486000" y="5410800"/>
            <a:ext cx="11115450" cy="730800"/>
          </a:xfrm>
          <a:prstGeom prst="rect">
            <a:avLst/>
          </a:prstGeom>
          <a:noFill/>
          <a:ln>
            <a:noFill/>
          </a:ln>
        </p:spPr>
        <p:txBody>
          <a:bodyPr anchorCtr="0" anchor="t" bIns="45700" lIns="91425" spcFirstLastPara="1" rIns="91425" wrap="square" tIns="45700">
            <a:noAutofit/>
          </a:bodyPr>
          <a:lstStyle>
            <a:lvl1pPr lvl="0" algn="l">
              <a:lnSpc>
                <a:spcPct val="105000"/>
              </a:lnSpc>
              <a:spcBef>
                <a:spcPts val="0"/>
              </a:spcBef>
              <a:spcAft>
                <a:spcPts val="0"/>
              </a:spcAft>
              <a:buClr>
                <a:schemeClr val="lt1"/>
              </a:buClr>
              <a:buSzPts val="2160"/>
              <a:buNone/>
              <a:defRPr sz="1800">
                <a:solidFill>
                  <a:schemeClr val="lt1"/>
                </a:solidFill>
              </a:defRPr>
            </a:lvl1pPr>
            <a:lvl2pPr lvl="1" algn="ctr">
              <a:lnSpc>
                <a:spcPct val="105000"/>
              </a:lnSpc>
              <a:spcBef>
                <a:spcPts val="0"/>
              </a:spcBef>
              <a:spcAft>
                <a:spcPts val="0"/>
              </a:spcAft>
              <a:buClr>
                <a:schemeClr val="dk1"/>
              </a:buClr>
              <a:buSzPts val="2500"/>
              <a:buNone/>
              <a:defRPr sz="2000"/>
            </a:lvl2pPr>
            <a:lvl3pPr lvl="2" algn="ctr">
              <a:lnSpc>
                <a:spcPct val="105000"/>
              </a:lnSpc>
              <a:spcBef>
                <a:spcPts val="0"/>
              </a:spcBef>
              <a:spcAft>
                <a:spcPts val="0"/>
              </a:spcAft>
              <a:buClr>
                <a:schemeClr val="dk1"/>
              </a:buClr>
              <a:buSzPts val="1530"/>
              <a:buNone/>
              <a:defRPr sz="1800"/>
            </a:lvl3pPr>
            <a:lvl4pPr lvl="3" algn="ctr">
              <a:lnSpc>
                <a:spcPct val="105000"/>
              </a:lnSpc>
              <a:spcBef>
                <a:spcPts val="0"/>
              </a:spcBef>
              <a:spcAft>
                <a:spcPts val="0"/>
              </a:spcAft>
              <a:buClr>
                <a:schemeClr val="dk1"/>
              </a:buClr>
              <a:buSzPts val="1760"/>
              <a:buNone/>
              <a:defRPr sz="1600"/>
            </a:lvl4pPr>
            <a:lvl5pPr lvl="4" algn="ctr">
              <a:lnSpc>
                <a:spcPct val="105000"/>
              </a:lnSpc>
              <a:spcBef>
                <a:spcPts val="0"/>
              </a:spcBef>
              <a:spcAft>
                <a:spcPts val="0"/>
              </a:spcAft>
              <a:buClr>
                <a:schemeClr val="dk1"/>
              </a:buClr>
              <a:buSzPts val="104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5" name="Google Shape;185;p42"/>
          <p:cNvSpPr txBox="1"/>
          <p:nvPr>
            <p:ph type="title"/>
          </p:nvPr>
        </p:nvSpPr>
        <p:spPr>
          <a:xfrm>
            <a:off x="475200" y="1306800"/>
            <a:ext cx="11128476" cy="2008800"/>
          </a:xfrm>
          <a:prstGeom prst="rect">
            <a:avLst/>
          </a:prstGeom>
          <a:noFill/>
          <a:ln>
            <a:noFill/>
          </a:ln>
        </p:spPr>
        <p:txBody>
          <a:bodyPr anchorCtr="0" anchor="b" bIns="45700" lIns="91425" spcFirstLastPara="1" rIns="91425" wrap="square" tIns="45700">
            <a:noAutofit/>
          </a:bodyPr>
          <a:lstStyle>
            <a:lvl1pPr lvl="0" algn="l">
              <a:lnSpc>
                <a:spcPct val="83000"/>
              </a:lnSpc>
              <a:spcBef>
                <a:spcPts val="0"/>
              </a:spcBef>
              <a:spcAft>
                <a:spcPts val="0"/>
              </a:spcAft>
              <a:buClr>
                <a:schemeClr val="lt1"/>
              </a:buClr>
              <a:buSzPts val="4500"/>
              <a:buFont typeface="Arial Black"/>
              <a:buNone/>
              <a:defRPr sz="45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86" name="Google Shape;186;p42"/>
          <p:cNvPicPr preferRelativeResize="0"/>
          <p:nvPr/>
        </p:nvPicPr>
        <p:blipFill rotWithShape="1">
          <a:blip r:embed="rId2">
            <a:alphaModFix/>
          </a:blip>
          <a:srcRect b="0" l="0" r="0" t="0"/>
          <a:stretch/>
        </p:blipFill>
        <p:spPr>
          <a:xfrm>
            <a:off x="447071" y="3231115"/>
            <a:ext cx="2196000" cy="2196083"/>
          </a:xfrm>
          <a:prstGeom prst="rect">
            <a:avLst/>
          </a:prstGeom>
          <a:noFill/>
          <a:ln>
            <a:noFill/>
          </a:ln>
        </p:spPr>
      </p:pic>
      <p:sp>
        <p:nvSpPr>
          <p:cNvPr id="187" name="Google Shape;187;p42"/>
          <p:cNvSpPr txBox="1"/>
          <p:nvPr>
            <p:ph idx="10" type="dt"/>
          </p:nvPr>
        </p:nvSpPr>
        <p:spPr>
          <a:xfrm>
            <a:off x="9424800" y="6357600"/>
            <a:ext cx="8172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8" name="Google Shape;188;p42"/>
          <p:cNvSpPr txBox="1"/>
          <p:nvPr>
            <p:ph idx="11" type="ftr"/>
          </p:nvPr>
        </p:nvSpPr>
        <p:spPr>
          <a:xfrm>
            <a:off x="5889600" y="6350400"/>
            <a:ext cx="24264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9" name="Google Shape;189;p42"/>
          <p:cNvSpPr txBox="1"/>
          <p:nvPr>
            <p:ph idx="12" type="sldNum"/>
          </p:nvPr>
        </p:nvSpPr>
        <p:spPr>
          <a:xfrm>
            <a:off x="11019600" y="6357600"/>
            <a:ext cx="6858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624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KU Logo MED" showMasterSp="0">
  <p:cSld name="JKU Logo MED">
    <p:bg>
      <p:bgPr>
        <a:solidFill>
          <a:schemeClr val="accent6"/>
        </a:solidFill>
      </p:bgPr>
    </p:bg>
    <p:spTree>
      <p:nvGrpSpPr>
        <p:cNvPr id="190" name="Shape 190"/>
        <p:cNvGrpSpPr/>
        <p:nvPr/>
      </p:nvGrpSpPr>
      <p:grpSpPr>
        <a:xfrm>
          <a:off x="0" y="0"/>
          <a:ext cx="0" cy="0"/>
          <a:chOff x="0" y="0"/>
          <a:chExt cx="0" cy="0"/>
        </a:xfrm>
      </p:grpSpPr>
      <p:pic>
        <p:nvPicPr>
          <p:cNvPr id="191" name="Google Shape;191;p43"/>
          <p:cNvPicPr preferRelativeResize="0"/>
          <p:nvPr/>
        </p:nvPicPr>
        <p:blipFill rotWithShape="1">
          <a:blip r:embed="rId2">
            <a:alphaModFix/>
          </a:blip>
          <a:srcRect b="0" l="0" r="0" t="0"/>
          <a:stretch/>
        </p:blipFill>
        <p:spPr>
          <a:xfrm>
            <a:off x="2739600" y="1573200"/>
            <a:ext cx="7118139" cy="50400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End with logo MED" showMasterSp="0">
  <p:cSld name="Title/End with logo MED">
    <p:bg>
      <p:bgPr>
        <a:solidFill>
          <a:schemeClr val="accent6"/>
        </a:solidFill>
      </p:bgPr>
    </p:bg>
    <p:spTree>
      <p:nvGrpSpPr>
        <p:cNvPr id="192" name="Shape 192"/>
        <p:cNvGrpSpPr/>
        <p:nvPr/>
      </p:nvGrpSpPr>
      <p:grpSpPr>
        <a:xfrm>
          <a:off x="0" y="0"/>
          <a:ext cx="0" cy="0"/>
          <a:chOff x="0" y="0"/>
          <a:chExt cx="0" cy="0"/>
        </a:xfrm>
      </p:grpSpPr>
      <p:sp>
        <p:nvSpPr>
          <p:cNvPr id="193" name="Google Shape;193;p44"/>
          <p:cNvSpPr txBox="1"/>
          <p:nvPr>
            <p:ph idx="1" type="subTitle"/>
          </p:nvPr>
        </p:nvSpPr>
        <p:spPr>
          <a:xfrm>
            <a:off x="486000" y="5410800"/>
            <a:ext cx="9216000" cy="730800"/>
          </a:xfrm>
          <a:prstGeom prst="rect">
            <a:avLst/>
          </a:prstGeom>
          <a:noFill/>
          <a:ln>
            <a:noFill/>
          </a:ln>
        </p:spPr>
        <p:txBody>
          <a:bodyPr anchorCtr="0" anchor="t" bIns="45700" lIns="91425" spcFirstLastPara="1" rIns="91425" wrap="square" tIns="45700">
            <a:noAutofit/>
          </a:bodyPr>
          <a:lstStyle>
            <a:lvl1pPr lvl="0" algn="l">
              <a:lnSpc>
                <a:spcPct val="105000"/>
              </a:lnSpc>
              <a:spcBef>
                <a:spcPts val="0"/>
              </a:spcBef>
              <a:spcAft>
                <a:spcPts val="0"/>
              </a:spcAft>
              <a:buClr>
                <a:schemeClr val="lt1"/>
              </a:buClr>
              <a:buSzPts val="2160"/>
              <a:buNone/>
              <a:defRPr sz="1800">
                <a:solidFill>
                  <a:schemeClr val="lt1"/>
                </a:solidFill>
              </a:defRPr>
            </a:lvl1pPr>
            <a:lvl2pPr lvl="1" algn="ctr">
              <a:lnSpc>
                <a:spcPct val="105000"/>
              </a:lnSpc>
              <a:spcBef>
                <a:spcPts val="0"/>
              </a:spcBef>
              <a:spcAft>
                <a:spcPts val="0"/>
              </a:spcAft>
              <a:buClr>
                <a:schemeClr val="dk1"/>
              </a:buClr>
              <a:buSzPts val="2500"/>
              <a:buNone/>
              <a:defRPr sz="2000"/>
            </a:lvl2pPr>
            <a:lvl3pPr lvl="2" algn="ctr">
              <a:lnSpc>
                <a:spcPct val="105000"/>
              </a:lnSpc>
              <a:spcBef>
                <a:spcPts val="0"/>
              </a:spcBef>
              <a:spcAft>
                <a:spcPts val="0"/>
              </a:spcAft>
              <a:buClr>
                <a:schemeClr val="dk1"/>
              </a:buClr>
              <a:buSzPts val="1530"/>
              <a:buNone/>
              <a:defRPr sz="1800"/>
            </a:lvl3pPr>
            <a:lvl4pPr lvl="3" algn="ctr">
              <a:lnSpc>
                <a:spcPct val="105000"/>
              </a:lnSpc>
              <a:spcBef>
                <a:spcPts val="0"/>
              </a:spcBef>
              <a:spcAft>
                <a:spcPts val="0"/>
              </a:spcAft>
              <a:buClr>
                <a:schemeClr val="dk1"/>
              </a:buClr>
              <a:buSzPts val="1760"/>
              <a:buNone/>
              <a:defRPr sz="1600"/>
            </a:lvl4pPr>
            <a:lvl5pPr lvl="4" algn="ctr">
              <a:lnSpc>
                <a:spcPct val="105000"/>
              </a:lnSpc>
              <a:spcBef>
                <a:spcPts val="0"/>
              </a:spcBef>
              <a:spcAft>
                <a:spcPts val="0"/>
              </a:spcAft>
              <a:buClr>
                <a:schemeClr val="dk1"/>
              </a:buClr>
              <a:buSzPts val="104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4" name="Google Shape;194;p44"/>
          <p:cNvSpPr txBox="1"/>
          <p:nvPr>
            <p:ph type="title"/>
          </p:nvPr>
        </p:nvSpPr>
        <p:spPr>
          <a:xfrm>
            <a:off x="475200" y="1306800"/>
            <a:ext cx="9226800" cy="2008800"/>
          </a:xfrm>
          <a:prstGeom prst="rect">
            <a:avLst/>
          </a:prstGeom>
          <a:noFill/>
          <a:ln>
            <a:noFill/>
          </a:ln>
        </p:spPr>
        <p:txBody>
          <a:bodyPr anchorCtr="0" anchor="b" bIns="45700" lIns="91425" spcFirstLastPara="1" rIns="91425" wrap="square" tIns="45700">
            <a:noAutofit/>
          </a:bodyPr>
          <a:lstStyle>
            <a:lvl1pPr lvl="0" algn="l">
              <a:lnSpc>
                <a:spcPct val="83000"/>
              </a:lnSpc>
              <a:spcBef>
                <a:spcPts val="0"/>
              </a:spcBef>
              <a:spcAft>
                <a:spcPts val="0"/>
              </a:spcAft>
              <a:buClr>
                <a:schemeClr val="lt1"/>
              </a:buClr>
              <a:buSzPts val="4500"/>
              <a:buFont typeface="Arial Black"/>
              <a:buNone/>
              <a:defRPr sz="45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5" name="Google Shape;195;p44"/>
          <p:cNvSpPr txBox="1"/>
          <p:nvPr/>
        </p:nvSpPr>
        <p:spPr>
          <a:xfrm>
            <a:off x="10065600" y="5500800"/>
            <a:ext cx="1396800" cy="733534"/>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lt1"/>
                </a:solidFill>
                <a:latin typeface="Arial Black"/>
                <a:ea typeface="Arial Black"/>
                <a:cs typeface="Arial Black"/>
                <a:sym typeface="Arial Black"/>
              </a:rPr>
              <a:t>JOHANNES KEPLER UNIVERSITY LINZ</a:t>
            </a:r>
            <a:endParaRPr b="0" i="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Altenberger Straße 69</a:t>
            </a:r>
            <a:endParaRPr b="0" i="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4040 Linz, Austria</a:t>
            </a:r>
            <a:endParaRPr b="0" i="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jku.at</a:t>
            </a:r>
            <a:endParaRPr b="0" i="0" sz="800" u="none" cap="none" strike="noStrike">
              <a:solidFill>
                <a:schemeClr val="lt1"/>
              </a:solidFill>
              <a:latin typeface="Arial"/>
              <a:ea typeface="Arial"/>
              <a:cs typeface="Arial"/>
              <a:sym typeface="Arial"/>
            </a:endParaRPr>
          </a:p>
        </p:txBody>
      </p:sp>
      <p:sp>
        <p:nvSpPr>
          <p:cNvPr id="196" name="Google Shape;196;p44"/>
          <p:cNvSpPr/>
          <p:nvPr>
            <p:ph idx="2" type="pic"/>
          </p:nvPr>
        </p:nvSpPr>
        <p:spPr>
          <a:xfrm>
            <a:off x="10151559" y="2516799"/>
            <a:ext cx="1468800" cy="1085721"/>
          </a:xfrm>
          <a:prstGeom prst="rect">
            <a:avLst/>
          </a:prstGeom>
          <a:noFill/>
          <a:ln>
            <a:noFill/>
          </a:ln>
        </p:spPr>
      </p:sp>
      <p:sp>
        <p:nvSpPr>
          <p:cNvPr id="197" name="Google Shape;197;p44"/>
          <p:cNvSpPr/>
          <p:nvPr>
            <p:ph idx="3" type="pic"/>
          </p:nvPr>
        </p:nvSpPr>
        <p:spPr>
          <a:xfrm>
            <a:off x="10151745" y="4039231"/>
            <a:ext cx="1468800" cy="1085721"/>
          </a:xfrm>
          <a:prstGeom prst="rect">
            <a:avLst/>
          </a:prstGeom>
          <a:noFill/>
          <a:ln>
            <a:noFill/>
          </a:ln>
        </p:spPr>
      </p:sp>
      <p:pic>
        <p:nvPicPr>
          <p:cNvPr id="198" name="Google Shape;198;p44"/>
          <p:cNvPicPr preferRelativeResize="0"/>
          <p:nvPr/>
        </p:nvPicPr>
        <p:blipFill rotWithShape="1">
          <a:blip r:embed="rId2">
            <a:alphaModFix/>
          </a:blip>
          <a:srcRect b="0" l="0" r="0" t="0"/>
          <a:stretch/>
        </p:blipFill>
        <p:spPr>
          <a:xfrm>
            <a:off x="447071" y="3231115"/>
            <a:ext cx="2196000" cy="2196083"/>
          </a:xfrm>
          <a:prstGeom prst="rect">
            <a:avLst/>
          </a:prstGeom>
          <a:noFill/>
          <a:ln>
            <a:noFill/>
          </a:ln>
        </p:spPr>
      </p:pic>
      <p:pic>
        <p:nvPicPr>
          <p:cNvPr id="199" name="Google Shape;199;p44"/>
          <p:cNvPicPr preferRelativeResize="0"/>
          <p:nvPr/>
        </p:nvPicPr>
        <p:blipFill rotWithShape="1">
          <a:blip r:embed="rId3">
            <a:alphaModFix/>
          </a:blip>
          <a:srcRect b="0" l="0" r="0" t="0"/>
          <a:stretch/>
        </p:blipFill>
        <p:spPr>
          <a:xfrm>
            <a:off x="9702001" y="554400"/>
            <a:ext cx="1932066" cy="136800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624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out logo MED">
  <p:cSld name="Title without logo MED">
    <p:spTree>
      <p:nvGrpSpPr>
        <p:cNvPr id="200" name="Shape 200"/>
        <p:cNvGrpSpPr/>
        <p:nvPr/>
      </p:nvGrpSpPr>
      <p:grpSpPr>
        <a:xfrm>
          <a:off x="0" y="0"/>
          <a:ext cx="0" cy="0"/>
          <a:chOff x="0" y="0"/>
          <a:chExt cx="0" cy="0"/>
        </a:xfrm>
      </p:grpSpPr>
      <p:sp>
        <p:nvSpPr>
          <p:cNvPr id="201" name="Google Shape;201;p45"/>
          <p:cNvSpPr/>
          <p:nvPr/>
        </p:nvSpPr>
        <p:spPr>
          <a:xfrm>
            <a:off x="0" y="0"/>
            <a:ext cx="12192000" cy="6143625"/>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2" name="Google Shape;202;p45"/>
          <p:cNvSpPr txBox="1"/>
          <p:nvPr>
            <p:ph idx="1" type="subTitle"/>
          </p:nvPr>
        </p:nvSpPr>
        <p:spPr>
          <a:xfrm>
            <a:off x="486000" y="5410800"/>
            <a:ext cx="11115450" cy="730800"/>
          </a:xfrm>
          <a:prstGeom prst="rect">
            <a:avLst/>
          </a:prstGeom>
          <a:noFill/>
          <a:ln>
            <a:noFill/>
          </a:ln>
        </p:spPr>
        <p:txBody>
          <a:bodyPr anchorCtr="0" anchor="t" bIns="45700" lIns="91425" spcFirstLastPara="1" rIns="91425" wrap="square" tIns="45700">
            <a:noAutofit/>
          </a:bodyPr>
          <a:lstStyle>
            <a:lvl1pPr lvl="0" algn="l">
              <a:lnSpc>
                <a:spcPct val="105000"/>
              </a:lnSpc>
              <a:spcBef>
                <a:spcPts val="0"/>
              </a:spcBef>
              <a:spcAft>
                <a:spcPts val="0"/>
              </a:spcAft>
              <a:buClr>
                <a:schemeClr val="lt1"/>
              </a:buClr>
              <a:buSzPts val="2160"/>
              <a:buNone/>
              <a:defRPr sz="1800">
                <a:solidFill>
                  <a:schemeClr val="lt1"/>
                </a:solidFill>
              </a:defRPr>
            </a:lvl1pPr>
            <a:lvl2pPr lvl="1" algn="ctr">
              <a:lnSpc>
                <a:spcPct val="105000"/>
              </a:lnSpc>
              <a:spcBef>
                <a:spcPts val="0"/>
              </a:spcBef>
              <a:spcAft>
                <a:spcPts val="0"/>
              </a:spcAft>
              <a:buClr>
                <a:schemeClr val="dk1"/>
              </a:buClr>
              <a:buSzPts val="2500"/>
              <a:buNone/>
              <a:defRPr sz="2000"/>
            </a:lvl2pPr>
            <a:lvl3pPr lvl="2" algn="ctr">
              <a:lnSpc>
                <a:spcPct val="105000"/>
              </a:lnSpc>
              <a:spcBef>
                <a:spcPts val="0"/>
              </a:spcBef>
              <a:spcAft>
                <a:spcPts val="0"/>
              </a:spcAft>
              <a:buClr>
                <a:schemeClr val="dk1"/>
              </a:buClr>
              <a:buSzPts val="1530"/>
              <a:buNone/>
              <a:defRPr sz="1800"/>
            </a:lvl3pPr>
            <a:lvl4pPr lvl="3" algn="ctr">
              <a:lnSpc>
                <a:spcPct val="105000"/>
              </a:lnSpc>
              <a:spcBef>
                <a:spcPts val="0"/>
              </a:spcBef>
              <a:spcAft>
                <a:spcPts val="0"/>
              </a:spcAft>
              <a:buClr>
                <a:schemeClr val="dk1"/>
              </a:buClr>
              <a:buSzPts val="1760"/>
              <a:buNone/>
              <a:defRPr sz="1600"/>
            </a:lvl4pPr>
            <a:lvl5pPr lvl="4" algn="ctr">
              <a:lnSpc>
                <a:spcPct val="105000"/>
              </a:lnSpc>
              <a:spcBef>
                <a:spcPts val="0"/>
              </a:spcBef>
              <a:spcAft>
                <a:spcPts val="0"/>
              </a:spcAft>
              <a:buClr>
                <a:schemeClr val="dk1"/>
              </a:buClr>
              <a:buSzPts val="104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3" name="Google Shape;203;p45"/>
          <p:cNvSpPr txBox="1"/>
          <p:nvPr>
            <p:ph type="title"/>
          </p:nvPr>
        </p:nvSpPr>
        <p:spPr>
          <a:xfrm>
            <a:off x="475200" y="1306800"/>
            <a:ext cx="11128476" cy="2008800"/>
          </a:xfrm>
          <a:prstGeom prst="rect">
            <a:avLst/>
          </a:prstGeom>
          <a:noFill/>
          <a:ln>
            <a:noFill/>
          </a:ln>
        </p:spPr>
        <p:txBody>
          <a:bodyPr anchorCtr="0" anchor="b" bIns="45700" lIns="91425" spcFirstLastPara="1" rIns="91425" wrap="square" tIns="45700">
            <a:noAutofit/>
          </a:bodyPr>
          <a:lstStyle>
            <a:lvl1pPr lvl="0" algn="l">
              <a:lnSpc>
                <a:spcPct val="83000"/>
              </a:lnSpc>
              <a:spcBef>
                <a:spcPts val="0"/>
              </a:spcBef>
              <a:spcAft>
                <a:spcPts val="0"/>
              </a:spcAft>
              <a:buClr>
                <a:schemeClr val="lt1"/>
              </a:buClr>
              <a:buSzPts val="4500"/>
              <a:buFont typeface="Arial Black"/>
              <a:buNone/>
              <a:defRPr sz="45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04" name="Google Shape;204;p45"/>
          <p:cNvPicPr preferRelativeResize="0"/>
          <p:nvPr/>
        </p:nvPicPr>
        <p:blipFill rotWithShape="1">
          <a:blip r:embed="rId2">
            <a:alphaModFix/>
          </a:blip>
          <a:srcRect b="0" l="0" r="0" t="0"/>
          <a:stretch/>
        </p:blipFill>
        <p:spPr>
          <a:xfrm>
            <a:off x="447071" y="3231115"/>
            <a:ext cx="2196000" cy="2196083"/>
          </a:xfrm>
          <a:prstGeom prst="rect">
            <a:avLst/>
          </a:prstGeom>
          <a:noFill/>
          <a:ln>
            <a:noFill/>
          </a:ln>
        </p:spPr>
      </p:pic>
      <p:sp>
        <p:nvSpPr>
          <p:cNvPr id="205" name="Google Shape;205;p45"/>
          <p:cNvSpPr txBox="1"/>
          <p:nvPr>
            <p:ph idx="10" type="dt"/>
          </p:nvPr>
        </p:nvSpPr>
        <p:spPr>
          <a:xfrm>
            <a:off x="9424800" y="6357600"/>
            <a:ext cx="8172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 name="Google Shape;206;p45"/>
          <p:cNvSpPr txBox="1"/>
          <p:nvPr>
            <p:ph idx="11" type="ftr"/>
          </p:nvPr>
        </p:nvSpPr>
        <p:spPr>
          <a:xfrm>
            <a:off x="5889600" y="6350400"/>
            <a:ext cx="24264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7" name="Google Shape;207;p45"/>
          <p:cNvSpPr txBox="1"/>
          <p:nvPr>
            <p:ph idx="12" type="sldNum"/>
          </p:nvPr>
        </p:nvSpPr>
        <p:spPr>
          <a:xfrm>
            <a:off x="11019600" y="6357600"/>
            <a:ext cx="6858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624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ий слайд" type="title">
  <p:cSld name="TITLE">
    <p:spTree>
      <p:nvGrpSpPr>
        <p:cNvPr id="208" name="Shape 208"/>
        <p:cNvGrpSpPr/>
        <p:nvPr/>
      </p:nvGrpSpPr>
      <p:grpSpPr>
        <a:xfrm>
          <a:off x="0" y="0"/>
          <a:ext cx="0" cy="0"/>
          <a:chOff x="0" y="0"/>
          <a:chExt cx="0" cy="0"/>
        </a:xfrm>
      </p:grpSpPr>
      <p:sp>
        <p:nvSpPr>
          <p:cNvPr id="209" name="Google Shape;209;p4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83000"/>
              </a:lnSpc>
              <a:spcBef>
                <a:spcPts val="0"/>
              </a:spcBef>
              <a:spcAft>
                <a:spcPts val="0"/>
              </a:spcAft>
              <a:buClr>
                <a:schemeClr val="dk1"/>
              </a:buClr>
              <a:buSzPts val="6000"/>
              <a:buFont typeface="Arial Black"/>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0" name="Google Shape;210;p4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105000"/>
              </a:lnSpc>
              <a:spcBef>
                <a:spcPts val="800"/>
              </a:spcBef>
              <a:spcAft>
                <a:spcPts val="0"/>
              </a:spcAft>
              <a:buClr>
                <a:schemeClr val="dk1"/>
              </a:buClr>
              <a:buSzPts val="2880"/>
              <a:buNone/>
              <a:defRPr sz="2400"/>
            </a:lvl1pPr>
            <a:lvl2pPr lvl="1" algn="ctr">
              <a:lnSpc>
                <a:spcPct val="105000"/>
              </a:lnSpc>
              <a:spcBef>
                <a:spcPts val="0"/>
              </a:spcBef>
              <a:spcAft>
                <a:spcPts val="0"/>
              </a:spcAft>
              <a:buClr>
                <a:schemeClr val="dk1"/>
              </a:buClr>
              <a:buSzPts val="2500"/>
              <a:buNone/>
              <a:defRPr sz="2000"/>
            </a:lvl2pPr>
            <a:lvl3pPr lvl="2" algn="ctr">
              <a:lnSpc>
                <a:spcPct val="105000"/>
              </a:lnSpc>
              <a:spcBef>
                <a:spcPts val="0"/>
              </a:spcBef>
              <a:spcAft>
                <a:spcPts val="0"/>
              </a:spcAft>
              <a:buClr>
                <a:schemeClr val="dk1"/>
              </a:buClr>
              <a:buSzPts val="1530"/>
              <a:buNone/>
              <a:defRPr sz="1800"/>
            </a:lvl3pPr>
            <a:lvl4pPr lvl="3" algn="ctr">
              <a:lnSpc>
                <a:spcPct val="105000"/>
              </a:lnSpc>
              <a:spcBef>
                <a:spcPts val="0"/>
              </a:spcBef>
              <a:spcAft>
                <a:spcPts val="0"/>
              </a:spcAft>
              <a:buClr>
                <a:schemeClr val="dk1"/>
              </a:buClr>
              <a:buSzPts val="1760"/>
              <a:buNone/>
              <a:defRPr sz="1600"/>
            </a:lvl4pPr>
            <a:lvl5pPr lvl="4" algn="ctr">
              <a:lnSpc>
                <a:spcPct val="105000"/>
              </a:lnSpc>
              <a:spcBef>
                <a:spcPts val="0"/>
              </a:spcBef>
              <a:spcAft>
                <a:spcPts val="0"/>
              </a:spcAft>
              <a:buClr>
                <a:schemeClr val="dk1"/>
              </a:buClr>
              <a:buSzPts val="104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11" name="Google Shape;211;p46"/>
          <p:cNvSpPr txBox="1"/>
          <p:nvPr>
            <p:ph idx="10" type="dt"/>
          </p:nvPr>
        </p:nvSpPr>
        <p:spPr>
          <a:xfrm>
            <a:off x="9424800" y="6357600"/>
            <a:ext cx="8172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2" name="Google Shape;212;p46"/>
          <p:cNvSpPr txBox="1"/>
          <p:nvPr>
            <p:ph idx="11" type="ftr"/>
          </p:nvPr>
        </p:nvSpPr>
        <p:spPr>
          <a:xfrm>
            <a:off x="5889600" y="6350400"/>
            <a:ext cx="2426400"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3" name="Google Shape;213;p46"/>
          <p:cNvSpPr txBox="1"/>
          <p:nvPr>
            <p:ph idx="12" type="sldNum"/>
          </p:nvPr>
        </p:nvSpPr>
        <p:spPr>
          <a:xfrm>
            <a:off x="11019600" y="6357600"/>
            <a:ext cx="6858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486000" y="575999"/>
            <a:ext cx="11124000" cy="990000"/>
          </a:xfrm>
          <a:prstGeom prst="rect">
            <a:avLst/>
          </a:prstGeom>
          <a:noFill/>
          <a:ln>
            <a:noFill/>
          </a:ln>
        </p:spPr>
        <p:txBody>
          <a:bodyPr anchorCtr="0" anchor="t" bIns="45700" lIns="91425" spcFirstLastPara="1" rIns="91425" wrap="square" tIns="45700">
            <a:noAutofit/>
          </a:bodyPr>
          <a:lstStyle>
            <a:lvl1pPr lvl="0" marR="0" rtl="0" algn="l">
              <a:lnSpc>
                <a:spcPct val="83000"/>
              </a:lnSpc>
              <a:spcBef>
                <a:spcPts val="0"/>
              </a:spcBef>
              <a:spcAft>
                <a:spcPts val="0"/>
              </a:spcAft>
              <a:buClr>
                <a:schemeClr val="dk1"/>
              </a:buClr>
              <a:buSzPts val="3000"/>
              <a:buFont typeface="Arial Black"/>
              <a:buNone/>
              <a:defRPr b="0" i="0" sz="3000" u="none" cap="none" strike="noStrike">
                <a:solidFill>
                  <a:schemeClr val="dk1"/>
                </a:solidFill>
                <a:latin typeface="Arial Black"/>
                <a:ea typeface="Arial Black"/>
                <a:cs typeface="Arial Black"/>
                <a:sym typeface="Arial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5"/>
          <p:cNvSpPr txBox="1"/>
          <p:nvPr>
            <p:ph idx="1" type="body"/>
          </p:nvPr>
        </p:nvSpPr>
        <p:spPr>
          <a:xfrm>
            <a:off x="471600" y="1620000"/>
            <a:ext cx="11142000" cy="45144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5000"/>
              </a:lnSpc>
              <a:spcBef>
                <a:spcPts val="800"/>
              </a:spcBef>
              <a:spcAft>
                <a:spcPts val="0"/>
              </a:spcAft>
              <a:buClr>
                <a:schemeClr val="dk1"/>
              </a:buClr>
              <a:buSzPts val="2400"/>
              <a:buFont typeface="Arial"/>
              <a:buChar char="•"/>
              <a:defRPr b="0" i="0" sz="2000" u="none" cap="none" strike="noStrike">
                <a:solidFill>
                  <a:schemeClr val="dk1"/>
                </a:solidFill>
                <a:latin typeface="Arial"/>
                <a:ea typeface="Arial"/>
                <a:cs typeface="Arial"/>
                <a:sym typeface="Arial"/>
              </a:defRPr>
            </a:lvl1pPr>
            <a:lvl2pPr indent="-387350" lvl="1" marL="914400" marR="0" rtl="0" algn="l">
              <a:lnSpc>
                <a:spcPct val="105000"/>
              </a:lnSpc>
              <a:spcBef>
                <a:spcPts val="0"/>
              </a:spcBef>
              <a:spcAft>
                <a:spcPts val="0"/>
              </a:spcAft>
              <a:buClr>
                <a:schemeClr val="dk1"/>
              </a:buClr>
              <a:buSzPts val="2500"/>
              <a:buFont typeface="Arial"/>
              <a:buChar char="◦"/>
              <a:defRPr b="0" i="0" sz="2000" u="none" cap="none" strike="noStrike">
                <a:solidFill>
                  <a:schemeClr val="dk1"/>
                </a:solidFill>
                <a:latin typeface="Arial"/>
                <a:ea typeface="Arial"/>
                <a:cs typeface="Arial"/>
                <a:sym typeface="Arial"/>
              </a:defRPr>
            </a:lvl2pPr>
            <a:lvl3pPr indent="-325755" lvl="2" marL="1371600" marR="0" rtl="0" algn="l">
              <a:lnSpc>
                <a:spcPct val="105000"/>
              </a:lnSpc>
              <a:spcBef>
                <a:spcPts val="0"/>
              </a:spcBef>
              <a:spcAft>
                <a:spcPts val="0"/>
              </a:spcAft>
              <a:buClr>
                <a:schemeClr val="dk1"/>
              </a:buClr>
              <a:buSzPts val="1530"/>
              <a:buFont typeface="Noto Sans Symbols"/>
              <a:buChar char="▪"/>
              <a:defRPr b="0" i="0" sz="1800" u="none" cap="none" strike="noStrike">
                <a:solidFill>
                  <a:schemeClr val="dk1"/>
                </a:solidFill>
                <a:latin typeface="Arial"/>
                <a:ea typeface="Arial"/>
                <a:cs typeface="Arial"/>
                <a:sym typeface="Arial"/>
              </a:defRPr>
            </a:lvl3pPr>
            <a:lvl4pPr indent="-354330" lvl="3" marL="1828800" marR="0" rtl="0" algn="l">
              <a:lnSpc>
                <a:spcPct val="105000"/>
              </a:lnSpc>
              <a:spcBef>
                <a:spcPts val="0"/>
              </a:spcBef>
              <a:spcAft>
                <a:spcPts val="0"/>
              </a:spcAft>
              <a:buClr>
                <a:schemeClr val="dk1"/>
              </a:buClr>
              <a:buSzPts val="1980"/>
              <a:buFont typeface="Arial"/>
              <a:buChar char="-"/>
              <a:defRPr b="0" i="0" sz="1800" u="none" cap="none" strike="noStrike">
                <a:solidFill>
                  <a:schemeClr val="dk1"/>
                </a:solidFill>
                <a:latin typeface="Arial"/>
                <a:ea typeface="Arial"/>
                <a:cs typeface="Arial"/>
                <a:sym typeface="Arial"/>
              </a:defRPr>
            </a:lvl4pPr>
            <a:lvl5pPr indent="-302895" lvl="4" marL="2286000" marR="0" rtl="0" algn="l">
              <a:lnSpc>
                <a:spcPct val="105000"/>
              </a:lnSpc>
              <a:spcBef>
                <a:spcPts val="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5"/>
          <p:cNvSpPr txBox="1"/>
          <p:nvPr>
            <p:ph idx="10" type="dt"/>
          </p:nvPr>
        </p:nvSpPr>
        <p:spPr>
          <a:xfrm>
            <a:off x="9424800" y="6357600"/>
            <a:ext cx="817200" cy="365125"/>
          </a:xfrm>
          <a:prstGeom prst="rect">
            <a:avLst/>
          </a:prstGeom>
          <a:noFill/>
          <a:ln>
            <a:noFill/>
          </a:ln>
        </p:spPr>
        <p:txBody>
          <a:bodyPr anchorCtr="0" anchor="b"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 name="Google Shape;9;p15"/>
          <p:cNvSpPr txBox="1"/>
          <p:nvPr>
            <p:ph idx="11" type="ftr"/>
          </p:nvPr>
        </p:nvSpPr>
        <p:spPr>
          <a:xfrm>
            <a:off x="5889600" y="6350400"/>
            <a:ext cx="2426400" cy="365125"/>
          </a:xfrm>
          <a:prstGeom prst="rect">
            <a:avLst/>
          </a:prstGeom>
          <a:noFill/>
          <a:ln>
            <a:noFill/>
          </a:ln>
        </p:spPr>
        <p:txBody>
          <a:bodyPr anchorCtr="0" anchor="b"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 name="Google Shape;10;p15"/>
          <p:cNvSpPr txBox="1"/>
          <p:nvPr>
            <p:ph idx="12" type="sldNum"/>
          </p:nvPr>
        </p:nvSpPr>
        <p:spPr>
          <a:xfrm>
            <a:off x="11019600" y="6357600"/>
            <a:ext cx="685800" cy="365125"/>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1" name="Google Shape;11;p15"/>
          <p:cNvPicPr preferRelativeResize="0"/>
          <p:nvPr/>
        </p:nvPicPr>
        <p:blipFill rotWithShape="1">
          <a:blip r:embed="rId1">
            <a:alphaModFix/>
          </a:blip>
          <a:srcRect b="0" l="0" r="0" t="0"/>
          <a:stretch/>
        </p:blipFill>
        <p:spPr>
          <a:xfrm>
            <a:off x="572400" y="6350561"/>
            <a:ext cx="2717810" cy="3204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178">
          <p15:clr>
            <a:srgbClr val="F26B43"/>
          </p15:clr>
        </p15:guide>
        <p15:guide id="2" pos="54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
          <p:cNvSpPr txBox="1"/>
          <p:nvPr>
            <p:ph idx="1" type="subTitle"/>
          </p:nvPr>
        </p:nvSpPr>
        <p:spPr>
          <a:xfrm>
            <a:off x="475200" y="5189775"/>
            <a:ext cx="11568300" cy="730800"/>
          </a:xfrm>
          <a:prstGeom prst="rect">
            <a:avLst/>
          </a:prstGeom>
          <a:noFill/>
          <a:ln>
            <a:noFill/>
          </a:ln>
        </p:spPr>
        <p:txBody>
          <a:bodyPr anchorCtr="0" anchor="t" bIns="45700" lIns="91425" spcFirstLastPara="1" rIns="91425" wrap="square" tIns="45700">
            <a:noAutofit/>
          </a:bodyPr>
          <a:lstStyle/>
          <a:p>
            <a:pPr indent="-381000" lvl="0" marL="457200" rtl="0" algn="l">
              <a:lnSpc>
                <a:spcPct val="105000"/>
              </a:lnSpc>
              <a:spcBef>
                <a:spcPts val="0"/>
              </a:spcBef>
              <a:spcAft>
                <a:spcPts val="0"/>
              </a:spcAft>
              <a:buSzPts val="2160"/>
              <a:buNone/>
            </a:pPr>
            <a:r>
              <a:rPr b="0" lang="en-US"/>
              <a:t>Alfiia Ziganshina</a:t>
            </a:r>
            <a:endParaRPr/>
          </a:p>
          <a:p>
            <a:pPr indent="-381000" lvl="0" marL="457200" rtl="0" algn="l">
              <a:lnSpc>
                <a:spcPct val="105000"/>
              </a:lnSpc>
              <a:spcBef>
                <a:spcPts val="0"/>
              </a:spcBef>
              <a:spcAft>
                <a:spcPts val="0"/>
              </a:spcAft>
              <a:buSzPts val="2160"/>
              <a:buNone/>
            </a:pPr>
            <a:r>
              <a:rPr b="0" lang="en-US"/>
              <a:t>AI Seminar  —  Topic proposal (draft, idea stage)</a:t>
            </a:r>
            <a:endParaRPr/>
          </a:p>
          <a:p>
            <a:pPr indent="-381000" lvl="0" marL="457200" rtl="0" algn="l">
              <a:lnSpc>
                <a:spcPct val="105000"/>
              </a:lnSpc>
              <a:spcBef>
                <a:spcPts val="0"/>
              </a:spcBef>
              <a:spcAft>
                <a:spcPts val="0"/>
              </a:spcAft>
              <a:buSzPts val="2160"/>
              <a:buNone/>
            </a:pPr>
            <a:r>
              <a:rPr b="0" lang="en-US"/>
              <a:t>28 October 2026</a:t>
            </a:r>
            <a:endParaRPr/>
          </a:p>
        </p:txBody>
      </p:sp>
      <p:sp>
        <p:nvSpPr>
          <p:cNvPr id="219" name="Google Shape;219;p1"/>
          <p:cNvSpPr txBox="1"/>
          <p:nvPr>
            <p:ph type="title"/>
          </p:nvPr>
        </p:nvSpPr>
        <p:spPr>
          <a:xfrm>
            <a:off x="475200" y="1306800"/>
            <a:ext cx="11128476" cy="2008800"/>
          </a:xfrm>
          <a:prstGeom prst="rect">
            <a:avLst/>
          </a:prstGeom>
          <a:noFill/>
          <a:ln>
            <a:noFill/>
          </a:ln>
        </p:spPr>
        <p:txBody>
          <a:bodyPr anchorCtr="0" anchor="b" bIns="45700" lIns="91425" spcFirstLastPara="1" rIns="91425" wrap="square" tIns="45700">
            <a:noAutofit/>
          </a:bodyPr>
          <a:lstStyle/>
          <a:p>
            <a:pPr indent="0" lvl="0" marL="0" rtl="0" algn="l">
              <a:lnSpc>
                <a:spcPct val="83000"/>
              </a:lnSpc>
              <a:spcBef>
                <a:spcPts val="0"/>
              </a:spcBef>
              <a:spcAft>
                <a:spcPts val="0"/>
              </a:spcAft>
              <a:buClr>
                <a:schemeClr val="lt1"/>
              </a:buClr>
              <a:buSzPts val="4500"/>
              <a:buFont typeface="Arial Black"/>
              <a:buNone/>
            </a:pPr>
            <a:r>
              <a:rPr lang="en-US" sz="4500">
                <a:solidFill>
                  <a:schemeClr val="lt1"/>
                </a:solidFill>
              </a:rPr>
              <a:t>Grading Handwritten Answers with Vision-Language Models</a:t>
            </a:r>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Draft tag"/>
          <p:cNvSpPr/>
          <p:nvPr/>
        </p:nvSpPr>
        <p:spPr>
          <a:xfrm>
            <a:off x="10058400" y="274320"/>
            <a:ext cx="1554480" cy="310896"/>
          </a:xfrm>
          <a:prstGeom prst="roundRect">
            <a:avLst/>
          </a:prstGeom>
          <a:noFill/>
          <a:ln w="9525">
            <a:solidFill>
              <a:srgbClr val="80828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5E6066"/>
                </a:solidFill>
              </a:rPr>
              <a:t>DRAFT · IDEA STAGE</a:t>
            </a:r>
          </a:p>
        </p:txBody>
      </p:sp>
      <p:sp>
        <p:nvSpPr>
          <p:cNvPr id="4" name="Rounded Rectangle 3"/>
          <p:cNvSpPr/>
          <p:nvPr/>
        </p:nvSpPr>
        <p:spPr>
          <a:xfrm>
            <a:off x="484632" y="1737360"/>
            <a:ext cx="5440680" cy="118872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58952" y="2103120"/>
            <a:ext cx="438912" cy="438912"/>
          </a:xfrm>
          <a:prstGeom prst="ellipse">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1</a:t>
            </a:r>
          </a:p>
        </p:txBody>
      </p:sp>
      <p:sp>
        <p:nvSpPr>
          <p:cNvPr id="6" name="TextBox 5"/>
          <p:cNvSpPr txBox="1"/>
          <p:nvPr/>
        </p:nvSpPr>
        <p:spPr>
          <a:xfrm>
            <a:off x="1399032" y="1938528"/>
            <a:ext cx="4297680" cy="822960"/>
          </a:xfrm>
          <a:prstGeom prst="rect">
            <a:avLst/>
          </a:prstGeom>
          <a:noFill/>
        </p:spPr>
        <p:txBody>
          <a:bodyPr wrap="square" anchor="t" lIns="0" rIns="0" tIns="0" bIns="0">
            <a:spAutoFit/>
          </a:bodyPr>
          <a:lstStyle/>
          <a:p>
            <a:pPr algn="l">
              <a:spcAft>
                <a:spcPts val="400"/>
              </a:spcAft>
            </a:pPr>
            <a:r>
              <a:rPr sz="2000" b="1" i="0">
                <a:solidFill>
                  <a:srgbClr val="2B2C30"/>
                </a:solidFill>
              </a:rPr>
              <a:t>Why</a:t>
            </a:r>
          </a:p>
          <a:p>
            <a:pPr algn="l">
              <a:spcAft>
                <a:spcPts val="400"/>
              </a:spcAft>
            </a:pPr>
            <a:r>
              <a:rPr sz="1400" b="0" i="0">
                <a:solidFill>
                  <a:srgbClr val="5E6066"/>
                </a:solidFill>
              </a:rPr>
              <a:t>Motivation, how STACK works, what exists</a:t>
            </a:r>
          </a:p>
        </p:txBody>
      </p:sp>
      <p:sp>
        <p:nvSpPr>
          <p:cNvPr id="7" name="Rounded Rectangle 6"/>
          <p:cNvSpPr/>
          <p:nvPr/>
        </p:nvSpPr>
        <p:spPr>
          <a:xfrm>
            <a:off x="6153912" y="1737360"/>
            <a:ext cx="5440680" cy="118872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428232" y="2103120"/>
            <a:ext cx="438912" cy="438912"/>
          </a:xfrm>
          <a:prstGeom prst="ellipse">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2</a:t>
            </a:r>
          </a:p>
        </p:txBody>
      </p:sp>
      <p:sp>
        <p:nvSpPr>
          <p:cNvPr id="9" name="TextBox 8"/>
          <p:cNvSpPr txBox="1"/>
          <p:nvPr/>
        </p:nvSpPr>
        <p:spPr>
          <a:xfrm>
            <a:off x="7068312" y="1938528"/>
            <a:ext cx="4297680" cy="822960"/>
          </a:xfrm>
          <a:prstGeom prst="rect">
            <a:avLst/>
          </a:prstGeom>
          <a:noFill/>
        </p:spPr>
        <p:txBody>
          <a:bodyPr wrap="square" anchor="t" lIns="0" rIns="0" tIns="0" bIns="0">
            <a:spAutoFit/>
          </a:bodyPr>
          <a:lstStyle/>
          <a:p>
            <a:pPr algn="l">
              <a:spcAft>
                <a:spcPts val="400"/>
              </a:spcAft>
            </a:pPr>
            <a:r>
              <a:rPr sz="2000" b="1" i="0">
                <a:solidFill>
                  <a:srgbClr val="2B2C30"/>
                </a:solidFill>
              </a:rPr>
              <a:t>What</a:t>
            </a:r>
          </a:p>
          <a:p>
            <a:pPr algn="l">
              <a:spcAft>
                <a:spcPts val="400"/>
              </a:spcAft>
            </a:pPr>
            <a:r>
              <a:rPr sz="1400" b="0" i="0">
                <a:solidFill>
                  <a:srgbClr val="5E6066"/>
                </a:solidFill>
              </a:rPr>
              <a:t>Three candidate tasks and one idea per task</a:t>
            </a:r>
          </a:p>
        </p:txBody>
      </p:sp>
      <p:sp>
        <p:nvSpPr>
          <p:cNvPr id="10" name="Rounded Rectangle 9"/>
          <p:cNvSpPr/>
          <p:nvPr/>
        </p:nvSpPr>
        <p:spPr>
          <a:xfrm>
            <a:off x="484632" y="3154680"/>
            <a:ext cx="5440680" cy="118872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58952" y="3520440"/>
            <a:ext cx="438912" cy="438912"/>
          </a:xfrm>
          <a:prstGeom prst="ellipse">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3</a:t>
            </a:r>
          </a:p>
        </p:txBody>
      </p:sp>
      <p:sp>
        <p:nvSpPr>
          <p:cNvPr id="12" name="TextBox 11"/>
          <p:cNvSpPr txBox="1"/>
          <p:nvPr/>
        </p:nvSpPr>
        <p:spPr>
          <a:xfrm>
            <a:off x="1399032" y="3355848"/>
            <a:ext cx="4297680" cy="822960"/>
          </a:xfrm>
          <a:prstGeom prst="rect">
            <a:avLst/>
          </a:prstGeom>
          <a:noFill/>
        </p:spPr>
        <p:txBody>
          <a:bodyPr wrap="square" anchor="t" lIns="0" rIns="0" tIns="0" bIns="0">
            <a:spAutoFit/>
          </a:bodyPr>
          <a:lstStyle/>
          <a:p>
            <a:pPr algn="l">
              <a:spcAft>
                <a:spcPts val="400"/>
              </a:spcAft>
            </a:pPr>
            <a:r>
              <a:rPr sz="2000" b="1" i="0">
                <a:solidFill>
                  <a:srgbClr val="2B2C30"/>
                </a:solidFill>
              </a:rPr>
              <a:t>Compare</a:t>
            </a:r>
          </a:p>
          <a:p>
            <a:pPr algn="l">
              <a:spcAft>
                <a:spcPts val="400"/>
              </a:spcAft>
            </a:pPr>
            <a:r>
              <a:rPr sz="1400" b="0" i="0">
                <a:solidFill>
                  <a:srgbClr val="5E6066"/>
                </a:solidFill>
              </a:rPr>
              <a:t>Tasks side by side: data, difficulty, value</a:t>
            </a:r>
          </a:p>
        </p:txBody>
      </p:sp>
      <p:sp>
        <p:nvSpPr>
          <p:cNvPr id="13" name="Rounded Rectangle 12"/>
          <p:cNvSpPr/>
          <p:nvPr/>
        </p:nvSpPr>
        <p:spPr>
          <a:xfrm>
            <a:off x="6153912" y="3154680"/>
            <a:ext cx="5440680" cy="118872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28232" y="3520440"/>
            <a:ext cx="438912" cy="438912"/>
          </a:xfrm>
          <a:prstGeom prst="ellipse">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4</a:t>
            </a:r>
          </a:p>
        </p:txBody>
      </p:sp>
      <p:sp>
        <p:nvSpPr>
          <p:cNvPr id="15" name="TextBox 14"/>
          <p:cNvSpPr txBox="1"/>
          <p:nvPr/>
        </p:nvSpPr>
        <p:spPr>
          <a:xfrm>
            <a:off x="7068312" y="3355848"/>
            <a:ext cx="4297680" cy="822960"/>
          </a:xfrm>
          <a:prstGeom prst="rect">
            <a:avLst/>
          </a:prstGeom>
          <a:noFill/>
        </p:spPr>
        <p:txBody>
          <a:bodyPr wrap="square" anchor="t" lIns="0" rIns="0" tIns="0" bIns="0">
            <a:spAutoFit/>
          </a:bodyPr>
          <a:lstStyle/>
          <a:p>
            <a:pPr algn="l">
              <a:spcAft>
                <a:spcPts val="400"/>
              </a:spcAft>
            </a:pPr>
            <a:r>
              <a:rPr sz="2000" b="1" i="0">
                <a:solidFill>
                  <a:srgbClr val="2B2C30"/>
                </a:solidFill>
              </a:rPr>
              <a:t>Resources</a:t>
            </a:r>
          </a:p>
          <a:p>
            <a:pPr algn="l">
              <a:spcAft>
                <a:spcPts val="400"/>
              </a:spcAft>
            </a:pPr>
            <a:r>
              <a:rPr sz="1400" b="0" i="0">
                <a:solidFill>
                  <a:srgbClr val="5E6066"/>
                </a:solidFill>
              </a:rPr>
              <a:t>Datasets, models on Hugging Face, key papers</a:t>
            </a:r>
          </a:p>
        </p:txBody>
      </p:sp>
      <p:sp>
        <p:nvSpPr>
          <p:cNvPr id="16" name="Rounded Rectangle 15"/>
          <p:cNvSpPr/>
          <p:nvPr/>
        </p:nvSpPr>
        <p:spPr>
          <a:xfrm>
            <a:off x="484632" y="4572000"/>
            <a:ext cx="5440680" cy="118872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58952" y="4937760"/>
            <a:ext cx="438912" cy="438912"/>
          </a:xfrm>
          <a:prstGeom prst="ellipse">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5</a:t>
            </a:r>
          </a:p>
        </p:txBody>
      </p:sp>
      <p:sp>
        <p:nvSpPr>
          <p:cNvPr id="18" name="TextBox 17"/>
          <p:cNvSpPr txBox="1"/>
          <p:nvPr/>
        </p:nvSpPr>
        <p:spPr>
          <a:xfrm>
            <a:off x="1399032" y="4773168"/>
            <a:ext cx="4297680" cy="822960"/>
          </a:xfrm>
          <a:prstGeom prst="rect">
            <a:avLst/>
          </a:prstGeom>
          <a:noFill/>
        </p:spPr>
        <p:txBody>
          <a:bodyPr wrap="square" anchor="t" lIns="0" rIns="0" tIns="0" bIns="0">
            <a:spAutoFit/>
          </a:bodyPr>
          <a:lstStyle/>
          <a:p>
            <a:pPr algn="l">
              <a:spcAft>
                <a:spcPts val="400"/>
              </a:spcAft>
            </a:pPr>
            <a:r>
              <a:rPr sz="2000" b="1" i="0">
                <a:solidFill>
                  <a:srgbClr val="2B2C30"/>
                </a:solidFill>
              </a:rPr>
              <a:t>How</a:t>
            </a:r>
          </a:p>
          <a:p>
            <a:pPr algn="l">
              <a:spcAft>
                <a:spcPts val="400"/>
              </a:spcAft>
            </a:pPr>
            <a:r>
              <a:rPr sz="1400" b="0" i="0">
                <a:solidFill>
                  <a:srgbClr val="5E6066"/>
                </a:solidFill>
              </a:rPr>
              <a:t>Approach, idea backlog, risks</a:t>
            </a:r>
          </a:p>
        </p:txBody>
      </p:sp>
      <p:sp>
        <p:nvSpPr>
          <p:cNvPr id="19" name="Rounded Rectangle 18"/>
          <p:cNvSpPr/>
          <p:nvPr/>
        </p:nvSpPr>
        <p:spPr>
          <a:xfrm>
            <a:off x="6153912" y="4572000"/>
            <a:ext cx="5440680" cy="118872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428232" y="4937760"/>
            <a:ext cx="438912" cy="438912"/>
          </a:xfrm>
          <a:prstGeom prst="ellipse">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6</a:t>
            </a:r>
          </a:p>
        </p:txBody>
      </p:sp>
      <p:sp>
        <p:nvSpPr>
          <p:cNvPr id="21" name="TextBox 20"/>
          <p:cNvSpPr txBox="1"/>
          <p:nvPr/>
        </p:nvSpPr>
        <p:spPr>
          <a:xfrm>
            <a:off x="7068312" y="4773168"/>
            <a:ext cx="4297680" cy="822960"/>
          </a:xfrm>
          <a:prstGeom prst="rect">
            <a:avLst/>
          </a:prstGeom>
          <a:noFill/>
        </p:spPr>
        <p:txBody>
          <a:bodyPr wrap="square" anchor="t" lIns="0" rIns="0" tIns="0" bIns="0">
            <a:spAutoFit/>
          </a:bodyPr>
          <a:lstStyle/>
          <a:p>
            <a:pPr algn="l">
              <a:spcAft>
                <a:spcPts val="400"/>
              </a:spcAft>
            </a:pPr>
            <a:r>
              <a:rPr sz="2000" b="1" i="0">
                <a:solidFill>
                  <a:srgbClr val="2B2C30"/>
                </a:solidFill>
              </a:rPr>
              <a:t>Next</a:t>
            </a:r>
          </a:p>
          <a:p>
            <a:pPr algn="l">
              <a:spcAft>
                <a:spcPts val="400"/>
              </a:spcAft>
            </a:pPr>
            <a:r>
              <a:rPr sz="1400" b="0" i="0">
                <a:solidFill>
                  <a:srgbClr val="5E6066"/>
                </a:solidFill>
              </a:rPr>
              <a:t>Draft research question, plan,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Motivation</a:t>
            </a:r>
          </a:p>
        </p:txBody>
      </p:sp>
      <p:sp>
        <p:nvSpPr>
          <p:cNvPr id="3" name="Draft tag"/>
          <p:cNvSpPr/>
          <p:nvPr/>
        </p:nvSpPr>
        <p:spPr>
          <a:xfrm>
            <a:off x="10058400" y="274320"/>
            <a:ext cx="1554480" cy="310896"/>
          </a:xfrm>
          <a:prstGeom prst="roundRect">
            <a:avLst/>
          </a:prstGeom>
          <a:noFill/>
          <a:ln w="9525">
            <a:solidFill>
              <a:srgbClr val="80828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5E6066"/>
                </a:solidFill>
              </a:rPr>
              <a:t>DRAFT · IDEA STAGE</a:t>
            </a:r>
          </a:p>
        </p:txBody>
      </p:sp>
      <p:sp>
        <p:nvSpPr>
          <p:cNvPr id="4" name="TextBox 3"/>
          <p:cNvSpPr txBox="1"/>
          <p:nvPr/>
        </p:nvSpPr>
        <p:spPr>
          <a:xfrm>
            <a:off x="484632" y="1737360"/>
            <a:ext cx="6035040" cy="4206240"/>
          </a:xfrm>
          <a:prstGeom prst="rect">
            <a:avLst/>
          </a:prstGeom>
          <a:noFill/>
        </p:spPr>
        <p:txBody>
          <a:bodyPr wrap="square" anchor="t" lIns="0" rIns="0" tIns="0" bIns="0">
            <a:spAutoFit/>
          </a:bodyPr>
          <a:lstStyle/>
          <a:p>
            <a:pPr algn="l" marL="182880" indent="-182880">
              <a:spcAft>
                <a:spcPts val="1400"/>
              </a:spcAft>
              <a:buChar char="•"/>
            </a:pPr>
            <a:r>
              <a:rPr sz="1800" b="0" i="0">
                <a:solidFill>
                  <a:srgbClr val="2B2C30"/>
                </a:solidFill>
              </a:rPr>
              <a:t>Teachers grade handwritten worksheets and exams by hand — </a:t>
            </a:r>
            <a:r>
              <a:rPr sz="1800" b="1" i="0">
                <a:solidFill>
                  <a:srgbClr val="2B2C30"/>
                </a:solidFill>
              </a:rPr>
              <a:t>slow and repetitive</a:t>
            </a:r>
          </a:p>
          <a:p>
            <a:pPr algn="l" marL="182880" indent="-182880">
              <a:spcAft>
                <a:spcPts val="1400"/>
              </a:spcAft>
              <a:buChar char="•"/>
            </a:pPr>
            <a:r>
              <a:rPr sz="1800" b="0" i="0">
                <a:solidFill>
                  <a:srgbClr val="2B2C30"/>
                </a:solidFill>
              </a:rPr>
              <a:t>ETH Zurich’s </a:t>
            </a:r>
            <a:r>
              <a:rPr sz="1800" b="1" i="0">
                <a:solidFill>
                  <a:srgbClr val="2B2C30"/>
                </a:solidFill>
              </a:rPr>
              <a:t>STACK</a:t>
            </a:r>
            <a:r>
              <a:rPr sz="1800" b="0" i="0">
                <a:solidFill>
                  <a:srgbClr val="2B2C30"/>
                </a:solidFill>
              </a:rPr>
              <a:t> grades math by meaning (2(x+1) = 2x+2), but only for </a:t>
            </a:r>
            <a:r>
              <a:rPr sz="1800" b="1" i="0">
                <a:solidFill>
                  <a:srgbClr val="2B2C30"/>
                </a:solidFill>
              </a:rPr>
              <a:t>typed</a:t>
            </a:r>
            <a:r>
              <a:rPr sz="1800" b="0" i="0">
                <a:solidFill>
                  <a:srgbClr val="2B2C30"/>
                </a:solidFill>
              </a:rPr>
              <a:t> answers</a:t>
            </a:r>
          </a:p>
          <a:p>
            <a:pPr algn="l" marL="182880" indent="-182880">
              <a:spcAft>
                <a:spcPts val="1400"/>
              </a:spcAft>
              <a:buChar char="•"/>
            </a:pPr>
            <a:r>
              <a:rPr sz="1800" b="0" i="0">
                <a:solidFill>
                  <a:srgbClr val="2B2C30"/>
                </a:solidFill>
              </a:rPr>
              <a:t>Vision-language models (VLMs) can now read handwriting and judge answers</a:t>
            </a:r>
          </a:p>
          <a:p>
            <a:pPr algn="l" marL="182880" indent="-182880">
              <a:spcAft>
                <a:spcPts val="1400"/>
              </a:spcAft>
              <a:buChar char="•"/>
            </a:pPr>
            <a:r>
              <a:rPr sz="1800" b="0" i="0">
                <a:solidFill>
                  <a:srgbClr val="2B2C30"/>
                </a:solidFill>
              </a:rPr>
              <a:t>Open question: how far can </a:t>
            </a:r>
            <a:r>
              <a:rPr sz="1800" b="1" i="0">
                <a:solidFill>
                  <a:srgbClr val="2B2C30"/>
                </a:solidFill>
              </a:rPr>
              <a:t>open, fine-tuned</a:t>
            </a:r>
            <a:r>
              <a:rPr sz="1800" b="0" i="0">
                <a:solidFill>
                  <a:srgbClr val="2B2C30"/>
                </a:solidFill>
              </a:rPr>
              <a:t> models get, and where do they fail?</a:t>
            </a:r>
          </a:p>
        </p:txBody>
      </p:sp>
      <p:sp>
        <p:nvSpPr>
          <p:cNvPr id="5" name="Rounded Rectangle 4"/>
          <p:cNvSpPr/>
          <p:nvPr/>
        </p:nvSpPr>
        <p:spPr>
          <a:xfrm>
            <a:off x="7086600" y="1737360"/>
            <a:ext cx="4526280" cy="19202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60920" y="1920240"/>
            <a:ext cx="4023360" cy="822960"/>
          </a:xfrm>
          <a:prstGeom prst="rect">
            <a:avLst/>
          </a:prstGeom>
          <a:noFill/>
        </p:spPr>
        <p:txBody>
          <a:bodyPr wrap="square" anchor="t" lIns="0" rIns="0" tIns="0" bIns="0">
            <a:spAutoFit/>
          </a:bodyPr>
          <a:lstStyle/>
          <a:p>
            <a:pPr algn="l">
              <a:spcAft>
                <a:spcPts val="400"/>
              </a:spcAft>
            </a:pPr>
            <a:r>
              <a:rPr sz="4800" b="1" i="0">
                <a:solidFill>
                  <a:srgbClr val="046E98"/>
                </a:solidFill>
              </a:rPr>
              <a:t>95%</a:t>
            </a:r>
          </a:p>
        </p:txBody>
      </p:sp>
      <p:sp>
        <p:nvSpPr>
          <p:cNvPr id="7" name="TextBox 6"/>
          <p:cNvSpPr txBox="1"/>
          <p:nvPr/>
        </p:nvSpPr>
        <p:spPr>
          <a:xfrm>
            <a:off x="7360920" y="2743200"/>
            <a:ext cx="4023360" cy="822960"/>
          </a:xfrm>
          <a:prstGeom prst="rect">
            <a:avLst/>
          </a:prstGeom>
          <a:noFill/>
        </p:spPr>
        <p:txBody>
          <a:bodyPr wrap="square" anchor="t" lIns="0" rIns="0" tIns="0" bIns="0">
            <a:spAutoFit/>
          </a:bodyPr>
          <a:lstStyle/>
          <a:p>
            <a:pPr algn="l">
              <a:spcAft>
                <a:spcPts val="400"/>
              </a:spcAft>
            </a:pPr>
            <a:r>
              <a:rPr sz="1400" b="0" i="0">
                <a:solidFill>
                  <a:srgbClr val="5E6066"/>
                </a:solidFill>
              </a:rPr>
              <a:t>rubric-item accuracy of the best VLM grader on university STEM exams</a:t>
            </a:r>
          </a:p>
        </p:txBody>
      </p:sp>
      <p:sp>
        <p:nvSpPr>
          <p:cNvPr id="8" name="Rounded Rectangle 7"/>
          <p:cNvSpPr/>
          <p:nvPr/>
        </p:nvSpPr>
        <p:spPr>
          <a:xfrm>
            <a:off x="7086600" y="3886200"/>
            <a:ext cx="4526280" cy="19202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60920" y="4069080"/>
            <a:ext cx="4023360" cy="822960"/>
          </a:xfrm>
          <a:prstGeom prst="rect">
            <a:avLst/>
          </a:prstGeom>
          <a:noFill/>
        </p:spPr>
        <p:txBody>
          <a:bodyPr wrap="square" anchor="t" lIns="0" rIns="0" tIns="0" bIns="0">
            <a:spAutoFit/>
          </a:bodyPr>
          <a:lstStyle/>
          <a:p>
            <a:pPr algn="l">
              <a:spcAft>
                <a:spcPts val="400"/>
              </a:spcAft>
            </a:pPr>
            <a:r>
              <a:rPr sz="4800" b="1" i="0">
                <a:solidFill>
                  <a:srgbClr val="046E98"/>
                </a:solidFill>
              </a:rPr>
              <a:t>87%</a:t>
            </a:r>
          </a:p>
        </p:txBody>
      </p:sp>
      <p:sp>
        <p:nvSpPr>
          <p:cNvPr id="10" name="TextBox 9"/>
          <p:cNvSpPr txBox="1"/>
          <p:nvPr/>
        </p:nvSpPr>
        <p:spPr>
          <a:xfrm>
            <a:off x="7360920" y="4892040"/>
            <a:ext cx="4023360" cy="822960"/>
          </a:xfrm>
          <a:prstGeom prst="rect">
            <a:avLst/>
          </a:prstGeom>
          <a:noFill/>
        </p:spPr>
        <p:txBody>
          <a:bodyPr wrap="square" anchor="t" lIns="0" rIns="0" tIns="0" bIns="0">
            <a:spAutoFit/>
          </a:bodyPr>
          <a:lstStyle/>
          <a:p>
            <a:pPr algn="l">
              <a:spcAft>
                <a:spcPts val="400"/>
              </a:spcAft>
            </a:pPr>
            <a:r>
              <a:rPr sz="1400" b="0" i="0">
                <a:solidFill>
                  <a:srgbClr val="5E6066"/>
                </a:solidFill>
              </a:rPr>
              <a:t>of one model’s grading errors came from misreading the handwriting</a:t>
            </a:r>
          </a:p>
        </p:txBody>
      </p:sp>
      <p:sp>
        <p:nvSpPr>
          <p:cNvPr id="11" name="TextBox 10"/>
          <p:cNvSpPr txBox="1"/>
          <p:nvPr/>
        </p:nvSpPr>
        <p:spPr>
          <a:xfrm>
            <a:off x="7086600" y="5897880"/>
            <a:ext cx="4526280" cy="274320"/>
          </a:xfrm>
          <a:prstGeom prst="rect">
            <a:avLst/>
          </a:prstGeom>
          <a:noFill/>
        </p:spPr>
        <p:txBody>
          <a:bodyPr wrap="square" anchor="t" lIns="0" rIns="0" tIns="0" bIns="0">
            <a:spAutoFit/>
          </a:bodyPr>
          <a:lstStyle/>
          <a:p>
            <a:pPr algn="l">
              <a:spcAft>
                <a:spcPts val="400"/>
              </a:spcAft>
            </a:pPr>
            <a:r>
              <a:rPr sz="1000" b="0" i="0">
                <a:solidFill>
                  <a:srgbClr val="5E6066"/>
                </a:solidFill>
              </a:rPr>
              <a:t>Levine et al., AIED 2026 (arXiv 2605.19043)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STACK works, and what we would change</a:t>
            </a:r>
          </a:p>
        </p:txBody>
      </p:sp>
      <p:sp>
        <p:nvSpPr>
          <p:cNvPr id="3" name="Draft tag"/>
          <p:cNvSpPr/>
          <p:nvPr/>
        </p:nvSpPr>
        <p:spPr>
          <a:xfrm>
            <a:off x="10058400" y="274320"/>
            <a:ext cx="1554480" cy="310896"/>
          </a:xfrm>
          <a:prstGeom prst="roundRect">
            <a:avLst/>
          </a:prstGeom>
          <a:noFill/>
          <a:ln w="9525">
            <a:solidFill>
              <a:srgbClr val="80828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5E6066"/>
                </a:solidFill>
              </a:rPr>
              <a:t>DRAFT · IDEA STAGE</a:t>
            </a:r>
          </a:p>
        </p:txBody>
      </p:sp>
      <p:sp>
        <p:nvSpPr>
          <p:cNvPr id="4" name="Rounded Rectangle 3"/>
          <p:cNvSpPr/>
          <p:nvPr/>
        </p:nvSpPr>
        <p:spPr>
          <a:xfrm>
            <a:off x="484632" y="1737360"/>
            <a:ext cx="1874519" cy="14630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67512" y="1874519"/>
            <a:ext cx="1508760" cy="1280160"/>
          </a:xfrm>
          <a:prstGeom prst="rect">
            <a:avLst/>
          </a:prstGeom>
          <a:noFill/>
        </p:spPr>
        <p:txBody>
          <a:bodyPr wrap="square" anchor="t" lIns="0" rIns="0" tIns="0" bIns="0">
            <a:spAutoFit/>
          </a:bodyPr>
          <a:lstStyle/>
          <a:p>
            <a:pPr algn="l">
              <a:spcAft>
                <a:spcPts val="600"/>
              </a:spcAft>
            </a:pPr>
            <a:r>
              <a:rPr sz="1600" b="1" i="0">
                <a:solidFill>
                  <a:srgbClr val="2B2C30"/>
                </a:solidFill>
              </a:rPr>
              <a:t>Teacher</a:t>
            </a:r>
          </a:p>
          <a:p>
            <a:pPr algn="l">
              <a:spcAft>
                <a:spcPts val="600"/>
              </a:spcAft>
            </a:pPr>
            <a:r>
              <a:rPr sz="1200" b="0" i="0">
                <a:solidFill>
                  <a:srgbClr val="5E6066"/>
                </a:solidFill>
              </a:rPr>
              <a:t>Question + model answer in Maxima</a:t>
            </a:r>
          </a:p>
        </p:txBody>
      </p:sp>
      <p:sp>
        <p:nvSpPr>
          <p:cNvPr id="6" name="Right Arrow 5"/>
          <p:cNvSpPr/>
          <p:nvPr/>
        </p:nvSpPr>
        <p:spPr>
          <a:xfrm>
            <a:off x="2423160" y="2331720"/>
            <a:ext cx="310896" cy="237744"/>
          </a:xfrm>
          <a:prstGeom prst="rightArrow">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2798063" y="1737360"/>
            <a:ext cx="1874519" cy="1463040"/>
          </a:xfrm>
          <a:prstGeom prst="roundRect">
            <a:avLst>
              <a:gd name="adj" fmla="val 6000"/>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980944" y="1874519"/>
            <a:ext cx="1508760" cy="1280160"/>
          </a:xfrm>
          <a:prstGeom prst="rect">
            <a:avLst/>
          </a:prstGeom>
          <a:noFill/>
        </p:spPr>
        <p:txBody>
          <a:bodyPr wrap="square" anchor="t" lIns="0" rIns="0" tIns="0" bIns="0">
            <a:spAutoFit/>
          </a:bodyPr>
          <a:lstStyle/>
          <a:p>
            <a:pPr algn="l">
              <a:spcAft>
                <a:spcPts val="600"/>
              </a:spcAft>
            </a:pPr>
            <a:r>
              <a:rPr sz="1600" b="1" i="0">
                <a:solidFill>
                  <a:srgbClr val="FFFFFF"/>
                </a:solidFill>
              </a:rPr>
              <a:t>Student types</a:t>
            </a:r>
          </a:p>
          <a:p>
            <a:pPr algn="l">
              <a:spcAft>
                <a:spcPts val="600"/>
              </a:spcAft>
            </a:pPr>
            <a:r>
              <a:rPr sz="1200" b="0" i="0">
                <a:solidFill>
                  <a:srgbClr val="FFFFFF"/>
                </a:solidFill>
              </a:rPr>
              <a:t>e.g. 2*(x+1)</a:t>
            </a:r>
          </a:p>
        </p:txBody>
      </p:sp>
      <p:sp>
        <p:nvSpPr>
          <p:cNvPr id="9" name="Right Arrow 8"/>
          <p:cNvSpPr/>
          <p:nvPr/>
        </p:nvSpPr>
        <p:spPr>
          <a:xfrm>
            <a:off x="4736592" y="2331720"/>
            <a:ext cx="310896" cy="237744"/>
          </a:xfrm>
          <a:prstGeom prst="rightArrow">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5111496" y="1737360"/>
            <a:ext cx="1874519" cy="14630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4376" y="1874519"/>
            <a:ext cx="1508760" cy="1280160"/>
          </a:xfrm>
          <a:prstGeom prst="rect">
            <a:avLst/>
          </a:prstGeom>
          <a:noFill/>
        </p:spPr>
        <p:txBody>
          <a:bodyPr wrap="square" anchor="t" lIns="0" rIns="0" tIns="0" bIns="0">
            <a:spAutoFit/>
          </a:bodyPr>
          <a:lstStyle/>
          <a:p>
            <a:pPr algn="l">
              <a:spcAft>
                <a:spcPts val="600"/>
              </a:spcAft>
            </a:pPr>
            <a:r>
              <a:rPr sz="1600" b="1" i="0">
                <a:solidFill>
                  <a:srgbClr val="2B2C30"/>
                </a:solidFill>
              </a:rPr>
              <a:t>Validate</a:t>
            </a:r>
          </a:p>
          <a:p>
            <a:pPr algn="l">
              <a:spcAft>
                <a:spcPts val="600"/>
              </a:spcAft>
            </a:pPr>
            <a:r>
              <a:rPr sz="1200" b="0" i="0">
                <a:solidFill>
                  <a:srgbClr val="5E6066"/>
                </a:solidFill>
              </a:rPr>
              <a:t>Parse and show back to the student</a:t>
            </a:r>
          </a:p>
        </p:txBody>
      </p:sp>
      <p:sp>
        <p:nvSpPr>
          <p:cNvPr id="12" name="Right Arrow 11"/>
          <p:cNvSpPr/>
          <p:nvPr/>
        </p:nvSpPr>
        <p:spPr>
          <a:xfrm>
            <a:off x="7050024" y="2331720"/>
            <a:ext cx="310896" cy="237744"/>
          </a:xfrm>
          <a:prstGeom prst="rightArrow">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7424927" y="1737360"/>
            <a:ext cx="1874519" cy="14630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607807" y="1874519"/>
            <a:ext cx="1508760" cy="1280160"/>
          </a:xfrm>
          <a:prstGeom prst="rect">
            <a:avLst/>
          </a:prstGeom>
          <a:noFill/>
        </p:spPr>
        <p:txBody>
          <a:bodyPr wrap="square" anchor="t" lIns="0" rIns="0" tIns="0" bIns="0">
            <a:spAutoFit/>
          </a:bodyPr>
          <a:lstStyle/>
          <a:p>
            <a:pPr algn="l">
              <a:spcAft>
                <a:spcPts val="600"/>
              </a:spcAft>
            </a:pPr>
            <a:r>
              <a:rPr sz="1600" b="1" i="0">
                <a:solidFill>
                  <a:srgbClr val="2B2C30"/>
                </a:solidFill>
              </a:rPr>
              <a:t>CAS tests</a:t>
            </a:r>
          </a:p>
          <a:p>
            <a:pPr algn="l">
              <a:spcAft>
                <a:spcPts val="600"/>
              </a:spcAft>
            </a:pPr>
            <a:r>
              <a:rPr sz="1200" b="0" i="0">
                <a:solidFill>
                  <a:srgbClr val="5E6066"/>
                </a:solidFill>
              </a:rPr>
              <a:t>Equivalence, form, units</a:t>
            </a:r>
          </a:p>
        </p:txBody>
      </p:sp>
      <p:sp>
        <p:nvSpPr>
          <p:cNvPr id="15" name="Right Arrow 14"/>
          <p:cNvSpPr/>
          <p:nvPr/>
        </p:nvSpPr>
        <p:spPr>
          <a:xfrm>
            <a:off x="9363455" y="2331720"/>
            <a:ext cx="310896" cy="237744"/>
          </a:xfrm>
          <a:prstGeom prst="rightArrow">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9738359" y="1737360"/>
            <a:ext cx="1874519" cy="14630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921239" y="1874519"/>
            <a:ext cx="1508760" cy="1280160"/>
          </a:xfrm>
          <a:prstGeom prst="rect">
            <a:avLst/>
          </a:prstGeom>
          <a:noFill/>
        </p:spPr>
        <p:txBody>
          <a:bodyPr wrap="square" anchor="t" lIns="0" rIns="0" tIns="0" bIns="0">
            <a:spAutoFit/>
          </a:bodyPr>
          <a:lstStyle/>
          <a:p>
            <a:pPr algn="l">
              <a:spcAft>
                <a:spcPts val="600"/>
              </a:spcAft>
            </a:pPr>
            <a:r>
              <a:rPr sz="1600" b="1" i="0">
                <a:solidFill>
                  <a:srgbClr val="2B2C30"/>
                </a:solidFill>
              </a:rPr>
              <a:t>Feedback</a:t>
            </a:r>
          </a:p>
          <a:p>
            <a:pPr algn="l">
              <a:spcAft>
                <a:spcPts val="600"/>
              </a:spcAft>
            </a:pPr>
            <a:r>
              <a:rPr sz="1200" b="0" i="0">
                <a:solidFill>
                  <a:srgbClr val="5E6066"/>
                </a:solidFill>
              </a:rPr>
              <a:t>Score + targeted hint</a:t>
            </a:r>
          </a:p>
        </p:txBody>
      </p:sp>
      <p:sp>
        <p:nvSpPr>
          <p:cNvPr id="18" name="TextBox 17"/>
          <p:cNvSpPr txBox="1"/>
          <p:nvPr/>
        </p:nvSpPr>
        <p:spPr>
          <a:xfrm>
            <a:off x="484632" y="3566160"/>
            <a:ext cx="5486400" cy="274320"/>
          </a:xfrm>
          <a:prstGeom prst="rect">
            <a:avLst/>
          </a:prstGeom>
          <a:noFill/>
        </p:spPr>
        <p:txBody>
          <a:bodyPr wrap="square" anchor="t" lIns="0" rIns="0" tIns="0" bIns="0">
            <a:spAutoFit/>
          </a:bodyPr>
          <a:lstStyle/>
          <a:p>
            <a:pPr algn="l">
              <a:spcAft>
                <a:spcPts val="400"/>
              </a:spcAft>
            </a:pPr>
            <a:r>
              <a:rPr sz="1200" b="1" i="0">
                <a:solidFill>
                  <a:srgbClr val="046E98"/>
                </a:solidFill>
              </a:rPr>
              <a:t>OUR CHANGE</a:t>
            </a:r>
          </a:p>
        </p:txBody>
      </p:sp>
      <p:sp>
        <p:nvSpPr>
          <p:cNvPr id="19" name="Rounded Rectangle 18"/>
          <p:cNvSpPr/>
          <p:nvPr/>
        </p:nvSpPr>
        <p:spPr>
          <a:xfrm>
            <a:off x="484632" y="3931920"/>
            <a:ext cx="11128248" cy="114300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58952" y="4023360"/>
            <a:ext cx="10579608" cy="960120"/>
          </a:xfrm>
          <a:prstGeom prst="rect">
            <a:avLst/>
          </a:prstGeom>
          <a:noFill/>
        </p:spPr>
        <p:txBody>
          <a:bodyPr wrap="square" anchor="ctr" lIns="0" rIns="0" tIns="0" bIns="0">
            <a:spAutoFit/>
          </a:bodyPr>
          <a:lstStyle/>
          <a:p>
            <a:pPr algn="l">
              <a:spcAft>
                <a:spcPts val="600"/>
              </a:spcAft>
            </a:pPr>
            <a:r>
              <a:rPr sz="1600" b="1" i="0">
                <a:solidFill>
                  <a:srgbClr val="5E6066"/>
                </a:solidFill>
              </a:rPr>
              <a:t>Student types  →  </a:t>
            </a:r>
            <a:r>
              <a:rPr sz="1600" b="1" i="0">
                <a:solidFill>
                  <a:srgbClr val="046E98"/>
                </a:solidFill>
              </a:rPr>
              <a:t>Student writes on paper, a model reads it</a:t>
            </a:r>
          </a:p>
          <a:p>
            <a:pPr algn="l">
              <a:spcAft>
                <a:spcPts val="600"/>
              </a:spcAft>
            </a:pPr>
            <a:r>
              <a:rPr sz="1600" b="0" i="0">
                <a:solidFill>
                  <a:srgbClr val="2B2C30"/>
                </a:solidFill>
              </a:rPr>
              <a:t>Everything after reading can stay STACK-like: a deterministic check by meaning, plus feedback.</a:t>
            </a:r>
          </a:p>
        </p:txBody>
      </p:sp>
      <p:sp>
        <p:nvSpPr>
          <p:cNvPr id="21" name="TextBox 20"/>
          <p:cNvSpPr txBox="1"/>
          <p:nvPr/>
        </p:nvSpPr>
        <p:spPr>
          <a:xfrm>
            <a:off x="484632" y="5349240"/>
            <a:ext cx="11128248" cy="640080"/>
          </a:xfrm>
          <a:prstGeom prst="rect">
            <a:avLst/>
          </a:prstGeom>
          <a:noFill/>
        </p:spPr>
        <p:txBody>
          <a:bodyPr wrap="square" anchor="t" lIns="0" rIns="0" tIns="0" bIns="0">
            <a:spAutoFit/>
          </a:bodyPr>
          <a:lstStyle/>
          <a:p>
            <a:pPr algn="l">
              <a:spcAft>
                <a:spcPts val="400"/>
              </a:spcAft>
            </a:pPr>
            <a:r>
              <a:rPr sz="1400" b="1" i="0">
                <a:solidFill>
                  <a:srgbClr val="5E6066"/>
                </a:solidFill>
              </a:rPr>
              <a:t>Open idea: </a:t>
            </a:r>
            <a:r>
              <a:rPr sz="1400" b="0" i="0">
                <a:solidFill>
                  <a:srgbClr val="5E6066"/>
                </a:solidFill>
              </a:rPr>
              <a:t>show the student the model’s reading before grading, as STACK’s validation step does (cf. ITiCSE 2026 “correcting transcripts” study).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already exists</a:t>
            </a:r>
          </a:p>
        </p:txBody>
      </p:sp>
      <p:sp>
        <p:nvSpPr>
          <p:cNvPr id="3" name="Draft tag"/>
          <p:cNvSpPr/>
          <p:nvPr/>
        </p:nvSpPr>
        <p:spPr>
          <a:xfrm>
            <a:off x="10058400" y="274320"/>
            <a:ext cx="1554480" cy="310896"/>
          </a:xfrm>
          <a:prstGeom prst="roundRect">
            <a:avLst/>
          </a:prstGeom>
          <a:noFill/>
          <a:ln w="9525">
            <a:solidFill>
              <a:srgbClr val="80828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5E6066"/>
                </a:solidFill>
              </a:rPr>
              <a:t>DRAFT · IDEA STAGE</a:t>
            </a:r>
          </a:p>
        </p:txBody>
      </p:sp>
      <p:sp>
        <p:nvSpPr>
          <p:cNvPr id="4" name="Rounded Rectangle 3"/>
          <p:cNvSpPr/>
          <p:nvPr/>
        </p:nvSpPr>
        <p:spPr>
          <a:xfrm>
            <a:off x="484632" y="1691640"/>
            <a:ext cx="3526536" cy="35204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58952" y="1965960"/>
            <a:ext cx="2977896" cy="3108960"/>
          </a:xfrm>
          <a:prstGeom prst="rect">
            <a:avLst/>
          </a:prstGeom>
          <a:noFill/>
        </p:spPr>
        <p:txBody>
          <a:bodyPr wrap="square" anchor="t" lIns="0" rIns="0" tIns="0" bIns="0">
            <a:spAutoFit/>
          </a:bodyPr>
          <a:lstStyle/>
          <a:p>
            <a:pPr algn="l">
              <a:spcAft>
                <a:spcPts val="1400"/>
              </a:spcAft>
            </a:pPr>
            <a:r>
              <a:rPr sz="1200" b="1" i="0">
                <a:solidFill>
                  <a:srgbClr val="046E98"/>
                </a:solidFill>
              </a:rPr>
              <a:t>TYPED + COMPUTER ALGEBRA</a:t>
            </a:r>
          </a:p>
          <a:p>
            <a:pPr algn="l">
              <a:spcAft>
                <a:spcPts val="1400"/>
              </a:spcAft>
            </a:pPr>
            <a:r>
              <a:rPr sz="2000" b="1" i="0">
                <a:solidFill>
                  <a:srgbClr val="2B2C30"/>
                </a:solidFill>
              </a:rPr>
              <a:t>STACK (ETH), Numbas, WeBWorK, PrairieLearn</a:t>
            </a:r>
          </a:p>
          <a:p>
            <a:pPr algn="l">
              <a:spcAft>
                <a:spcPts val="1400"/>
              </a:spcAft>
            </a:pPr>
            <a:r>
              <a:rPr sz="1500" b="0" i="0">
                <a:solidFill>
                  <a:srgbClr val="5E6066"/>
                </a:solidFill>
              </a:rPr>
              <a:t>Checks answers by mathematical meaning; randomised questions; instant feedback.</a:t>
            </a:r>
          </a:p>
          <a:p>
            <a:pPr algn="l">
              <a:spcAft>
                <a:spcPts val="1400"/>
              </a:spcAft>
            </a:pPr>
            <a:r>
              <a:rPr sz="1500" b="1" i="0">
                <a:solidFill>
                  <a:srgbClr val="2B2C30"/>
                </a:solidFill>
              </a:rPr>
              <a:t>Limit: students must type their math.</a:t>
            </a:r>
          </a:p>
        </p:txBody>
      </p:sp>
      <p:sp>
        <p:nvSpPr>
          <p:cNvPr id="6" name="Rounded Rectangle 5"/>
          <p:cNvSpPr/>
          <p:nvPr/>
        </p:nvSpPr>
        <p:spPr>
          <a:xfrm>
            <a:off x="4285488" y="1691640"/>
            <a:ext cx="3526536" cy="35204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559808" y="1965960"/>
            <a:ext cx="2977896" cy="3108960"/>
          </a:xfrm>
          <a:prstGeom prst="rect">
            <a:avLst/>
          </a:prstGeom>
          <a:noFill/>
        </p:spPr>
        <p:txBody>
          <a:bodyPr wrap="square" anchor="t" lIns="0" rIns="0" tIns="0" bIns="0">
            <a:spAutoFit/>
          </a:bodyPr>
          <a:lstStyle/>
          <a:p>
            <a:pPr algn="l">
              <a:spcAft>
                <a:spcPts val="1400"/>
              </a:spcAft>
            </a:pPr>
            <a:r>
              <a:rPr sz="1200" b="1" i="0">
                <a:solidFill>
                  <a:srgbClr val="046E98"/>
                </a:solidFill>
              </a:rPr>
              <a:t>HANDWRITTEN + AI ASSIST</a:t>
            </a:r>
          </a:p>
          <a:p>
            <a:pPr algn="l">
              <a:spcAft>
                <a:spcPts val="1400"/>
              </a:spcAft>
            </a:pPr>
            <a:r>
              <a:rPr sz="2000" b="1" i="0">
                <a:solidFill>
                  <a:srgbClr val="2B2C30"/>
                </a:solidFill>
              </a:rPr>
              <a:t>Gradescope (Turnitin)</a:t>
            </a:r>
          </a:p>
          <a:p>
            <a:pPr algn="l">
              <a:spcAft>
                <a:spcPts val="1400"/>
              </a:spcAft>
            </a:pPr>
            <a:r>
              <a:rPr sz="1500" b="0" i="0">
                <a:solidFill>
                  <a:srgbClr val="5E6066"/>
                </a:solidFill>
              </a:rPr>
              <a:t>AI groups similar handwritten answers; the instructor grades each group once.</a:t>
            </a:r>
          </a:p>
          <a:p>
            <a:pPr algn="l">
              <a:spcAft>
                <a:spcPts val="1400"/>
              </a:spcAft>
            </a:pPr>
            <a:r>
              <a:rPr sz="1500" b="1" i="0">
                <a:solidFill>
                  <a:srgbClr val="2B2C30"/>
                </a:solidFill>
              </a:rPr>
              <a:t>Limit: a human still decides; fixed-template PDFs only.</a:t>
            </a:r>
          </a:p>
        </p:txBody>
      </p:sp>
      <p:sp>
        <p:nvSpPr>
          <p:cNvPr id="8" name="Rounded Rectangle 7"/>
          <p:cNvSpPr/>
          <p:nvPr/>
        </p:nvSpPr>
        <p:spPr>
          <a:xfrm>
            <a:off x="8086344" y="1691640"/>
            <a:ext cx="3526536" cy="35204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360664" y="1965960"/>
            <a:ext cx="2977896" cy="3108960"/>
          </a:xfrm>
          <a:prstGeom prst="rect">
            <a:avLst/>
          </a:prstGeom>
          <a:noFill/>
        </p:spPr>
        <p:txBody>
          <a:bodyPr wrap="square" anchor="t" lIns="0" rIns="0" tIns="0" bIns="0">
            <a:spAutoFit/>
          </a:bodyPr>
          <a:lstStyle/>
          <a:p>
            <a:pPr algn="l">
              <a:spcAft>
                <a:spcPts val="1400"/>
              </a:spcAft>
            </a:pPr>
            <a:r>
              <a:rPr sz="1200" b="1" i="0">
                <a:solidFill>
                  <a:srgbClr val="046E98"/>
                </a:solidFill>
              </a:rPr>
              <a:t>RESEARCH: VLM GRADERS</a:t>
            </a:r>
          </a:p>
          <a:p>
            <a:pPr algn="l">
              <a:spcAft>
                <a:spcPts val="1400"/>
              </a:spcAft>
            </a:pPr>
            <a:r>
              <a:rPr sz="2000" b="1" i="0">
                <a:solidFill>
                  <a:srgbClr val="2B2C30"/>
                </a:solidFill>
              </a:rPr>
              <a:t>Gemini, GPT, Qwen-VL (2025–26)</a:t>
            </a:r>
          </a:p>
          <a:p>
            <a:pPr algn="l">
              <a:spcAft>
                <a:spcPts val="1400"/>
              </a:spcAft>
            </a:pPr>
            <a:r>
              <a:rPr sz="1500" b="0" i="0">
                <a:solidFill>
                  <a:srgbClr val="5E6066"/>
                </a:solidFill>
              </a:rPr>
              <a:t>Read the scan and judge it directly against a rubric or answer key.</a:t>
            </a:r>
          </a:p>
          <a:p>
            <a:pPr algn="l">
              <a:spcAft>
                <a:spcPts val="1400"/>
              </a:spcAft>
            </a:pPr>
            <a:r>
              <a:rPr sz="1500" b="1" i="0">
                <a:solidFill>
                  <a:srgbClr val="2B2C30"/>
                </a:solidFill>
              </a:rPr>
              <a:t>Limit: no symbolic check; errors mostly from reading.</a:t>
            </a:r>
          </a:p>
        </p:txBody>
      </p:sp>
      <p:sp>
        <p:nvSpPr>
          <p:cNvPr id="10" name="Rounded Rectangle 9"/>
          <p:cNvSpPr/>
          <p:nvPr/>
        </p:nvSpPr>
        <p:spPr>
          <a:xfrm>
            <a:off x="484632" y="5532120"/>
            <a:ext cx="11128248" cy="548640"/>
          </a:xfrm>
          <a:prstGeom prst="roundRect">
            <a:avLst>
              <a:gd name="adj" fmla="val 6000"/>
            </a:avLst>
          </a:prstGeom>
          <a:solidFill>
            <a:srgbClr val="808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8952" y="5532120"/>
            <a:ext cx="10579608" cy="548640"/>
          </a:xfrm>
          <a:prstGeom prst="rect">
            <a:avLst/>
          </a:prstGeom>
          <a:noFill/>
        </p:spPr>
        <p:txBody>
          <a:bodyPr wrap="square" anchor="ctr" lIns="0" rIns="0" tIns="0" bIns="0">
            <a:spAutoFit/>
          </a:bodyPr>
          <a:lstStyle/>
          <a:p>
            <a:pPr algn="l">
              <a:spcAft>
                <a:spcPts val="400"/>
              </a:spcAft>
            </a:pPr>
            <a:r>
              <a:rPr sz="1500" b="1" i="0">
                <a:solidFill>
                  <a:srgbClr val="FFFFFF"/>
                </a:solidFill>
              </a:rPr>
              <a:t>Gap: </a:t>
            </a:r>
            <a:r>
              <a:rPr sz="1500" b="0" i="0">
                <a:solidFill>
                  <a:srgbClr val="FFFFFF"/>
                </a:solidFill>
              </a:rPr>
              <a:t>handwritten input combined with a STACK-like meaning check, measured end to end.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Topic: three grading tasks, from easy to hard</a:t>
            </a:r>
          </a:p>
        </p:txBody>
      </p:sp>
      <p:sp>
        <p:nvSpPr>
          <p:cNvPr id="3" name="Draft tag"/>
          <p:cNvSpPr/>
          <p:nvPr/>
        </p:nvSpPr>
        <p:spPr>
          <a:xfrm>
            <a:off x="10058400" y="274320"/>
            <a:ext cx="1554480" cy="310896"/>
          </a:xfrm>
          <a:prstGeom prst="roundRect">
            <a:avLst/>
          </a:prstGeom>
          <a:noFill/>
          <a:ln w="9525">
            <a:solidFill>
              <a:srgbClr val="80828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5E6066"/>
                </a:solidFill>
              </a:rPr>
              <a:t>DRAFT · IDEA STAGE</a:t>
            </a:r>
          </a:p>
        </p:txBody>
      </p:sp>
      <p:sp>
        <p:nvSpPr>
          <p:cNvPr id="4" name="Rounded Rectangle 3"/>
          <p:cNvSpPr/>
          <p:nvPr/>
        </p:nvSpPr>
        <p:spPr>
          <a:xfrm>
            <a:off x="484632" y="1691640"/>
            <a:ext cx="3526536" cy="365760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58952" y="1965960"/>
            <a:ext cx="438912" cy="438912"/>
          </a:xfrm>
          <a:prstGeom prst="ellipse">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1</a:t>
            </a:r>
          </a:p>
        </p:txBody>
      </p:sp>
      <p:sp>
        <p:nvSpPr>
          <p:cNvPr id="6" name="TextBox 5"/>
          <p:cNvSpPr txBox="1"/>
          <p:nvPr/>
        </p:nvSpPr>
        <p:spPr>
          <a:xfrm>
            <a:off x="1353312" y="2039112"/>
            <a:ext cx="2429256" cy="320040"/>
          </a:xfrm>
          <a:prstGeom prst="rect">
            <a:avLst/>
          </a:prstGeom>
          <a:noFill/>
        </p:spPr>
        <p:txBody>
          <a:bodyPr wrap="square" anchor="t" lIns="0" rIns="0" tIns="0" bIns="0">
            <a:spAutoFit/>
          </a:bodyPr>
          <a:lstStyle/>
          <a:p>
            <a:pPr algn="l">
              <a:spcAft>
                <a:spcPts val="400"/>
              </a:spcAft>
            </a:pPr>
            <a:r>
              <a:rPr sz="1200" b="1" i="0">
                <a:solidFill>
                  <a:srgbClr val="046E98"/>
                </a:solidFill>
              </a:rPr>
              <a:t>EASY</a:t>
            </a:r>
          </a:p>
        </p:txBody>
      </p:sp>
      <p:sp>
        <p:nvSpPr>
          <p:cNvPr id="7" name="TextBox 6"/>
          <p:cNvSpPr txBox="1"/>
          <p:nvPr/>
        </p:nvSpPr>
        <p:spPr>
          <a:xfrm>
            <a:off x="758952" y="2606040"/>
            <a:ext cx="2977896" cy="2651760"/>
          </a:xfrm>
          <a:prstGeom prst="rect">
            <a:avLst/>
          </a:prstGeom>
          <a:noFill/>
        </p:spPr>
        <p:txBody>
          <a:bodyPr wrap="square" anchor="t" lIns="0" rIns="0" tIns="0" bIns="0">
            <a:spAutoFit/>
          </a:bodyPr>
          <a:lstStyle/>
          <a:p>
            <a:pPr algn="l">
              <a:spcAft>
                <a:spcPts val="1000"/>
              </a:spcAft>
            </a:pPr>
            <a:r>
              <a:rPr sz="2000" b="1" i="0">
                <a:solidFill>
                  <a:srgbClr val="2B2C30"/>
                </a:solidFill>
              </a:rPr>
              <a:t>Fill-the-gaps worksheets</a:t>
            </a:r>
          </a:p>
          <a:p>
            <a:pPr algn="l">
              <a:spcAft>
                <a:spcPts val="1000"/>
              </a:spcAft>
            </a:pPr>
            <a:r>
              <a:rPr sz="1400" b="0" i="0">
                <a:solidFill>
                  <a:srgbClr val="5E6066"/>
                </a:solidFill>
              </a:rPr>
              <a:t>Printed text with gaps; students write in the missing words.</a:t>
            </a:r>
          </a:p>
          <a:p>
            <a:pPr algn="l">
              <a:spcAft>
                <a:spcPts val="1000"/>
              </a:spcAft>
            </a:pPr>
            <a:r>
              <a:rPr sz="1400" b="1" i="0">
                <a:solidFill>
                  <a:srgbClr val="2B2C30"/>
                </a:solidFill>
              </a:rPr>
              <a:t>Model task: </a:t>
            </a:r>
            <a:r>
              <a:rPr sz="1400" b="0" i="0">
                <a:solidFill>
                  <a:srgbClr val="2B2C30"/>
                </a:solidFill>
              </a:rPr>
              <a:t>Read each gap, compare with the answer key (spelling variants).</a:t>
            </a:r>
          </a:p>
          <a:p>
            <a:pPr algn="l">
              <a:spcAft>
                <a:spcPts val="1000"/>
              </a:spcAft>
            </a:pPr>
            <a:r>
              <a:rPr sz="1400" b="1" i="0">
                <a:solidFill>
                  <a:srgbClr val="2B2C30"/>
                </a:solidFill>
              </a:rPr>
              <a:t>Hard part: </a:t>
            </a:r>
            <a:r>
              <a:rPr sz="1400" b="0" i="0">
                <a:solidFill>
                  <a:srgbClr val="2B2C30"/>
                </a:solidFill>
              </a:rPr>
              <a:t>Small handwriting inside printed text</a:t>
            </a:r>
          </a:p>
        </p:txBody>
      </p:sp>
      <p:sp>
        <p:nvSpPr>
          <p:cNvPr id="8" name="Rounded Rectangle 7"/>
          <p:cNvSpPr/>
          <p:nvPr/>
        </p:nvSpPr>
        <p:spPr>
          <a:xfrm>
            <a:off x="4285488" y="1691640"/>
            <a:ext cx="3526536" cy="365760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559808" y="1965960"/>
            <a:ext cx="438912" cy="438912"/>
          </a:xfrm>
          <a:prstGeom prst="ellipse">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2</a:t>
            </a:r>
          </a:p>
        </p:txBody>
      </p:sp>
      <p:sp>
        <p:nvSpPr>
          <p:cNvPr id="10" name="TextBox 9"/>
          <p:cNvSpPr txBox="1"/>
          <p:nvPr/>
        </p:nvSpPr>
        <p:spPr>
          <a:xfrm>
            <a:off x="5154168" y="2039112"/>
            <a:ext cx="2429256" cy="320040"/>
          </a:xfrm>
          <a:prstGeom prst="rect">
            <a:avLst/>
          </a:prstGeom>
          <a:noFill/>
        </p:spPr>
        <p:txBody>
          <a:bodyPr wrap="square" anchor="t" lIns="0" rIns="0" tIns="0" bIns="0">
            <a:spAutoFit/>
          </a:bodyPr>
          <a:lstStyle/>
          <a:p>
            <a:pPr algn="l">
              <a:spcAft>
                <a:spcPts val="400"/>
              </a:spcAft>
            </a:pPr>
            <a:r>
              <a:rPr sz="1200" b="1" i="0">
                <a:solidFill>
                  <a:srgbClr val="046E98"/>
                </a:solidFill>
              </a:rPr>
              <a:t>MEDIUM</a:t>
            </a:r>
          </a:p>
        </p:txBody>
      </p:sp>
      <p:sp>
        <p:nvSpPr>
          <p:cNvPr id="11" name="TextBox 10"/>
          <p:cNvSpPr txBox="1"/>
          <p:nvPr/>
        </p:nvSpPr>
        <p:spPr>
          <a:xfrm>
            <a:off x="4559808" y="2606040"/>
            <a:ext cx="2977896" cy="2651760"/>
          </a:xfrm>
          <a:prstGeom prst="rect">
            <a:avLst/>
          </a:prstGeom>
          <a:noFill/>
        </p:spPr>
        <p:txBody>
          <a:bodyPr wrap="square" anchor="t" lIns="0" rIns="0" tIns="0" bIns="0">
            <a:spAutoFit/>
          </a:bodyPr>
          <a:lstStyle/>
          <a:p>
            <a:pPr algn="l">
              <a:spcAft>
                <a:spcPts val="1000"/>
              </a:spcAft>
            </a:pPr>
            <a:r>
              <a:rPr sz="2000" b="1" i="0">
                <a:solidFill>
                  <a:srgbClr val="2B2C30"/>
                </a:solidFill>
              </a:rPr>
              <a:t>Free-form handwritten text</a:t>
            </a:r>
          </a:p>
          <a:p>
            <a:pPr algn="l">
              <a:spcAft>
                <a:spcPts val="1000"/>
              </a:spcAft>
            </a:pPr>
            <a:r>
              <a:rPr sz="1400" b="0" i="0">
                <a:solidFill>
                  <a:srgbClr val="5E6066"/>
                </a:solidFill>
              </a:rPr>
              <a:t>Essays in any language (most data is English).</a:t>
            </a:r>
          </a:p>
          <a:p>
            <a:pPr algn="l">
              <a:spcAft>
                <a:spcPts val="1000"/>
              </a:spcAft>
            </a:pPr>
            <a:r>
              <a:rPr sz="1400" b="1" i="0">
                <a:solidFill>
                  <a:srgbClr val="2B2C30"/>
                </a:solidFill>
              </a:rPr>
              <a:t>Model task: </a:t>
            </a:r>
            <a:r>
              <a:rPr sz="1400" b="0" i="0">
                <a:solidFill>
                  <a:srgbClr val="2B2C30"/>
                </a:solidFill>
              </a:rPr>
              <a:t>Transcribe the full page, then score it with a rubric.</a:t>
            </a:r>
          </a:p>
          <a:p>
            <a:pPr algn="l">
              <a:spcAft>
                <a:spcPts val="1000"/>
              </a:spcAft>
            </a:pPr>
            <a:r>
              <a:rPr sz="1400" b="1" i="0">
                <a:solidFill>
                  <a:srgbClr val="2B2C30"/>
                </a:solidFill>
              </a:rPr>
              <a:t>Hard part: </a:t>
            </a:r>
            <a:r>
              <a:rPr sz="1400" b="0" i="0">
                <a:solidFill>
                  <a:srgbClr val="2B2C30"/>
                </a:solidFill>
              </a:rPr>
              <a:t>Messy handwriting, crossed-out and corrected words</a:t>
            </a:r>
          </a:p>
        </p:txBody>
      </p:sp>
      <p:sp>
        <p:nvSpPr>
          <p:cNvPr id="12" name="Rounded Rectangle 11"/>
          <p:cNvSpPr/>
          <p:nvPr/>
        </p:nvSpPr>
        <p:spPr>
          <a:xfrm>
            <a:off x="8086344" y="1691640"/>
            <a:ext cx="3526536" cy="365760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8360664" y="1965960"/>
            <a:ext cx="438912" cy="438912"/>
          </a:xfrm>
          <a:prstGeom prst="ellipse">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3</a:t>
            </a:r>
          </a:p>
        </p:txBody>
      </p:sp>
      <p:sp>
        <p:nvSpPr>
          <p:cNvPr id="14" name="TextBox 13"/>
          <p:cNvSpPr txBox="1"/>
          <p:nvPr/>
        </p:nvSpPr>
        <p:spPr>
          <a:xfrm>
            <a:off x="8955024" y="2039112"/>
            <a:ext cx="2429256" cy="320040"/>
          </a:xfrm>
          <a:prstGeom prst="rect">
            <a:avLst/>
          </a:prstGeom>
          <a:noFill/>
        </p:spPr>
        <p:txBody>
          <a:bodyPr wrap="square" anchor="t" lIns="0" rIns="0" tIns="0" bIns="0">
            <a:spAutoFit/>
          </a:bodyPr>
          <a:lstStyle/>
          <a:p>
            <a:pPr algn="l">
              <a:spcAft>
                <a:spcPts val="400"/>
              </a:spcAft>
            </a:pPr>
            <a:r>
              <a:rPr sz="1200" b="1" i="0">
                <a:solidFill>
                  <a:srgbClr val="046E98"/>
                </a:solidFill>
              </a:rPr>
              <a:t>HARD</a:t>
            </a:r>
          </a:p>
        </p:txBody>
      </p:sp>
      <p:sp>
        <p:nvSpPr>
          <p:cNvPr id="15" name="TextBox 14"/>
          <p:cNvSpPr txBox="1"/>
          <p:nvPr/>
        </p:nvSpPr>
        <p:spPr>
          <a:xfrm>
            <a:off x="8360664" y="2606040"/>
            <a:ext cx="2977896" cy="2651760"/>
          </a:xfrm>
          <a:prstGeom prst="rect">
            <a:avLst/>
          </a:prstGeom>
          <a:noFill/>
        </p:spPr>
        <p:txBody>
          <a:bodyPr wrap="square" anchor="t" lIns="0" rIns="0" tIns="0" bIns="0">
            <a:spAutoFit/>
          </a:bodyPr>
          <a:lstStyle/>
          <a:p>
            <a:pPr algn="l">
              <a:spcAft>
                <a:spcPts val="1000"/>
              </a:spcAft>
            </a:pPr>
            <a:r>
              <a:rPr sz="2000" b="1" i="0">
                <a:solidFill>
                  <a:srgbClr val="2B2C30"/>
                </a:solidFill>
              </a:rPr>
              <a:t>General math</a:t>
            </a:r>
          </a:p>
          <a:p>
            <a:pPr algn="l">
              <a:spcAft>
                <a:spcPts val="1000"/>
              </a:spcAft>
            </a:pPr>
            <a:r>
              <a:rPr sz="1400" b="0" i="0">
                <a:solidFill>
                  <a:srgbClr val="5E6066"/>
                </a:solidFill>
              </a:rPr>
              <a:t>Formulas and derivations.</a:t>
            </a:r>
          </a:p>
          <a:p>
            <a:pPr algn="l">
              <a:spcAft>
                <a:spcPts val="1000"/>
              </a:spcAft>
            </a:pPr>
            <a:r>
              <a:rPr sz="1400" b="1" i="0">
                <a:solidFill>
                  <a:srgbClr val="2B2C30"/>
                </a:solidFill>
              </a:rPr>
              <a:t>Model task: </a:t>
            </a:r>
            <a:r>
              <a:rPr sz="1400" b="0" i="0">
                <a:solidFill>
                  <a:srgbClr val="2B2C30"/>
                </a:solidFill>
              </a:rPr>
              <a:t>Formula → LaTeX, then check each step by meaning, like STACK.</a:t>
            </a:r>
          </a:p>
          <a:p>
            <a:pPr algn="l">
              <a:spcAft>
                <a:spcPts val="1000"/>
              </a:spcAft>
            </a:pPr>
            <a:r>
              <a:rPr sz="1400" b="1" i="0">
                <a:solidFill>
                  <a:srgbClr val="2B2C30"/>
                </a:solidFill>
              </a:rPr>
              <a:t>Hard part: </a:t>
            </a:r>
            <a:r>
              <a:rPr sz="1400" b="0" i="0">
                <a:solidFill>
                  <a:srgbClr val="2B2C30"/>
                </a:solidFill>
              </a:rPr>
              <a:t>2-D notation; a typo is not always a real error</a:t>
            </a:r>
          </a:p>
        </p:txBody>
      </p:sp>
      <p:sp>
        <p:nvSpPr>
          <p:cNvPr id="16" name="Rounded Rectangle 15"/>
          <p:cNvSpPr/>
          <p:nvPr/>
        </p:nvSpPr>
        <p:spPr>
          <a:xfrm>
            <a:off x="484632" y="5532120"/>
            <a:ext cx="11128248" cy="548640"/>
          </a:xfrm>
          <a:prstGeom prst="roundRect">
            <a:avLst>
              <a:gd name="adj" fmla="val 6000"/>
            </a:avLst>
          </a:prstGeom>
          <a:solidFill>
            <a:srgbClr val="808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58952" y="5532120"/>
            <a:ext cx="10579608" cy="548640"/>
          </a:xfrm>
          <a:prstGeom prst="rect">
            <a:avLst/>
          </a:prstGeom>
          <a:noFill/>
        </p:spPr>
        <p:txBody>
          <a:bodyPr wrap="square" anchor="ctr" lIns="0" rIns="0" tIns="0" bIns="0">
            <a:spAutoFit/>
          </a:bodyPr>
          <a:lstStyle/>
          <a:p>
            <a:pPr algn="l">
              <a:spcAft>
                <a:spcPts val="400"/>
              </a:spcAft>
            </a:pPr>
            <a:r>
              <a:rPr sz="1500" b="1" i="0">
                <a:solidFill>
                  <a:srgbClr val="FFFFFF"/>
                </a:solidFill>
              </a:rPr>
              <a:t>Scope: </a:t>
            </a:r>
            <a:r>
              <a:rPr sz="1500" b="0" i="0">
                <a:solidFill>
                  <a:srgbClr val="FFFFFF"/>
                </a:solidFill>
              </a:rPr>
              <a:t>pick about two tasks, based on which public datasets exist. Building our own dataset is out of scope.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Idea 1: fill-the-gaps worksheets</a:t>
            </a:r>
          </a:p>
        </p:txBody>
      </p:sp>
      <p:sp>
        <p:nvSpPr>
          <p:cNvPr id="3" name="Draft tag"/>
          <p:cNvSpPr/>
          <p:nvPr/>
        </p:nvSpPr>
        <p:spPr>
          <a:xfrm>
            <a:off x="10058400" y="274320"/>
            <a:ext cx="1554480" cy="310896"/>
          </a:xfrm>
          <a:prstGeom prst="roundRect">
            <a:avLst/>
          </a:prstGeom>
          <a:noFill/>
          <a:ln w="9525">
            <a:solidFill>
              <a:srgbClr val="80828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5E6066"/>
                </a:solidFill>
              </a:rPr>
              <a:t>DRAFT · IDEA STAGE</a:t>
            </a:r>
          </a:p>
        </p:txBody>
      </p:sp>
      <p:sp>
        <p:nvSpPr>
          <p:cNvPr id="4" name="Rounded Rectangle 3"/>
          <p:cNvSpPr/>
          <p:nvPr/>
        </p:nvSpPr>
        <p:spPr>
          <a:xfrm>
            <a:off x="484632" y="1691640"/>
            <a:ext cx="4206240" cy="425196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58952" y="1920240"/>
            <a:ext cx="438912" cy="438912"/>
          </a:xfrm>
          <a:prstGeom prst="ellipse">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1</a:t>
            </a:r>
          </a:p>
        </p:txBody>
      </p:sp>
      <p:sp>
        <p:nvSpPr>
          <p:cNvPr id="6" name="TextBox 5"/>
          <p:cNvSpPr txBox="1"/>
          <p:nvPr/>
        </p:nvSpPr>
        <p:spPr>
          <a:xfrm>
            <a:off x="1353312" y="1993392"/>
            <a:ext cx="3017520" cy="320040"/>
          </a:xfrm>
          <a:prstGeom prst="rect">
            <a:avLst/>
          </a:prstGeom>
          <a:noFill/>
        </p:spPr>
        <p:txBody>
          <a:bodyPr wrap="square" anchor="t" lIns="0" rIns="0" tIns="0" bIns="0">
            <a:spAutoFit/>
          </a:bodyPr>
          <a:lstStyle/>
          <a:p>
            <a:pPr algn="l">
              <a:spcAft>
                <a:spcPts val="400"/>
              </a:spcAft>
            </a:pPr>
            <a:r>
              <a:rPr sz="1200" b="1" i="0">
                <a:solidFill>
                  <a:srgbClr val="046E98"/>
                </a:solidFill>
              </a:rPr>
              <a:t>EASY</a:t>
            </a:r>
          </a:p>
        </p:txBody>
      </p:sp>
      <p:sp>
        <p:nvSpPr>
          <p:cNvPr id="7" name="TextBox 6"/>
          <p:cNvSpPr txBox="1"/>
          <p:nvPr/>
        </p:nvSpPr>
        <p:spPr>
          <a:xfrm>
            <a:off x="758952" y="2560320"/>
            <a:ext cx="3657600" cy="274320"/>
          </a:xfrm>
          <a:prstGeom prst="rect">
            <a:avLst/>
          </a:prstGeom>
          <a:noFill/>
        </p:spPr>
        <p:txBody>
          <a:bodyPr wrap="square" anchor="t" lIns="0" rIns="0" tIns="0" bIns="0">
            <a:spAutoFit/>
          </a:bodyPr>
          <a:lstStyle/>
          <a:p>
            <a:pPr algn="l">
              <a:spcAft>
                <a:spcPts val="400"/>
              </a:spcAft>
            </a:pPr>
            <a:r>
              <a:rPr sz="1200" b="1" i="0">
                <a:solidFill>
                  <a:srgbClr val="046E98"/>
                </a:solidFill>
              </a:rPr>
              <a:t>EXAMPLE</a:t>
            </a:r>
          </a:p>
        </p:txBody>
      </p:sp>
      <p:sp>
        <p:nvSpPr>
          <p:cNvPr id="8" name="TextBox 7"/>
          <p:cNvSpPr txBox="1"/>
          <p:nvPr/>
        </p:nvSpPr>
        <p:spPr>
          <a:xfrm>
            <a:off x="758952" y="2926080"/>
            <a:ext cx="3657600" cy="2926080"/>
          </a:xfrm>
          <a:prstGeom prst="rect">
            <a:avLst/>
          </a:prstGeom>
          <a:noFill/>
        </p:spPr>
        <p:txBody>
          <a:bodyPr wrap="square" anchor="t" lIns="0" rIns="0" tIns="0" bIns="0">
            <a:spAutoFit/>
          </a:bodyPr>
          <a:lstStyle/>
          <a:p>
            <a:pPr algn="l">
              <a:spcAft>
                <a:spcPts val="1000"/>
              </a:spcAft>
            </a:pPr>
            <a:r>
              <a:rPr sz="1400" b="1" i="0">
                <a:solidFill>
                  <a:srgbClr val="2B2C30"/>
                </a:solidFill>
              </a:rPr>
              <a:t>Printed: </a:t>
            </a:r>
            <a:r>
              <a:rPr sz="1400" b="0" i="0">
                <a:solidFill>
                  <a:srgbClr val="2B2C30"/>
                </a:solidFill>
              </a:rPr>
              <a:t>“Paris is the ____ of France.”</a:t>
            </a:r>
          </a:p>
          <a:p>
            <a:pPr algn="l">
              <a:spcAft>
                <a:spcPts val="1000"/>
              </a:spcAft>
            </a:pPr>
            <a:r>
              <a:rPr sz="1400" b="1" i="0">
                <a:solidFill>
                  <a:srgbClr val="2B2C30"/>
                </a:solidFill>
              </a:rPr>
              <a:t>Written: </a:t>
            </a:r>
            <a:r>
              <a:rPr sz="1400" b="1" i="1">
                <a:solidFill>
                  <a:srgbClr val="046E98"/>
                </a:solidFill>
              </a:rPr>
              <a:t>capitol</a:t>
            </a:r>
          </a:p>
          <a:p>
            <a:pPr algn="l">
              <a:spcAft>
                <a:spcPts val="1000"/>
              </a:spcAft>
            </a:pPr>
            <a:r>
              <a:rPr sz="1400" b="1" i="0">
                <a:solidFill>
                  <a:srgbClr val="2B2C30"/>
                </a:solidFill>
              </a:rPr>
              <a:t>Key: </a:t>
            </a:r>
            <a:r>
              <a:rPr sz="1400" b="0" i="0">
                <a:solidFill>
                  <a:srgbClr val="2B2C30"/>
                </a:solidFill>
              </a:rPr>
              <a:t>capital</a:t>
            </a:r>
          </a:p>
          <a:p>
            <a:pPr algn="l">
              <a:spcAft>
                <a:spcPts val="1000"/>
              </a:spcAft>
            </a:pPr>
            <a:r>
              <a:rPr sz="1400" b="1" i="0">
                <a:solidFill>
                  <a:srgbClr val="2B2C30"/>
                </a:solidFill>
              </a:rPr>
              <a:t>Output: </a:t>
            </a:r>
            <a:r>
              <a:rPr sz="1400" b="0" i="0">
                <a:solidFill>
                  <a:srgbClr val="2B2C30"/>
                </a:solidFill>
              </a:rPr>
              <a:t>wrong (spelling) — or accept? A policy decision for the teacher.</a:t>
            </a:r>
          </a:p>
        </p:txBody>
      </p:sp>
      <p:sp>
        <p:nvSpPr>
          <p:cNvPr id="9" name="TextBox 8"/>
          <p:cNvSpPr txBox="1"/>
          <p:nvPr/>
        </p:nvSpPr>
        <p:spPr>
          <a:xfrm>
            <a:off x="5056632" y="1691640"/>
            <a:ext cx="1371600" cy="566928"/>
          </a:xfrm>
          <a:prstGeom prst="rect">
            <a:avLst/>
          </a:prstGeom>
          <a:noFill/>
        </p:spPr>
        <p:txBody>
          <a:bodyPr wrap="square" anchor="t" lIns="0" rIns="0" tIns="0" bIns="0">
            <a:spAutoFit/>
          </a:bodyPr>
          <a:lstStyle/>
          <a:p>
            <a:pPr algn="l">
              <a:spcAft>
                <a:spcPts val="400"/>
              </a:spcAft>
            </a:pPr>
            <a:r>
              <a:rPr sz="1300" b="1" i="0">
                <a:solidFill>
                  <a:srgbClr val="046E98"/>
                </a:solidFill>
              </a:rPr>
              <a:t>Pipeline</a:t>
            </a:r>
          </a:p>
        </p:txBody>
      </p:sp>
      <p:sp>
        <p:nvSpPr>
          <p:cNvPr id="10" name="TextBox 9"/>
          <p:cNvSpPr txBox="1"/>
          <p:nvPr/>
        </p:nvSpPr>
        <p:spPr>
          <a:xfrm>
            <a:off x="6428232" y="1691640"/>
            <a:ext cx="5184648" cy="566928"/>
          </a:xfrm>
          <a:prstGeom prst="rect">
            <a:avLst/>
          </a:prstGeom>
          <a:noFill/>
        </p:spPr>
        <p:txBody>
          <a:bodyPr wrap="square" anchor="t" lIns="0" rIns="0" tIns="0" bIns="0">
            <a:spAutoFit/>
          </a:bodyPr>
          <a:lstStyle/>
          <a:p>
            <a:pPr algn="l">
              <a:spcAft>
                <a:spcPts val="400"/>
              </a:spcAft>
            </a:pPr>
            <a:r>
              <a:rPr sz="1300" b="0" i="0">
                <a:solidFill>
                  <a:srgbClr val="2B2C30"/>
                </a:solidFill>
              </a:rPr>
              <a:t>Find gaps from the template → crop → read the word → compare with the key</a:t>
            </a:r>
          </a:p>
        </p:txBody>
      </p:sp>
      <p:sp>
        <p:nvSpPr>
          <p:cNvPr id="11" name="TextBox 10"/>
          <p:cNvSpPr txBox="1"/>
          <p:nvPr/>
        </p:nvSpPr>
        <p:spPr>
          <a:xfrm>
            <a:off x="5056632" y="2258568"/>
            <a:ext cx="1371600" cy="566928"/>
          </a:xfrm>
          <a:prstGeom prst="rect">
            <a:avLst/>
          </a:prstGeom>
          <a:noFill/>
        </p:spPr>
        <p:txBody>
          <a:bodyPr wrap="square" anchor="t" lIns="0" rIns="0" tIns="0" bIns="0">
            <a:spAutoFit/>
          </a:bodyPr>
          <a:lstStyle/>
          <a:p>
            <a:pPr algn="l">
              <a:spcAft>
                <a:spcPts val="400"/>
              </a:spcAft>
            </a:pPr>
            <a:r>
              <a:rPr sz="1300" b="1" i="0">
                <a:solidFill>
                  <a:srgbClr val="046E98"/>
                </a:solidFill>
              </a:rPr>
              <a:t>Data</a:t>
            </a:r>
          </a:p>
        </p:txBody>
      </p:sp>
      <p:sp>
        <p:nvSpPr>
          <p:cNvPr id="12" name="TextBox 11"/>
          <p:cNvSpPr txBox="1"/>
          <p:nvPr/>
        </p:nvSpPr>
        <p:spPr>
          <a:xfrm>
            <a:off x="6428232" y="2258568"/>
            <a:ext cx="5184648" cy="566928"/>
          </a:xfrm>
          <a:prstGeom prst="rect">
            <a:avLst/>
          </a:prstGeom>
          <a:noFill/>
        </p:spPr>
        <p:txBody>
          <a:bodyPr wrap="square" anchor="t" lIns="0" rIns="0" tIns="0" bIns="0">
            <a:spAutoFit/>
          </a:bodyPr>
          <a:lstStyle/>
          <a:p>
            <a:pPr algn="l">
              <a:spcAft>
                <a:spcPts val="400"/>
              </a:spcAft>
            </a:pPr>
            <a:r>
              <a:rPr sz="1300" b="0" i="0">
                <a:solidFill>
                  <a:srgbClr val="2B2C30"/>
                </a:solidFill>
              </a:rPr>
              <a:t>Grabowski answer boxes, IAM words / lines (proxy, English)</a:t>
            </a:r>
          </a:p>
        </p:txBody>
      </p:sp>
      <p:sp>
        <p:nvSpPr>
          <p:cNvPr id="13" name="TextBox 12"/>
          <p:cNvSpPr txBox="1"/>
          <p:nvPr/>
        </p:nvSpPr>
        <p:spPr>
          <a:xfrm>
            <a:off x="5056632" y="2825496"/>
            <a:ext cx="1371600" cy="566928"/>
          </a:xfrm>
          <a:prstGeom prst="rect">
            <a:avLst/>
          </a:prstGeom>
          <a:noFill/>
        </p:spPr>
        <p:txBody>
          <a:bodyPr wrap="square" anchor="t" lIns="0" rIns="0" tIns="0" bIns="0">
            <a:spAutoFit/>
          </a:bodyPr>
          <a:lstStyle/>
          <a:p>
            <a:pPr algn="l">
              <a:spcAft>
                <a:spcPts val="400"/>
              </a:spcAft>
            </a:pPr>
            <a:r>
              <a:rPr sz="1300" b="1" i="0">
                <a:solidFill>
                  <a:srgbClr val="046E98"/>
                </a:solidFill>
              </a:rPr>
              <a:t>Models</a:t>
            </a:r>
          </a:p>
        </p:txBody>
      </p:sp>
      <p:sp>
        <p:nvSpPr>
          <p:cNvPr id="14" name="TextBox 13"/>
          <p:cNvSpPr txBox="1"/>
          <p:nvPr/>
        </p:nvSpPr>
        <p:spPr>
          <a:xfrm>
            <a:off x="6428232" y="2825496"/>
            <a:ext cx="5184648" cy="566928"/>
          </a:xfrm>
          <a:prstGeom prst="rect">
            <a:avLst/>
          </a:prstGeom>
          <a:noFill/>
        </p:spPr>
        <p:txBody>
          <a:bodyPr wrap="square" anchor="t" lIns="0" rIns="0" tIns="0" bIns="0">
            <a:spAutoFit/>
          </a:bodyPr>
          <a:lstStyle/>
          <a:p>
            <a:pPr algn="l">
              <a:spcAft>
                <a:spcPts val="400"/>
              </a:spcAft>
            </a:pPr>
            <a:r>
              <a:rPr sz="1300" b="0" i="0">
                <a:solidFill>
                  <a:srgbClr val="2B2C30"/>
                </a:solidFill>
              </a:rPr>
              <a:t>TrOCR (small), PaddleOCR-VL, Qwen-VL</a:t>
            </a:r>
          </a:p>
        </p:txBody>
      </p:sp>
      <p:sp>
        <p:nvSpPr>
          <p:cNvPr id="15" name="TextBox 14"/>
          <p:cNvSpPr txBox="1"/>
          <p:nvPr/>
        </p:nvSpPr>
        <p:spPr>
          <a:xfrm>
            <a:off x="5056632" y="3392424"/>
            <a:ext cx="1371600" cy="566928"/>
          </a:xfrm>
          <a:prstGeom prst="rect">
            <a:avLst/>
          </a:prstGeom>
          <a:noFill/>
        </p:spPr>
        <p:txBody>
          <a:bodyPr wrap="square" anchor="t" lIns="0" rIns="0" tIns="0" bIns="0">
            <a:spAutoFit/>
          </a:bodyPr>
          <a:lstStyle/>
          <a:p>
            <a:pPr algn="l">
              <a:spcAft>
                <a:spcPts val="400"/>
              </a:spcAft>
            </a:pPr>
            <a:r>
              <a:rPr sz="1300" b="1" i="0">
                <a:solidFill>
                  <a:srgbClr val="046E98"/>
                </a:solidFill>
              </a:rPr>
              <a:t>Metric</a:t>
            </a:r>
          </a:p>
        </p:txBody>
      </p:sp>
      <p:sp>
        <p:nvSpPr>
          <p:cNvPr id="16" name="TextBox 15"/>
          <p:cNvSpPr txBox="1"/>
          <p:nvPr/>
        </p:nvSpPr>
        <p:spPr>
          <a:xfrm>
            <a:off x="6428232" y="3392424"/>
            <a:ext cx="5184648" cy="566928"/>
          </a:xfrm>
          <a:prstGeom prst="rect">
            <a:avLst/>
          </a:prstGeom>
          <a:noFill/>
        </p:spPr>
        <p:txBody>
          <a:bodyPr wrap="square" anchor="t" lIns="0" rIns="0" tIns="0" bIns="0">
            <a:spAutoFit/>
          </a:bodyPr>
          <a:lstStyle/>
          <a:p>
            <a:pPr algn="l">
              <a:spcAft>
                <a:spcPts val="400"/>
              </a:spcAft>
            </a:pPr>
            <a:r>
              <a:rPr sz="1300" b="0" i="0">
                <a:solidFill>
                  <a:srgbClr val="2B2C30"/>
                </a:solidFill>
              </a:rPr>
              <a:t>Per-gap accuracy; rate of wrongly accepted answers</a:t>
            </a:r>
          </a:p>
        </p:txBody>
      </p:sp>
      <p:sp>
        <p:nvSpPr>
          <p:cNvPr id="17" name="TextBox 16"/>
          <p:cNvSpPr txBox="1"/>
          <p:nvPr/>
        </p:nvSpPr>
        <p:spPr>
          <a:xfrm>
            <a:off x="5056632" y="3959352"/>
            <a:ext cx="1371600" cy="566928"/>
          </a:xfrm>
          <a:prstGeom prst="rect">
            <a:avLst/>
          </a:prstGeom>
          <a:noFill/>
        </p:spPr>
        <p:txBody>
          <a:bodyPr wrap="square" anchor="t" lIns="0" rIns="0" tIns="0" bIns="0">
            <a:spAutoFit/>
          </a:bodyPr>
          <a:lstStyle/>
          <a:p>
            <a:pPr algn="l">
              <a:spcAft>
                <a:spcPts val="400"/>
              </a:spcAft>
            </a:pPr>
            <a:r>
              <a:rPr sz="1300" b="1" i="0">
                <a:solidFill>
                  <a:srgbClr val="046E98"/>
                </a:solidFill>
              </a:rPr>
              <a:t>Risk</a:t>
            </a:r>
          </a:p>
        </p:txBody>
      </p:sp>
      <p:sp>
        <p:nvSpPr>
          <p:cNvPr id="18" name="TextBox 17"/>
          <p:cNvSpPr txBox="1"/>
          <p:nvPr/>
        </p:nvSpPr>
        <p:spPr>
          <a:xfrm>
            <a:off x="6428232" y="3959352"/>
            <a:ext cx="5184648" cy="566928"/>
          </a:xfrm>
          <a:prstGeom prst="rect">
            <a:avLst/>
          </a:prstGeom>
          <a:noFill/>
        </p:spPr>
        <p:txBody>
          <a:bodyPr wrap="square" anchor="t" lIns="0" rIns="0" tIns="0" bIns="0">
            <a:spAutoFit/>
          </a:bodyPr>
          <a:lstStyle/>
          <a:p>
            <a:pPr algn="l">
              <a:spcAft>
                <a:spcPts val="400"/>
              </a:spcAft>
            </a:pPr>
            <a:r>
              <a:rPr sz="1300" b="0" i="0">
                <a:solidFill>
                  <a:srgbClr val="2B2C30"/>
                </a:solidFill>
              </a:rPr>
              <a:t>No real worksheet dataset: evaluation only on proxies</a:t>
            </a:r>
          </a:p>
        </p:txBody>
      </p:sp>
      <p:sp>
        <p:nvSpPr>
          <p:cNvPr id="19" name="Rounded Rectangle 18"/>
          <p:cNvSpPr/>
          <p:nvPr/>
        </p:nvSpPr>
        <p:spPr>
          <a:xfrm>
            <a:off x="5056632" y="5303520"/>
            <a:ext cx="6556248" cy="640080"/>
          </a:xfrm>
          <a:prstGeom prst="roundRect">
            <a:avLst>
              <a:gd name="adj" fmla="val 6000"/>
            </a:avLst>
          </a:prstGeom>
          <a:solidFill>
            <a:srgbClr val="808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85232" y="5303520"/>
            <a:ext cx="6126480" cy="640080"/>
          </a:xfrm>
          <a:prstGeom prst="rect">
            <a:avLst/>
          </a:prstGeom>
          <a:noFill/>
        </p:spPr>
        <p:txBody>
          <a:bodyPr wrap="square" anchor="ctr" lIns="0" rIns="0" tIns="0" bIns="0">
            <a:spAutoFit/>
          </a:bodyPr>
          <a:lstStyle/>
          <a:p>
            <a:pPr algn="l">
              <a:spcAft>
                <a:spcPts val="400"/>
              </a:spcAft>
            </a:pPr>
            <a:r>
              <a:rPr sz="1300" b="1" i="0">
                <a:solidFill>
                  <a:srgbClr val="FFFFFF"/>
                </a:solidFill>
              </a:rPr>
              <a:t>Neural-network part: </a:t>
            </a:r>
            <a:r>
              <a:rPr sz="1300" b="0" i="0">
                <a:solidFill>
                  <a:srgbClr val="FFFFFF"/>
                </a:solidFill>
              </a:rPr>
              <a:t>fine-tune a small reader on word / answer-box crops.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Idea 2: free-form handwritten text</a:t>
            </a:r>
          </a:p>
        </p:txBody>
      </p:sp>
      <p:sp>
        <p:nvSpPr>
          <p:cNvPr id="3" name="Draft tag"/>
          <p:cNvSpPr/>
          <p:nvPr/>
        </p:nvSpPr>
        <p:spPr>
          <a:xfrm>
            <a:off x="10058400" y="274320"/>
            <a:ext cx="1554480" cy="310896"/>
          </a:xfrm>
          <a:prstGeom prst="roundRect">
            <a:avLst/>
          </a:prstGeom>
          <a:noFill/>
          <a:ln w="9525">
            <a:solidFill>
              <a:srgbClr val="80828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5E6066"/>
                </a:solidFill>
              </a:rPr>
              <a:t>DRAFT · IDEA STAGE</a:t>
            </a:r>
          </a:p>
        </p:txBody>
      </p:sp>
      <p:sp>
        <p:nvSpPr>
          <p:cNvPr id="4" name="Rounded Rectangle 3"/>
          <p:cNvSpPr/>
          <p:nvPr/>
        </p:nvSpPr>
        <p:spPr>
          <a:xfrm>
            <a:off x="484632" y="1691640"/>
            <a:ext cx="4206240" cy="425196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58952" y="1920240"/>
            <a:ext cx="438912" cy="438912"/>
          </a:xfrm>
          <a:prstGeom prst="ellipse">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2</a:t>
            </a:r>
          </a:p>
        </p:txBody>
      </p:sp>
      <p:sp>
        <p:nvSpPr>
          <p:cNvPr id="6" name="TextBox 5"/>
          <p:cNvSpPr txBox="1"/>
          <p:nvPr/>
        </p:nvSpPr>
        <p:spPr>
          <a:xfrm>
            <a:off x="1353312" y="1993392"/>
            <a:ext cx="3017520" cy="320040"/>
          </a:xfrm>
          <a:prstGeom prst="rect">
            <a:avLst/>
          </a:prstGeom>
          <a:noFill/>
        </p:spPr>
        <p:txBody>
          <a:bodyPr wrap="square" anchor="t" lIns="0" rIns="0" tIns="0" bIns="0">
            <a:spAutoFit/>
          </a:bodyPr>
          <a:lstStyle/>
          <a:p>
            <a:pPr algn="l">
              <a:spcAft>
                <a:spcPts val="400"/>
              </a:spcAft>
            </a:pPr>
            <a:r>
              <a:rPr sz="1200" b="1" i="0">
                <a:solidFill>
                  <a:srgbClr val="046E98"/>
                </a:solidFill>
              </a:rPr>
              <a:t>MEDIUM</a:t>
            </a:r>
          </a:p>
        </p:txBody>
      </p:sp>
      <p:sp>
        <p:nvSpPr>
          <p:cNvPr id="7" name="TextBox 6"/>
          <p:cNvSpPr txBox="1"/>
          <p:nvPr/>
        </p:nvSpPr>
        <p:spPr>
          <a:xfrm>
            <a:off x="758952" y="2560320"/>
            <a:ext cx="3657600" cy="274320"/>
          </a:xfrm>
          <a:prstGeom prst="rect">
            <a:avLst/>
          </a:prstGeom>
          <a:noFill/>
        </p:spPr>
        <p:txBody>
          <a:bodyPr wrap="square" anchor="t" lIns="0" rIns="0" tIns="0" bIns="0">
            <a:spAutoFit/>
          </a:bodyPr>
          <a:lstStyle/>
          <a:p>
            <a:pPr algn="l">
              <a:spcAft>
                <a:spcPts val="400"/>
              </a:spcAft>
            </a:pPr>
            <a:r>
              <a:rPr sz="1200" b="1" i="0">
                <a:solidFill>
                  <a:srgbClr val="046E98"/>
                </a:solidFill>
              </a:rPr>
              <a:t>EXAMPLE</a:t>
            </a:r>
          </a:p>
        </p:txBody>
      </p:sp>
      <p:sp>
        <p:nvSpPr>
          <p:cNvPr id="8" name="TextBox 7"/>
          <p:cNvSpPr txBox="1"/>
          <p:nvPr/>
        </p:nvSpPr>
        <p:spPr>
          <a:xfrm>
            <a:off x="758952" y="2926080"/>
            <a:ext cx="3657600" cy="2926080"/>
          </a:xfrm>
          <a:prstGeom prst="rect">
            <a:avLst/>
          </a:prstGeom>
          <a:noFill/>
        </p:spPr>
        <p:txBody>
          <a:bodyPr wrap="square" anchor="t" lIns="0" rIns="0" tIns="0" bIns="0">
            <a:spAutoFit/>
          </a:bodyPr>
          <a:lstStyle/>
          <a:p>
            <a:pPr algn="l">
              <a:spcAft>
                <a:spcPts val="1000"/>
              </a:spcAft>
            </a:pPr>
            <a:r>
              <a:rPr sz="1400" b="1" i="0">
                <a:solidFill>
                  <a:srgbClr val="2B2C30"/>
                </a:solidFill>
              </a:rPr>
              <a:t>Input: </a:t>
            </a:r>
            <a:r>
              <a:rPr sz="1400" b="0" i="0">
                <a:solidFill>
                  <a:srgbClr val="2B2C30"/>
                </a:solidFill>
              </a:rPr>
              <a:t>one handwritten essay page, incl. crossed-out words</a:t>
            </a:r>
          </a:p>
          <a:p>
            <a:pPr algn="l">
              <a:spcAft>
                <a:spcPts val="1000"/>
              </a:spcAft>
            </a:pPr>
            <a:r>
              <a:rPr sz="1400" b="1" i="0">
                <a:solidFill>
                  <a:srgbClr val="2B2C30"/>
                </a:solidFill>
              </a:rPr>
              <a:t>Step 1: </a:t>
            </a:r>
            <a:r>
              <a:rPr sz="1400" b="0" i="0">
                <a:solidFill>
                  <a:srgbClr val="2B2C30"/>
                </a:solidFill>
              </a:rPr>
              <a:t>transcript of the page</a:t>
            </a:r>
          </a:p>
          <a:p>
            <a:pPr algn="l">
              <a:spcAft>
                <a:spcPts val="1000"/>
              </a:spcAft>
            </a:pPr>
            <a:r>
              <a:rPr sz="1400" b="1" i="0">
                <a:solidFill>
                  <a:srgbClr val="2B2C30"/>
                </a:solidFill>
              </a:rPr>
              <a:t>Step 2: </a:t>
            </a:r>
            <a:r>
              <a:rPr sz="1400" b="0" i="0">
                <a:solidFill>
                  <a:srgbClr val="2B2C30"/>
                </a:solidFill>
              </a:rPr>
              <a:t>rubric scores, e.g. content 4/5, language 3/5, structure 4/5</a:t>
            </a:r>
          </a:p>
          <a:p>
            <a:pPr algn="l">
              <a:spcAft>
                <a:spcPts val="1000"/>
              </a:spcAft>
            </a:pPr>
            <a:r>
              <a:rPr sz="1400" b="1" i="0">
                <a:solidFill>
                  <a:srgbClr val="2B2C30"/>
                </a:solidFill>
              </a:rPr>
              <a:t>Output: </a:t>
            </a:r>
            <a:r>
              <a:rPr sz="1400" b="0" i="0">
                <a:solidFill>
                  <a:srgbClr val="2B2C30"/>
                </a:solidFill>
              </a:rPr>
              <a:t>scores + short feedback</a:t>
            </a:r>
          </a:p>
        </p:txBody>
      </p:sp>
      <p:sp>
        <p:nvSpPr>
          <p:cNvPr id="9" name="TextBox 8"/>
          <p:cNvSpPr txBox="1"/>
          <p:nvPr/>
        </p:nvSpPr>
        <p:spPr>
          <a:xfrm>
            <a:off x="5056632" y="1691640"/>
            <a:ext cx="1371600" cy="566928"/>
          </a:xfrm>
          <a:prstGeom prst="rect">
            <a:avLst/>
          </a:prstGeom>
          <a:noFill/>
        </p:spPr>
        <p:txBody>
          <a:bodyPr wrap="square" anchor="t" lIns="0" rIns="0" tIns="0" bIns="0">
            <a:spAutoFit/>
          </a:bodyPr>
          <a:lstStyle/>
          <a:p>
            <a:pPr algn="l">
              <a:spcAft>
                <a:spcPts val="400"/>
              </a:spcAft>
            </a:pPr>
            <a:r>
              <a:rPr sz="1300" b="1" i="0">
                <a:solidFill>
                  <a:srgbClr val="046E98"/>
                </a:solidFill>
              </a:rPr>
              <a:t>Pipeline</a:t>
            </a:r>
          </a:p>
        </p:txBody>
      </p:sp>
      <p:sp>
        <p:nvSpPr>
          <p:cNvPr id="10" name="TextBox 9"/>
          <p:cNvSpPr txBox="1"/>
          <p:nvPr/>
        </p:nvSpPr>
        <p:spPr>
          <a:xfrm>
            <a:off x="6428232" y="1691640"/>
            <a:ext cx="5184648" cy="566928"/>
          </a:xfrm>
          <a:prstGeom prst="rect">
            <a:avLst/>
          </a:prstGeom>
          <a:noFill/>
        </p:spPr>
        <p:txBody>
          <a:bodyPr wrap="square" anchor="t" lIns="0" rIns="0" tIns="0" bIns="0">
            <a:spAutoFit/>
          </a:bodyPr>
          <a:lstStyle/>
          <a:p>
            <a:pPr algn="l">
              <a:spcAft>
                <a:spcPts val="400"/>
              </a:spcAft>
            </a:pPr>
            <a:r>
              <a:rPr sz="1300" b="0" i="0">
                <a:solidFill>
                  <a:srgbClr val="2B2C30"/>
                </a:solidFill>
              </a:rPr>
              <a:t>Page → transcription → LLM scores with rubric; vs. one VLM end to end</a:t>
            </a:r>
          </a:p>
        </p:txBody>
      </p:sp>
      <p:sp>
        <p:nvSpPr>
          <p:cNvPr id="11" name="TextBox 10"/>
          <p:cNvSpPr txBox="1"/>
          <p:nvPr/>
        </p:nvSpPr>
        <p:spPr>
          <a:xfrm>
            <a:off x="5056632" y="2258568"/>
            <a:ext cx="1371600" cy="566928"/>
          </a:xfrm>
          <a:prstGeom prst="rect">
            <a:avLst/>
          </a:prstGeom>
          <a:noFill/>
        </p:spPr>
        <p:txBody>
          <a:bodyPr wrap="square" anchor="t" lIns="0" rIns="0" tIns="0" bIns="0">
            <a:spAutoFit/>
          </a:bodyPr>
          <a:lstStyle/>
          <a:p>
            <a:pPr algn="l">
              <a:spcAft>
                <a:spcPts val="400"/>
              </a:spcAft>
            </a:pPr>
            <a:r>
              <a:rPr sz="1300" b="1" i="0">
                <a:solidFill>
                  <a:srgbClr val="046E98"/>
                </a:solidFill>
              </a:rPr>
              <a:t>Data</a:t>
            </a:r>
          </a:p>
        </p:txBody>
      </p:sp>
      <p:sp>
        <p:nvSpPr>
          <p:cNvPr id="12" name="TextBox 11"/>
          <p:cNvSpPr txBox="1"/>
          <p:nvPr/>
        </p:nvSpPr>
        <p:spPr>
          <a:xfrm>
            <a:off x="6428232" y="2258568"/>
            <a:ext cx="5184648" cy="566928"/>
          </a:xfrm>
          <a:prstGeom prst="rect">
            <a:avLst/>
          </a:prstGeom>
          <a:noFill/>
        </p:spPr>
        <p:txBody>
          <a:bodyPr wrap="square" anchor="t" lIns="0" rIns="0" tIns="0" bIns="0">
            <a:spAutoFit/>
          </a:bodyPr>
          <a:lstStyle/>
          <a:p>
            <a:pPr algn="l">
              <a:spcAft>
                <a:spcPts val="400"/>
              </a:spcAft>
            </a:pPr>
            <a:r>
              <a:rPr sz="1300" b="0" i="0">
                <a:solidFill>
                  <a:srgbClr val="2B2C30"/>
                </a:solidFill>
              </a:rPr>
              <a:t>GCSE double-marked (32.5k), VisEssay (13k+), BRESSAY</a:t>
            </a:r>
          </a:p>
        </p:txBody>
      </p:sp>
      <p:sp>
        <p:nvSpPr>
          <p:cNvPr id="13" name="TextBox 12"/>
          <p:cNvSpPr txBox="1"/>
          <p:nvPr/>
        </p:nvSpPr>
        <p:spPr>
          <a:xfrm>
            <a:off x="5056632" y="2825496"/>
            <a:ext cx="1371600" cy="566928"/>
          </a:xfrm>
          <a:prstGeom prst="rect">
            <a:avLst/>
          </a:prstGeom>
          <a:noFill/>
        </p:spPr>
        <p:txBody>
          <a:bodyPr wrap="square" anchor="t" lIns="0" rIns="0" tIns="0" bIns="0">
            <a:spAutoFit/>
          </a:bodyPr>
          <a:lstStyle/>
          <a:p>
            <a:pPr algn="l">
              <a:spcAft>
                <a:spcPts val="400"/>
              </a:spcAft>
            </a:pPr>
            <a:r>
              <a:rPr sz="1300" b="1" i="0">
                <a:solidFill>
                  <a:srgbClr val="046E98"/>
                </a:solidFill>
              </a:rPr>
              <a:t>Models</a:t>
            </a:r>
          </a:p>
        </p:txBody>
      </p:sp>
      <p:sp>
        <p:nvSpPr>
          <p:cNvPr id="14" name="TextBox 13"/>
          <p:cNvSpPr txBox="1"/>
          <p:nvPr/>
        </p:nvSpPr>
        <p:spPr>
          <a:xfrm>
            <a:off x="6428232" y="2825496"/>
            <a:ext cx="5184648" cy="566928"/>
          </a:xfrm>
          <a:prstGeom prst="rect">
            <a:avLst/>
          </a:prstGeom>
          <a:noFill/>
        </p:spPr>
        <p:txBody>
          <a:bodyPr wrap="square" anchor="t" lIns="0" rIns="0" tIns="0" bIns="0">
            <a:spAutoFit/>
          </a:bodyPr>
          <a:lstStyle/>
          <a:p>
            <a:pPr algn="l">
              <a:spcAft>
                <a:spcPts val="400"/>
              </a:spcAft>
            </a:pPr>
            <a:r>
              <a:rPr sz="1300" b="0" i="0">
                <a:solidFill>
                  <a:srgbClr val="2B2C30"/>
                </a:solidFill>
              </a:rPr>
              <a:t>chandra-ocr-2, olmOCR 2, Qwen-VL + LLM scorer</a:t>
            </a:r>
          </a:p>
        </p:txBody>
      </p:sp>
      <p:sp>
        <p:nvSpPr>
          <p:cNvPr id="15" name="TextBox 14"/>
          <p:cNvSpPr txBox="1"/>
          <p:nvPr/>
        </p:nvSpPr>
        <p:spPr>
          <a:xfrm>
            <a:off x="5056632" y="3392424"/>
            <a:ext cx="1371600" cy="566928"/>
          </a:xfrm>
          <a:prstGeom prst="rect">
            <a:avLst/>
          </a:prstGeom>
          <a:noFill/>
        </p:spPr>
        <p:txBody>
          <a:bodyPr wrap="square" anchor="t" lIns="0" rIns="0" tIns="0" bIns="0">
            <a:spAutoFit/>
          </a:bodyPr>
          <a:lstStyle/>
          <a:p>
            <a:pPr algn="l">
              <a:spcAft>
                <a:spcPts val="400"/>
              </a:spcAft>
            </a:pPr>
            <a:r>
              <a:rPr sz="1300" b="1" i="0">
                <a:solidFill>
                  <a:srgbClr val="046E98"/>
                </a:solidFill>
              </a:rPr>
              <a:t>Metric</a:t>
            </a:r>
          </a:p>
        </p:txBody>
      </p:sp>
      <p:sp>
        <p:nvSpPr>
          <p:cNvPr id="16" name="TextBox 15"/>
          <p:cNvSpPr txBox="1"/>
          <p:nvPr/>
        </p:nvSpPr>
        <p:spPr>
          <a:xfrm>
            <a:off x="6428232" y="3392424"/>
            <a:ext cx="5184648" cy="566928"/>
          </a:xfrm>
          <a:prstGeom prst="rect">
            <a:avLst/>
          </a:prstGeom>
          <a:noFill/>
        </p:spPr>
        <p:txBody>
          <a:bodyPr wrap="square" anchor="t" lIns="0" rIns="0" tIns="0" bIns="0">
            <a:spAutoFit/>
          </a:bodyPr>
          <a:lstStyle/>
          <a:p>
            <a:pPr algn="l">
              <a:spcAft>
                <a:spcPts val="400"/>
              </a:spcAft>
            </a:pPr>
            <a:r>
              <a:rPr sz="1300" b="0" i="0">
                <a:solidFill>
                  <a:srgbClr val="2B2C30"/>
                </a:solidFill>
              </a:rPr>
              <a:t>Character error rate; quadratic weighted κ vs. human marks</a:t>
            </a:r>
          </a:p>
        </p:txBody>
      </p:sp>
      <p:sp>
        <p:nvSpPr>
          <p:cNvPr id="17" name="TextBox 16"/>
          <p:cNvSpPr txBox="1"/>
          <p:nvPr/>
        </p:nvSpPr>
        <p:spPr>
          <a:xfrm>
            <a:off x="5056632" y="3959352"/>
            <a:ext cx="1371600" cy="566928"/>
          </a:xfrm>
          <a:prstGeom prst="rect">
            <a:avLst/>
          </a:prstGeom>
          <a:noFill/>
        </p:spPr>
        <p:txBody>
          <a:bodyPr wrap="square" anchor="t" lIns="0" rIns="0" tIns="0" bIns="0">
            <a:spAutoFit/>
          </a:bodyPr>
          <a:lstStyle/>
          <a:p>
            <a:pPr algn="l">
              <a:spcAft>
                <a:spcPts val="400"/>
              </a:spcAft>
            </a:pPr>
            <a:r>
              <a:rPr sz="1300" b="1" i="0">
                <a:solidFill>
                  <a:srgbClr val="046E98"/>
                </a:solidFill>
              </a:rPr>
              <a:t>Risk</a:t>
            </a:r>
          </a:p>
        </p:txBody>
      </p:sp>
      <p:sp>
        <p:nvSpPr>
          <p:cNvPr id="18" name="TextBox 17"/>
          <p:cNvSpPr txBox="1"/>
          <p:nvPr/>
        </p:nvSpPr>
        <p:spPr>
          <a:xfrm>
            <a:off x="6428232" y="3959352"/>
            <a:ext cx="5184648" cy="566928"/>
          </a:xfrm>
          <a:prstGeom prst="rect">
            <a:avLst/>
          </a:prstGeom>
          <a:noFill/>
        </p:spPr>
        <p:txBody>
          <a:bodyPr wrap="square" anchor="t" lIns="0" rIns="0" tIns="0" bIns="0">
            <a:spAutoFit/>
          </a:bodyPr>
          <a:lstStyle/>
          <a:p>
            <a:pPr algn="l">
              <a:spcAft>
                <a:spcPts val="400"/>
              </a:spcAft>
            </a:pPr>
            <a:r>
              <a:rPr sz="1300" b="0" i="0">
                <a:solidFill>
                  <a:srgbClr val="2B2C30"/>
                </a:solidFill>
              </a:rPr>
              <a:t>Dataset access and licences; subjective scores</a:t>
            </a:r>
          </a:p>
        </p:txBody>
      </p:sp>
      <p:sp>
        <p:nvSpPr>
          <p:cNvPr id="19" name="Rounded Rectangle 18"/>
          <p:cNvSpPr/>
          <p:nvPr/>
        </p:nvSpPr>
        <p:spPr>
          <a:xfrm>
            <a:off x="5056632" y="5303520"/>
            <a:ext cx="6556248" cy="640080"/>
          </a:xfrm>
          <a:prstGeom prst="roundRect">
            <a:avLst>
              <a:gd name="adj" fmla="val 6000"/>
            </a:avLst>
          </a:prstGeom>
          <a:solidFill>
            <a:srgbClr val="808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85232" y="5303520"/>
            <a:ext cx="6126480" cy="640080"/>
          </a:xfrm>
          <a:prstGeom prst="rect">
            <a:avLst/>
          </a:prstGeom>
          <a:noFill/>
        </p:spPr>
        <p:txBody>
          <a:bodyPr wrap="square" anchor="ctr" lIns="0" rIns="0" tIns="0" bIns="0">
            <a:spAutoFit/>
          </a:bodyPr>
          <a:lstStyle/>
          <a:p>
            <a:pPr algn="l">
              <a:spcAft>
                <a:spcPts val="400"/>
              </a:spcAft>
            </a:pPr>
            <a:r>
              <a:rPr sz="1300" b="1" i="0">
                <a:solidFill>
                  <a:srgbClr val="FFFFFF"/>
                </a:solidFill>
              </a:rPr>
              <a:t>Neural-network part: </a:t>
            </a:r>
            <a:r>
              <a:rPr sz="1300" b="0" i="0">
                <a:solidFill>
                  <a:srgbClr val="FFFFFF"/>
                </a:solidFill>
              </a:rPr>
              <a:t>fine-tune the reader on essay pages, or a VLM scorer end to end.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Idea 3: general math</a:t>
            </a:r>
          </a:p>
        </p:txBody>
      </p:sp>
      <p:sp>
        <p:nvSpPr>
          <p:cNvPr id="3" name="Draft tag"/>
          <p:cNvSpPr/>
          <p:nvPr/>
        </p:nvSpPr>
        <p:spPr>
          <a:xfrm>
            <a:off x="10058400" y="274320"/>
            <a:ext cx="1554480" cy="310896"/>
          </a:xfrm>
          <a:prstGeom prst="roundRect">
            <a:avLst/>
          </a:prstGeom>
          <a:noFill/>
          <a:ln w="9525">
            <a:solidFill>
              <a:srgbClr val="80828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5E6066"/>
                </a:solidFill>
              </a:rPr>
              <a:t>DRAFT · IDEA STAGE</a:t>
            </a:r>
          </a:p>
        </p:txBody>
      </p:sp>
      <p:sp>
        <p:nvSpPr>
          <p:cNvPr id="4" name="Rounded Rectangle 3"/>
          <p:cNvSpPr/>
          <p:nvPr/>
        </p:nvSpPr>
        <p:spPr>
          <a:xfrm>
            <a:off x="484632" y="1691640"/>
            <a:ext cx="4206240" cy="425196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58952" y="1920240"/>
            <a:ext cx="438912" cy="438912"/>
          </a:xfrm>
          <a:prstGeom prst="ellipse">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3</a:t>
            </a:r>
          </a:p>
        </p:txBody>
      </p:sp>
      <p:sp>
        <p:nvSpPr>
          <p:cNvPr id="6" name="TextBox 5"/>
          <p:cNvSpPr txBox="1"/>
          <p:nvPr/>
        </p:nvSpPr>
        <p:spPr>
          <a:xfrm>
            <a:off x="1353312" y="1993392"/>
            <a:ext cx="3017520" cy="320040"/>
          </a:xfrm>
          <a:prstGeom prst="rect">
            <a:avLst/>
          </a:prstGeom>
          <a:noFill/>
        </p:spPr>
        <p:txBody>
          <a:bodyPr wrap="square" anchor="t" lIns="0" rIns="0" tIns="0" bIns="0">
            <a:spAutoFit/>
          </a:bodyPr>
          <a:lstStyle/>
          <a:p>
            <a:pPr algn="l">
              <a:spcAft>
                <a:spcPts val="400"/>
              </a:spcAft>
            </a:pPr>
            <a:r>
              <a:rPr sz="1200" b="1" i="0">
                <a:solidFill>
                  <a:srgbClr val="046E98"/>
                </a:solidFill>
              </a:rPr>
              <a:t>HARD</a:t>
            </a:r>
          </a:p>
        </p:txBody>
      </p:sp>
      <p:sp>
        <p:nvSpPr>
          <p:cNvPr id="7" name="TextBox 6"/>
          <p:cNvSpPr txBox="1"/>
          <p:nvPr/>
        </p:nvSpPr>
        <p:spPr>
          <a:xfrm>
            <a:off x="758952" y="2560320"/>
            <a:ext cx="3657600" cy="274320"/>
          </a:xfrm>
          <a:prstGeom prst="rect">
            <a:avLst/>
          </a:prstGeom>
          <a:noFill/>
        </p:spPr>
        <p:txBody>
          <a:bodyPr wrap="square" anchor="t" lIns="0" rIns="0" tIns="0" bIns="0">
            <a:spAutoFit/>
          </a:bodyPr>
          <a:lstStyle/>
          <a:p>
            <a:pPr algn="l">
              <a:spcAft>
                <a:spcPts val="400"/>
              </a:spcAft>
            </a:pPr>
            <a:r>
              <a:rPr sz="1200" b="1" i="0">
                <a:solidFill>
                  <a:srgbClr val="046E98"/>
                </a:solidFill>
              </a:rPr>
              <a:t>EXAMPLE</a:t>
            </a:r>
          </a:p>
        </p:txBody>
      </p:sp>
      <p:sp>
        <p:nvSpPr>
          <p:cNvPr id="8" name="TextBox 7"/>
          <p:cNvSpPr txBox="1"/>
          <p:nvPr/>
        </p:nvSpPr>
        <p:spPr>
          <a:xfrm>
            <a:off x="758952" y="2926080"/>
            <a:ext cx="3657600" cy="2926080"/>
          </a:xfrm>
          <a:prstGeom prst="rect">
            <a:avLst/>
          </a:prstGeom>
          <a:noFill/>
        </p:spPr>
        <p:txBody>
          <a:bodyPr wrap="square" anchor="t" lIns="0" rIns="0" tIns="0" bIns="0">
            <a:spAutoFit/>
          </a:bodyPr>
          <a:lstStyle/>
          <a:p>
            <a:pPr algn="l">
              <a:spcAft>
                <a:spcPts val="1000"/>
              </a:spcAft>
            </a:pPr>
            <a:r>
              <a:rPr sz="1400" b="1" i="0">
                <a:solidFill>
                  <a:srgbClr val="2B2C30"/>
                </a:solidFill>
              </a:rPr>
              <a:t>Written: </a:t>
            </a:r>
            <a:r>
              <a:rPr sz="1400" b="1" i="1">
                <a:solidFill>
                  <a:srgbClr val="046E98"/>
                </a:solidFill>
              </a:rPr>
              <a:t>(x²·sin x)′ = 2x·sin x + x²·cos x</a:t>
            </a:r>
          </a:p>
          <a:p>
            <a:pPr algn="l">
              <a:spcAft>
                <a:spcPts val="1000"/>
              </a:spcAft>
            </a:pPr>
            <a:r>
              <a:rPr sz="1400" b="1" i="0">
                <a:solidFill>
                  <a:srgbClr val="2B2C30"/>
                </a:solidFill>
              </a:rPr>
              <a:t>Read: </a:t>
            </a:r>
            <a:r>
              <a:rPr sz="1400" b="0" i="0">
                <a:solidFill>
                  <a:srgbClr val="2B2C30"/>
                </a:solidFill>
              </a:rPr>
              <a:t>LaTeX for each line</a:t>
            </a:r>
          </a:p>
          <a:p>
            <a:pPr algn="l">
              <a:spcAft>
                <a:spcPts val="1000"/>
              </a:spcAft>
            </a:pPr>
            <a:r>
              <a:rPr sz="1400" b="1" i="0">
                <a:solidFill>
                  <a:srgbClr val="2B2C30"/>
                </a:solidFill>
              </a:rPr>
              <a:t>Check: </a:t>
            </a:r>
            <a:r>
              <a:rPr sz="1400" b="0" i="0">
                <a:solidFill>
                  <a:srgbClr val="2B2C30"/>
                </a:solidFill>
              </a:rPr>
              <a:t>SymPy: each line equivalent to the previous one?</a:t>
            </a:r>
          </a:p>
          <a:p>
            <a:pPr algn="l">
              <a:spcAft>
                <a:spcPts val="1000"/>
              </a:spcAft>
            </a:pPr>
            <a:r>
              <a:rPr sz="1400" b="1" i="0">
                <a:solidFill>
                  <a:srgbClr val="2B2C30"/>
                </a:solidFill>
              </a:rPr>
              <a:t>Output: </a:t>
            </a:r>
            <a:r>
              <a:rPr sz="1400" b="0" i="0">
                <a:solidFill>
                  <a:srgbClr val="2B2C30"/>
                </a:solidFill>
              </a:rPr>
              <a:t>correct, or “first error in line 3”</a:t>
            </a:r>
          </a:p>
        </p:txBody>
      </p:sp>
      <p:sp>
        <p:nvSpPr>
          <p:cNvPr id="9" name="TextBox 8"/>
          <p:cNvSpPr txBox="1"/>
          <p:nvPr/>
        </p:nvSpPr>
        <p:spPr>
          <a:xfrm>
            <a:off x="5056632" y="1691640"/>
            <a:ext cx="1371600" cy="566928"/>
          </a:xfrm>
          <a:prstGeom prst="rect">
            <a:avLst/>
          </a:prstGeom>
          <a:noFill/>
        </p:spPr>
        <p:txBody>
          <a:bodyPr wrap="square" anchor="t" lIns="0" rIns="0" tIns="0" bIns="0">
            <a:spAutoFit/>
          </a:bodyPr>
          <a:lstStyle/>
          <a:p>
            <a:pPr algn="l">
              <a:spcAft>
                <a:spcPts val="400"/>
              </a:spcAft>
            </a:pPr>
            <a:r>
              <a:rPr sz="1300" b="1" i="0">
                <a:solidFill>
                  <a:srgbClr val="046E98"/>
                </a:solidFill>
              </a:rPr>
              <a:t>Pipeline</a:t>
            </a:r>
          </a:p>
        </p:txBody>
      </p:sp>
      <p:sp>
        <p:nvSpPr>
          <p:cNvPr id="10" name="TextBox 9"/>
          <p:cNvSpPr txBox="1"/>
          <p:nvPr/>
        </p:nvSpPr>
        <p:spPr>
          <a:xfrm>
            <a:off x="6428232" y="1691640"/>
            <a:ext cx="5184648" cy="566928"/>
          </a:xfrm>
          <a:prstGeom prst="rect">
            <a:avLst/>
          </a:prstGeom>
          <a:noFill/>
        </p:spPr>
        <p:txBody>
          <a:bodyPr wrap="square" anchor="t" lIns="0" rIns="0" tIns="0" bIns="0">
            <a:spAutoFit/>
          </a:bodyPr>
          <a:lstStyle/>
          <a:p>
            <a:pPr algn="l">
              <a:spcAft>
                <a:spcPts val="400"/>
              </a:spcAft>
            </a:pPr>
            <a:r>
              <a:rPr sz="1300" b="0" i="0">
                <a:solidFill>
                  <a:srgbClr val="2B2C30"/>
                </a:solidFill>
              </a:rPr>
              <a:t>Line detection → LaTeX → SymPy check per step → feedback</a:t>
            </a:r>
          </a:p>
        </p:txBody>
      </p:sp>
      <p:sp>
        <p:nvSpPr>
          <p:cNvPr id="11" name="TextBox 10"/>
          <p:cNvSpPr txBox="1"/>
          <p:nvPr/>
        </p:nvSpPr>
        <p:spPr>
          <a:xfrm>
            <a:off x="5056632" y="2258568"/>
            <a:ext cx="1371600" cy="566928"/>
          </a:xfrm>
          <a:prstGeom prst="rect">
            <a:avLst/>
          </a:prstGeom>
          <a:noFill/>
        </p:spPr>
        <p:txBody>
          <a:bodyPr wrap="square" anchor="t" lIns="0" rIns="0" tIns="0" bIns="0">
            <a:spAutoFit/>
          </a:bodyPr>
          <a:lstStyle/>
          <a:p>
            <a:pPr algn="l">
              <a:spcAft>
                <a:spcPts val="400"/>
              </a:spcAft>
            </a:pPr>
            <a:r>
              <a:rPr sz="1300" b="1" i="0">
                <a:solidFill>
                  <a:srgbClr val="046E98"/>
                </a:solidFill>
              </a:rPr>
              <a:t>Data</a:t>
            </a:r>
          </a:p>
        </p:txBody>
      </p:sp>
      <p:sp>
        <p:nvSpPr>
          <p:cNvPr id="12" name="TextBox 11"/>
          <p:cNvSpPr txBox="1"/>
          <p:nvPr/>
        </p:nvSpPr>
        <p:spPr>
          <a:xfrm>
            <a:off x="6428232" y="2258568"/>
            <a:ext cx="5184648" cy="566928"/>
          </a:xfrm>
          <a:prstGeom prst="rect">
            <a:avLst/>
          </a:prstGeom>
          <a:noFill/>
        </p:spPr>
        <p:txBody>
          <a:bodyPr wrap="square" anchor="t" lIns="0" rIns="0" tIns="0" bIns="0">
            <a:spAutoFit/>
          </a:bodyPr>
          <a:lstStyle/>
          <a:p>
            <a:pPr algn="l">
              <a:spcAft>
                <a:spcPts val="400"/>
              </a:spcAft>
            </a:pPr>
            <a:r>
              <a:rPr sz="1300" b="0" i="0">
                <a:solidFill>
                  <a:srgbClr val="2B2C30"/>
                </a:solidFill>
              </a:rPr>
              <a:t>MathWriting, HME100K, CROHME (reading); FERMAT (grading)</a:t>
            </a:r>
          </a:p>
        </p:txBody>
      </p:sp>
      <p:sp>
        <p:nvSpPr>
          <p:cNvPr id="13" name="TextBox 12"/>
          <p:cNvSpPr txBox="1"/>
          <p:nvPr/>
        </p:nvSpPr>
        <p:spPr>
          <a:xfrm>
            <a:off x="5056632" y="2825496"/>
            <a:ext cx="1371600" cy="566928"/>
          </a:xfrm>
          <a:prstGeom prst="rect">
            <a:avLst/>
          </a:prstGeom>
          <a:noFill/>
        </p:spPr>
        <p:txBody>
          <a:bodyPr wrap="square" anchor="t" lIns="0" rIns="0" tIns="0" bIns="0">
            <a:spAutoFit/>
          </a:bodyPr>
          <a:lstStyle/>
          <a:p>
            <a:pPr algn="l">
              <a:spcAft>
                <a:spcPts val="400"/>
              </a:spcAft>
            </a:pPr>
            <a:r>
              <a:rPr sz="1300" b="1" i="0">
                <a:solidFill>
                  <a:srgbClr val="046E98"/>
                </a:solidFill>
              </a:rPr>
              <a:t>Models</a:t>
            </a:r>
          </a:p>
        </p:txBody>
      </p:sp>
      <p:sp>
        <p:nvSpPr>
          <p:cNvPr id="14" name="TextBox 13"/>
          <p:cNvSpPr txBox="1"/>
          <p:nvPr/>
        </p:nvSpPr>
        <p:spPr>
          <a:xfrm>
            <a:off x="6428232" y="2825496"/>
            <a:ext cx="5184648" cy="566928"/>
          </a:xfrm>
          <a:prstGeom prst="rect">
            <a:avLst/>
          </a:prstGeom>
          <a:noFill/>
        </p:spPr>
        <p:txBody>
          <a:bodyPr wrap="square" anchor="t" lIns="0" rIns="0" tIns="0" bIns="0">
            <a:spAutoFit/>
          </a:bodyPr>
          <a:lstStyle/>
          <a:p>
            <a:pPr algn="l">
              <a:spcAft>
                <a:spcPts val="400"/>
              </a:spcAft>
            </a:pPr>
            <a:r>
              <a:rPr sz="1300" b="0" i="0">
                <a:solidFill>
                  <a:srgbClr val="2B2C30"/>
                </a:solidFill>
              </a:rPr>
              <a:t>Qwen-VL fine-tuned; TexTeller as baseline</a:t>
            </a:r>
          </a:p>
        </p:txBody>
      </p:sp>
      <p:sp>
        <p:nvSpPr>
          <p:cNvPr id="15" name="TextBox 14"/>
          <p:cNvSpPr txBox="1"/>
          <p:nvPr/>
        </p:nvSpPr>
        <p:spPr>
          <a:xfrm>
            <a:off x="5056632" y="3392424"/>
            <a:ext cx="1371600" cy="566928"/>
          </a:xfrm>
          <a:prstGeom prst="rect">
            <a:avLst/>
          </a:prstGeom>
          <a:noFill/>
        </p:spPr>
        <p:txBody>
          <a:bodyPr wrap="square" anchor="t" lIns="0" rIns="0" tIns="0" bIns="0">
            <a:spAutoFit/>
          </a:bodyPr>
          <a:lstStyle/>
          <a:p>
            <a:pPr algn="l">
              <a:spcAft>
                <a:spcPts val="400"/>
              </a:spcAft>
            </a:pPr>
            <a:r>
              <a:rPr sz="1300" b="1" i="0">
                <a:solidFill>
                  <a:srgbClr val="046E98"/>
                </a:solidFill>
              </a:rPr>
              <a:t>Metric</a:t>
            </a:r>
          </a:p>
        </p:txBody>
      </p:sp>
      <p:sp>
        <p:nvSpPr>
          <p:cNvPr id="16" name="TextBox 15"/>
          <p:cNvSpPr txBox="1"/>
          <p:nvPr/>
        </p:nvSpPr>
        <p:spPr>
          <a:xfrm>
            <a:off x="6428232" y="3392424"/>
            <a:ext cx="5184648" cy="566928"/>
          </a:xfrm>
          <a:prstGeom prst="rect">
            <a:avLst/>
          </a:prstGeom>
          <a:noFill/>
        </p:spPr>
        <p:txBody>
          <a:bodyPr wrap="square" anchor="t" lIns="0" rIns="0" tIns="0" bIns="0">
            <a:spAutoFit/>
          </a:bodyPr>
          <a:lstStyle/>
          <a:p>
            <a:pPr algn="l">
              <a:spcAft>
                <a:spcPts val="400"/>
              </a:spcAft>
            </a:pPr>
            <a:r>
              <a:rPr sz="1300" b="0" i="0">
                <a:solidFill>
                  <a:srgbClr val="2B2C30"/>
                </a:solidFill>
              </a:rPr>
              <a:t>Exact formula match; error detection F1; error location</a:t>
            </a:r>
          </a:p>
        </p:txBody>
      </p:sp>
      <p:sp>
        <p:nvSpPr>
          <p:cNvPr id="17" name="TextBox 16"/>
          <p:cNvSpPr txBox="1"/>
          <p:nvPr/>
        </p:nvSpPr>
        <p:spPr>
          <a:xfrm>
            <a:off x="5056632" y="3959352"/>
            <a:ext cx="1371600" cy="566928"/>
          </a:xfrm>
          <a:prstGeom prst="rect">
            <a:avLst/>
          </a:prstGeom>
          <a:noFill/>
        </p:spPr>
        <p:txBody>
          <a:bodyPr wrap="square" anchor="t" lIns="0" rIns="0" tIns="0" bIns="0">
            <a:spAutoFit/>
          </a:bodyPr>
          <a:lstStyle/>
          <a:p>
            <a:pPr algn="l">
              <a:spcAft>
                <a:spcPts val="400"/>
              </a:spcAft>
            </a:pPr>
            <a:r>
              <a:rPr sz="1300" b="1" i="0">
                <a:solidFill>
                  <a:srgbClr val="046E98"/>
                </a:solidFill>
              </a:rPr>
              <a:t>Risk</a:t>
            </a:r>
          </a:p>
        </p:txBody>
      </p:sp>
      <p:sp>
        <p:nvSpPr>
          <p:cNvPr id="18" name="TextBox 17"/>
          <p:cNvSpPr txBox="1"/>
          <p:nvPr/>
        </p:nvSpPr>
        <p:spPr>
          <a:xfrm>
            <a:off x="6428232" y="3959352"/>
            <a:ext cx="5184648" cy="566928"/>
          </a:xfrm>
          <a:prstGeom prst="rect">
            <a:avLst/>
          </a:prstGeom>
          <a:noFill/>
        </p:spPr>
        <p:txBody>
          <a:bodyPr wrap="square" anchor="t" lIns="0" rIns="0" tIns="0" bIns="0">
            <a:spAutoFit/>
          </a:bodyPr>
          <a:lstStyle/>
          <a:p>
            <a:pPr algn="l">
              <a:spcAft>
                <a:spcPts val="400"/>
              </a:spcAft>
            </a:pPr>
            <a:r>
              <a:rPr sz="1300" b="0" i="0">
                <a:solidFill>
                  <a:srgbClr val="2B2C30"/>
                </a:solidFill>
              </a:rPr>
              <a:t>LaTeX that SymPy cannot parse; multi-line layout</a:t>
            </a:r>
          </a:p>
        </p:txBody>
      </p:sp>
      <p:sp>
        <p:nvSpPr>
          <p:cNvPr id="19" name="Rounded Rectangle 18"/>
          <p:cNvSpPr/>
          <p:nvPr/>
        </p:nvSpPr>
        <p:spPr>
          <a:xfrm>
            <a:off x="5056632" y="5303520"/>
            <a:ext cx="6556248" cy="640080"/>
          </a:xfrm>
          <a:prstGeom prst="roundRect">
            <a:avLst>
              <a:gd name="adj" fmla="val 6000"/>
            </a:avLst>
          </a:prstGeom>
          <a:solidFill>
            <a:srgbClr val="808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85232" y="5303520"/>
            <a:ext cx="6126480" cy="640080"/>
          </a:xfrm>
          <a:prstGeom prst="rect">
            <a:avLst/>
          </a:prstGeom>
          <a:noFill/>
        </p:spPr>
        <p:txBody>
          <a:bodyPr wrap="square" anchor="ctr" lIns="0" rIns="0" tIns="0" bIns="0">
            <a:spAutoFit/>
          </a:bodyPr>
          <a:lstStyle/>
          <a:p>
            <a:pPr algn="l">
              <a:spcAft>
                <a:spcPts val="400"/>
              </a:spcAft>
            </a:pPr>
            <a:r>
              <a:rPr sz="1300" b="1" i="0">
                <a:solidFill>
                  <a:srgbClr val="FFFFFF"/>
                </a:solidFill>
              </a:rPr>
              <a:t>Neural-network part: </a:t>
            </a:r>
            <a:r>
              <a:rPr sz="1300" b="0" i="0">
                <a:solidFill>
                  <a:srgbClr val="FFFFFF"/>
                </a:solidFill>
              </a:rPr>
              <a:t>LoRA fine-tune Qwen-VL on handwritten formulas → LaTeX.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Comparing the three tasks (first impression)</a:t>
            </a:r>
          </a:p>
        </p:txBody>
      </p:sp>
      <p:sp>
        <p:nvSpPr>
          <p:cNvPr id="3" name="Draft tag"/>
          <p:cNvSpPr/>
          <p:nvPr/>
        </p:nvSpPr>
        <p:spPr>
          <a:xfrm>
            <a:off x="10058400" y="274320"/>
            <a:ext cx="1554480" cy="310896"/>
          </a:xfrm>
          <a:prstGeom prst="roundRect">
            <a:avLst/>
          </a:prstGeom>
          <a:noFill/>
          <a:ln w="9525">
            <a:solidFill>
              <a:srgbClr val="80828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5E6066"/>
                </a:solidFill>
              </a:rPr>
              <a:t>DRAFT · IDEA STAGE</a:t>
            </a:r>
          </a:p>
        </p:txBody>
      </p:sp>
      <p:graphicFrame>
        <p:nvGraphicFramePr>
          <p:cNvPr id="4" name="Table 3"/>
          <p:cNvGraphicFramePr>
            <a:graphicFrameLocks noGrp="1"/>
          </p:cNvGraphicFramePr>
          <p:nvPr/>
        </p:nvGraphicFramePr>
        <p:xfrm>
          <a:off x="484632" y="1691640"/>
          <a:ext cx="11128248" cy="3712464"/>
        </p:xfrm>
        <a:graphic>
          <a:graphicData uri="http://schemas.openxmlformats.org/drawingml/2006/table">
            <a:tbl>
              <a:tblPr firstRow="0" bandRow="0">
                <a:tableStyleId>{5940675A-B579-460E-94D1-54222C63F5DA}</a:tableStyleId>
              </a:tblPr>
              <a:tblGrid>
                <a:gridCol w="2651760"/>
                <a:gridCol w="2825496"/>
                <a:gridCol w="2825496"/>
                <a:gridCol w="2825496"/>
              </a:tblGrid>
              <a:tr h="530352">
                <a:tc>
                  <a:txBody>
                    <a:bodyPr wrap="square"/>
                    <a:lstStyle/>
                    <a:p>
                      <a:r>
                        <a:rPr sz="1400" b="1">
                          <a:solidFill>
                            <a:srgbClr val="FFFFFF"/>
                          </a:solidFill>
                        </a:rPr>
                        <a:t>Criterion</a:t>
                      </a:r>
                    </a:p>
                  </a:txBody>
                  <a:tcPr marL="73152" marR="73152" marT="36576" marB="36576" anchor="ctr">
                    <a:solidFill>
                      <a:srgbClr val="808288"/>
                    </a:solidFill>
                  </a:tcPr>
                </a:tc>
                <a:tc>
                  <a:txBody>
                    <a:bodyPr wrap="square"/>
                    <a:lstStyle/>
                    <a:p>
                      <a:r>
                        <a:rPr sz="1400" b="1">
                          <a:solidFill>
                            <a:srgbClr val="FFFFFF"/>
                          </a:solidFill>
                        </a:rPr>
                        <a:t>1 Fill the gaps</a:t>
                      </a:r>
                    </a:p>
                  </a:txBody>
                  <a:tcPr marL="73152" marR="73152" marT="36576" marB="36576" anchor="ctr">
                    <a:solidFill>
                      <a:srgbClr val="808288"/>
                    </a:solidFill>
                  </a:tcPr>
                </a:tc>
                <a:tc>
                  <a:txBody>
                    <a:bodyPr wrap="square"/>
                    <a:lstStyle/>
                    <a:p>
                      <a:r>
                        <a:rPr sz="1400" b="1">
                          <a:solidFill>
                            <a:srgbClr val="FFFFFF"/>
                          </a:solidFill>
                        </a:rPr>
                        <a:t>2 Free text</a:t>
                      </a:r>
                    </a:p>
                  </a:txBody>
                  <a:tcPr marL="73152" marR="73152" marT="36576" marB="36576" anchor="ctr">
                    <a:solidFill>
                      <a:srgbClr val="808288"/>
                    </a:solidFill>
                  </a:tcPr>
                </a:tc>
                <a:tc>
                  <a:txBody>
                    <a:bodyPr wrap="square"/>
                    <a:lstStyle/>
                    <a:p>
                      <a:r>
                        <a:rPr sz="1400" b="1">
                          <a:solidFill>
                            <a:srgbClr val="FFFFFF"/>
                          </a:solidFill>
                        </a:rPr>
                        <a:t>3 Math</a:t>
                      </a:r>
                    </a:p>
                  </a:txBody>
                  <a:tcPr marL="73152" marR="73152" marT="36576" marB="36576" anchor="ctr">
                    <a:solidFill>
                      <a:srgbClr val="808288"/>
                    </a:solidFill>
                  </a:tcPr>
                </a:tc>
              </a:tr>
              <a:tr h="530352">
                <a:tc>
                  <a:txBody>
                    <a:bodyPr wrap="square"/>
                    <a:lstStyle/>
                    <a:p>
                      <a:r>
                        <a:rPr sz="1400" b="1">
                          <a:solidFill>
                            <a:srgbClr val="2B2C30"/>
                          </a:solidFill>
                        </a:rPr>
                        <a:t>Public data</a:t>
                      </a:r>
                    </a:p>
                  </a:txBody>
                  <a:tcPr marL="73152" marR="73152" marT="36576" marB="36576" anchor="ctr">
                    <a:solidFill>
                      <a:srgbClr val="FFFFFF"/>
                    </a:solidFill>
                  </a:tcPr>
                </a:tc>
                <a:tc>
                  <a:txBody>
                    <a:bodyPr wrap="square"/>
                    <a:lstStyle/>
                    <a:p>
                      <a:r>
                        <a:rPr sz="1400" b="0">
                          <a:solidFill>
                            <a:srgbClr val="2B2C30"/>
                          </a:solidFill>
                        </a:rPr>
                        <a:t>Low — proxies only</a:t>
                      </a:r>
                    </a:p>
                  </a:txBody>
                  <a:tcPr marL="73152" marR="73152" marT="36576" marB="36576" anchor="ctr">
                    <a:solidFill>
                      <a:srgbClr val="FFFFFF"/>
                    </a:solidFill>
                  </a:tcPr>
                </a:tc>
                <a:tc>
                  <a:txBody>
                    <a:bodyPr wrap="square"/>
                    <a:lstStyle/>
                    <a:p>
                      <a:r>
                        <a:rPr sz="1400" b="0">
                          <a:solidFill>
                            <a:srgbClr val="2B2C30"/>
                          </a:solidFill>
                        </a:rPr>
                        <a:t>Medium — English sets</a:t>
                      </a:r>
                    </a:p>
                  </a:txBody>
                  <a:tcPr marL="73152" marR="73152" marT="36576" marB="36576" anchor="ctr">
                    <a:solidFill>
                      <a:srgbClr val="FFFFFF"/>
                    </a:solidFill>
                  </a:tcPr>
                </a:tc>
                <a:tc>
                  <a:txBody>
                    <a:bodyPr wrap="square"/>
                    <a:lstStyle/>
                    <a:p>
                      <a:r>
                        <a:rPr sz="1400" b="0">
                          <a:solidFill>
                            <a:srgbClr val="2B2C30"/>
                          </a:solidFill>
                        </a:rPr>
                        <a:t>High — reading + grading</a:t>
                      </a:r>
                    </a:p>
                  </a:txBody>
                  <a:tcPr marL="73152" marR="73152" marT="36576" marB="36576" anchor="ctr">
                    <a:solidFill>
                      <a:srgbClr val="FFFFFF"/>
                    </a:solidFill>
                  </a:tcPr>
                </a:tc>
              </a:tr>
              <a:tr h="530352">
                <a:tc>
                  <a:txBody>
                    <a:bodyPr wrap="square"/>
                    <a:lstStyle/>
                    <a:p>
                      <a:r>
                        <a:rPr sz="1400" b="1">
                          <a:solidFill>
                            <a:srgbClr val="2B2C30"/>
                          </a:solidFill>
                        </a:rPr>
                        <a:t>Difficulty</a:t>
                      </a:r>
                    </a:p>
                  </a:txBody>
                  <a:tcPr marL="73152" marR="73152" marT="36576" marB="36576" anchor="ctr">
                    <a:solidFill>
                      <a:srgbClr val="F1F2F4"/>
                    </a:solidFill>
                  </a:tcPr>
                </a:tc>
                <a:tc>
                  <a:txBody>
                    <a:bodyPr wrap="square"/>
                    <a:lstStyle/>
                    <a:p>
                      <a:r>
                        <a:rPr sz="1400" b="0">
                          <a:solidFill>
                            <a:srgbClr val="2B2C30"/>
                          </a:solidFill>
                        </a:rPr>
                        <a:t>Low</a:t>
                      </a:r>
                    </a:p>
                  </a:txBody>
                  <a:tcPr marL="73152" marR="73152" marT="36576" marB="36576" anchor="ctr">
                    <a:solidFill>
                      <a:srgbClr val="F1F2F4"/>
                    </a:solidFill>
                  </a:tcPr>
                </a:tc>
                <a:tc>
                  <a:txBody>
                    <a:bodyPr wrap="square"/>
                    <a:lstStyle/>
                    <a:p>
                      <a:r>
                        <a:rPr sz="1400" b="0">
                          <a:solidFill>
                            <a:srgbClr val="2B2C30"/>
                          </a:solidFill>
                        </a:rPr>
                        <a:t>Medium</a:t>
                      </a:r>
                    </a:p>
                  </a:txBody>
                  <a:tcPr marL="73152" marR="73152" marT="36576" marB="36576" anchor="ctr">
                    <a:solidFill>
                      <a:srgbClr val="F1F2F4"/>
                    </a:solidFill>
                  </a:tcPr>
                </a:tc>
                <a:tc>
                  <a:txBody>
                    <a:bodyPr wrap="square"/>
                    <a:lstStyle/>
                    <a:p>
                      <a:r>
                        <a:rPr sz="1400" b="0">
                          <a:solidFill>
                            <a:srgbClr val="2B2C30"/>
                          </a:solidFill>
                        </a:rPr>
                        <a:t>High</a:t>
                      </a:r>
                    </a:p>
                  </a:txBody>
                  <a:tcPr marL="73152" marR="73152" marT="36576" marB="36576" anchor="ctr">
                    <a:solidFill>
                      <a:srgbClr val="F1F2F4"/>
                    </a:solidFill>
                  </a:tcPr>
                </a:tc>
              </a:tr>
              <a:tr h="530352">
                <a:tc>
                  <a:txBody>
                    <a:bodyPr wrap="square"/>
                    <a:lstStyle/>
                    <a:p>
                      <a:r>
                        <a:rPr sz="1400" b="1">
                          <a:solidFill>
                            <a:srgbClr val="2B2C30"/>
                          </a:solidFill>
                        </a:rPr>
                        <a:t>Neural-network work</a:t>
                      </a:r>
                    </a:p>
                  </a:txBody>
                  <a:tcPr marL="73152" marR="73152" marT="36576" marB="36576" anchor="ctr">
                    <a:solidFill>
                      <a:srgbClr val="FFFFFF"/>
                    </a:solidFill>
                  </a:tcPr>
                </a:tc>
                <a:tc>
                  <a:txBody>
                    <a:bodyPr wrap="square"/>
                    <a:lstStyle/>
                    <a:p>
                      <a:r>
                        <a:rPr sz="1400" b="0">
                          <a:solidFill>
                            <a:srgbClr val="2B2C30"/>
                          </a:solidFill>
                        </a:rPr>
                        <a:t>Medium — small reader</a:t>
                      </a:r>
                    </a:p>
                  </a:txBody>
                  <a:tcPr marL="73152" marR="73152" marT="36576" marB="36576" anchor="ctr">
                    <a:solidFill>
                      <a:srgbClr val="FFFFFF"/>
                    </a:solidFill>
                  </a:tcPr>
                </a:tc>
                <a:tc>
                  <a:txBody>
                    <a:bodyPr wrap="square"/>
                    <a:lstStyle/>
                    <a:p>
                      <a:r>
                        <a:rPr sz="1400" b="0">
                          <a:solidFill>
                            <a:srgbClr val="2B2C30"/>
                          </a:solidFill>
                        </a:rPr>
                        <a:t>High — page reading</a:t>
                      </a:r>
                    </a:p>
                  </a:txBody>
                  <a:tcPr marL="73152" marR="73152" marT="36576" marB="36576" anchor="ctr">
                    <a:solidFill>
                      <a:srgbClr val="FFFFFF"/>
                    </a:solidFill>
                  </a:tcPr>
                </a:tc>
                <a:tc>
                  <a:txBody>
                    <a:bodyPr wrap="square"/>
                    <a:lstStyle/>
                    <a:p>
                      <a:r>
                        <a:rPr sz="1400" b="0">
                          <a:solidFill>
                            <a:srgbClr val="2B2C30"/>
                          </a:solidFill>
                        </a:rPr>
                        <a:t>High — formula reading</a:t>
                      </a:r>
                    </a:p>
                  </a:txBody>
                  <a:tcPr marL="73152" marR="73152" marT="36576" marB="36576" anchor="ctr">
                    <a:solidFill>
                      <a:srgbClr val="FFFFFF"/>
                    </a:solidFill>
                  </a:tcPr>
                </a:tc>
              </a:tr>
              <a:tr h="530352">
                <a:tc>
                  <a:txBody>
                    <a:bodyPr wrap="square"/>
                    <a:lstStyle/>
                    <a:p>
                      <a:r>
                        <a:rPr sz="1400" b="1">
                          <a:solidFill>
                            <a:srgbClr val="2B2C30"/>
                          </a:solidFill>
                        </a:rPr>
                        <a:t>Close to STACK</a:t>
                      </a:r>
                    </a:p>
                  </a:txBody>
                  <a:tcPr marL="73152" marR="73152" marT="36576" marB="36576" anchor="ctr">
                    <a:solidFill>
                      <a:srgbClr val="F1F2F4"/>
                    </a:solidFill>
                  </a:tcPr>
                </a:tc>
                <a:tc>
                  <a:txBody>
                    <a:bodyPr wrap="square"/>
                    <a:lstStyle/>
                    <a:p>
                      <a:r>
                        <a:rPr sz="1400" b="0">
                          <a:solidFill>
                            <a:srgbClr val="2B2C30"/>
                          </a:solidFill>
                        </a:rPr>
                        <a:t>Medium — answer key</a:t>
                      </a:r>
                    </a:p>
                  </a:txBody>
                  <a:tcPr marL="73152" marR="73152" marT="36576" marB="36576" anchor="ctr">
                    <a:solidFill>
                      <a:srgbClr val="F1F2F4"/>
                    </a:solidFill>
                  </a:tcPr>
                </a:tc>
                <a:tc>
                  <a:txBody>
                    <a:bodyPr wrap="square"/>
                    <a:lstStyle/>
                    <a:p>
                      <a:r>
                        <a:rPr sz="1400" b="0">
                          <a:solidFill>
                            <a:srgbClr val="2B2C30"/>
                          </a:solidFill>
                        </a:rPr>
                        <a:t>Low — rubric</a:t>
                      </a:r>
                    </a:p>
                  </a:txBody>
                  <a:tcPr marL="73152" marR="73152" marT="36576" marB="36576" anchor="ctr">
                    <a:solidFill>
                      <a:srgbClr val="F1F2F4"/>
                    </a:solidFill>
                  </a:tcPr>
                </a:tc>
                <a:tc>
                  <a:txBody>
                    <a:bodyPr wrap="square"/>
                    <a:lstStyle/>
                    <a:p>
                      <a:r>
                        <a:rPr sz="1400" b="0">
                          <a:solidFill>
                            <a:srgbClr val="2B2C30"/>
                          </a:solidFill>
                        </a:rPr>
                        <a:t>High — meaning check</a:t>
                      </a:r>
                    </a:p>
                  </a:txBody>
                  <a:tcPr marL="73152" marR="73152" marT="36576" marB="36576" anchor="ctr">
                    <a:solidFill>
                      <a:srgbClr val="F1F2F4"/>
                    </a:solidFill>
                  </a:tcPr>
                </a:tc>
              </a:tr>
              <a:tr h="530352">
                <a:tc>
                  <a:txBody>
                    <a:bodyPr wrap="square"/>
                    <a:lstStyle/>
                    <a:p>
                      <a:r>
                        <a:rPr sz="1400" b="1">
                          <a:solidFill>
                            <a:srgbClr val="2B2C30"/>
                          </a:solidFill>
                        </a:rPr>
                        <a:t>Value for teachers</a:t>
                      </a:r>
                    </a:p>
                  </a:txBody>
                  <a:tcPr marL="73152" marR="73152" marT="36576" marB="36576" anchor="ctr">
                    <a:solidFill>
                      <a:srgbClr val="FFFFFF"/>
                    </a:solidFill>
                  </a:tcPr>
                </a:tc>
                <a:tc>
                  <a:txBody>
                    <a:bodyPr wrap="square"/>
                    <a:lstStyle/>
                    <a:p>
                      <a:r>
                        <a:rPr sz="1400" b="0">
                          <a:solidFill>
                            <a:srgbClr val="2B2C30"/>
                          </a:solidFill>
                        </a:rPr>
                        <a:t>High — common format</a:t>
                      </a:r>
                    </a:p>
                  </a:txBody>
                  <a:tcPr marL="73152" marR="73152" marT="36576" marB="36576" anchor="ctr">
                    <a:solidFill>
                      <a:srgbClr val="FFFFFF"/>
                    </a:solidFill>
                  </a:tcPr>
                </a:tc>
                <a:tc>
                  <a:txBody>
                    <a:bodyPr wrap="square"/>
                    <a:lstStyle/>
                    <a:p>
                      <a:r>
                        <a:rPr sz="1400" b="0">
                          <a:solidFill>
                            <a:srgbClr val="2B2C30"/>
                          </a:solidFill>
                        </a:rPr>
                        <a:t>High — slow to grade</a:t>
                      </a:r>
                    </a:p>
                  </a:txBody>
                  <a:tcPr marL="73152" marR="73152" marT="36576" marB="36576" anchor="ctr">
                    <a:solidFill>
                      <a:srgbClr val="FFFFFF"/>
                    </a:solidFill>
                  </a:tcPr>
                </a:tc>
                <a:tc>
                  <a:txBody>
                    <a:bodyPr wrap="square"/>
                    <a:lstStyle/>
                    <a:p>
                      <a:r>
                        <a:rPr sz="1400" b="0">
                          <a:solidFill>
                            <a:srgbClr val="2B2C30"/>
                          </a:solidFill>
                        </a:rPr>
                        <a:t>High — slow to grade</a:t>
                      </a:r>
                    </a:p>
                  </a:txBody>
                  <a:tcPr marL="73152" marR="73152" marT="36576" marB="36576" anchor="ctr">
                    <a:solidFill>
                      <a:srgbClr val="FFFFFF"/>
                    </a:solidFill>
                  </a:tcPr>
                </a:tc>
              </a:tr>
              <a:tr h="530352">
                <a:tc>
                  <a:txBody>
                    <a:bodyPr wrap="square"/>
                    <a:lstStyle/>
                    <a:p>
                      <a:r>
                        <a:rPr sz="1400" b="1">
                          <a:solidFill>
                            <a:srgbClr val="2B2C30"/>
                          </a:solidFill>
                        </a:rPr>
                        <a:t>Main risk</a:t>
                      </a:r>
                    </a:p>
                  </a:txBody>
                  <a:tcPr marL="73152" marR="73152" marT="36576" marB="36576" anchor="ctr">
                    <a:solidFill>
                      <a:srgbClr val="F1F2F4"/>
                    </a:solidFill>
                  </a:tcPr>
                </a:tc>
                <a:tc>
                  <a:txBody>
                    <a:bodyPr wrap="square"/>
                    <a:lstStyle/>
                    <a:p>
                      <a:r>
                        <a:rPr sz="1400" b="0">
                          <a:solidFill>
                            <a:srgbClr val="2B2C30"/>
                          </a:solidFill>
                        </a:rPr>
                        <a:t>No real worksheets</a:t>
                      </a:r>
                    </a:p>
                  </a:txBody>
                  <a:tcPr marL="73152" marR="73152" marT="36576" marB="36576" anchor="ctr">
                    <a:solidFill>
                      <a:srgbClr val="F1F2F4"/>
                    </a:solidFill>
                  </a:tcPr>
                </a:tc>
                <a:tc>
                  <a:txBody>
                    <a:bodyPr wrap="square"/>
                    <a:lstStyle/>
                    <a:p>
                      <a:r>
                        <a:rPr sz="1400" b="0">
                          <a:solidFill>
                            <a:srgbClr val="2B2C30"/>
                          </a:solidFill>
                        </a:rPr>
                        <a:t>Access; subjective scores</a:t>
                      </a:r>
                    </a:p>
                  </a:txBody>
                  <a:tcPr marL="73152" marR="73152" marT="36576" marB="36576" anchor="ctr">
                    <a:solidFill>
                      <a:srgbClr val="F1F2F4"/>
                    </a:solidFill>
                  </a:tcPr>
                </a:tc>
                <a:tc>
                  <a:txBody>
                    <a:bodyPr wrap="square"/>
                    <a:lstStyle/>
                    <a:p>
                      <a:r>
                        <a:rPr sz="1400" b="0">
                          <a:solidFill>
                            <a:srgbClr val="2B2C30"/>
                          </a:solidFill>
                        </a:rPr>
                        <a:t>Parsing multi-line math</a:t>
                      </a:r>
                    </a:p>
                  </a:txBody>
                  <a:tcPr marL="73152" marR="73152" marT="36576" marB="36576" anchor="ctr">
                    <a:solidFill>
                      <a:srgbClr val="F1F2F4"/>
                    </a:solidFill>
                  </a:tcPr>
                </a:tc>
              </a:tr>
            </a:tbl>
          </a:graphicData>
        </a:graphic>
      </p:graphicFrame>
      <p:sp>
        <p:nvSpPr>
          <p:cNvPr id="5" name="TextBox 4"/>
          <p:cNvSpPr txBox="1"/>
          <p:nvPr/>
        </p:nvSpPr>
        <p:spPr>
          <a:xfrm>
            <a:off x="484632" y="5577840"/>
            <a:ext cx="11128248" cy="457200"/>
          </a:xfrm>
          <a:prstGeom prst="rect">
            <a:avLst/>
          </a:prstGeom>
          <a:noFill/>
        </p:spPr>
        <p:txBody>
          <a:bodyPr wrap="square" anchor="t" lIns="0" rIns="0" tIns="0" bIns="0">
            <a:spAutoFit/>
          </a:bodyPr>
          <a:lstStyle/>
          <a:p>
            <a:pPr algn="l">
              <a:spcAft>
                <a:spcPts val="400"/>
              </a:spcAft>
            </a:pPr>
            <a:r>
              <a:rPr sz="1500" b="1" i="0">
                <a:solidFill>
                  <a:srgbClr val="046E98"/>
                </a:solidFill>
              </a:rPr>
              <a:t>First impression: </a:t>
            </a:r>
            <a:r>
              <a:rPr sz="1500" b="0" i="0">
                <a:solidFill>
                  <a:srgbClr val="2B2C30"/>
                </a:solidFill>
              </a:rPr>
              <a:t>Math as main task; second task to decide together.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Public datasets per task</a:t>
            </a:r>
          </a:p>
        </p:txBody>
      </p:sp>
      <p:sp>
        <p:nvSpPr>
          <p:cNvPr id="3" name="Draft tag"/>
          <p:cNvSpPr/>
          <p:nvPr/>
        </p:nvSpPr>
        <p:spPr>
          <a:xfrm>
            <a:off x="10058400" y="274320"/>
            <a:ext cx="1554480" cy="310896"/>
          </a:xfrm>
          <a:prstGeom prst="roundRect">
            <a:avLst/>
          </a:prstGeom>
          <a:noFill/>
          <a:ln w="9525">
            <a:solidFill>
              <a:srgbClr val="80828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5E6066"/>
                </a:solidFill>
              </a:rPr>
              <a:t>DRAFT · IDEA STAGE</a:t>
            </a:r>
          </a:p>
        </p:txBody>
      </p:sp>
      <p:graphicFrame>
        <p:nvGraphicFramePr>
          <p:cNvPr id="4" name="Table 3"/>
          <p:cNvGraphicFramePr>
            <a:graphicFrameLocks noGrp="1"/>
          </p:cNvGraphicFramePr>
          <p:nvPr/>
        </p:nvGraphicFramePr>
        <p:xfrm>
          <a:off x="484632" y="1645920"/>
          <a:ext cx="11128247" cy="3721608"/>
        </p:xfrm>
        <a:graphic>
          <a:graphicData uri="http://schemas.openxmlformats.org/drawingml/2006/table">
            <a:tbl>
              <a:tblPr firstRow="0" bandRow="0">
                <a:tableStyleId>{5940675A-B579-460E-94D1-54222C63F5DA}</a:tableStyleId>
              </a:tblPr>
              <a:tblGrid>
                <a:gridCol w="1737360"/>
                <a:gridCol w="3566160"/>
                <a:gridCol w="3931920"/>
                <a:gridCol w="1892807"/>
              </a:tblGrid>
              <a:tr h="338328">
                <a:tc>
                  <a:txBody>
                    <a:bodyPr wrap="square"/>
                    <a:lstStyle/>
                    <a:p>
                      <a:r>
                        <a:rPr sz="1200" b="1">
                          <a:solidFill>
                            <a:srgbClr val="FFFFFF"/>
                          </a:solidFill>
                        </a:rPr>
                        <a:t>Task</a:t>
                      </a:r>
                    </a:p>
                  </a:txBody>
                  <a:tcPr marL="73152" marR="73152" marT="36576" marB="36576" anchor="ctr">
                    <a:solidFill>
                      <a:srgbClr val="808288"/>
                    </a:solidFill>
                  </a:tcPr>
                </a:tc>
                <a:tc>
                  <a:txBody>
                    <a:bodyPr wrap="square"/>
                    <a:lstStyle/>
                    <a:p>
                      <a:r>
                        <a:rPr sz="1200" b="1">
                          <a:solidFill>
                            <a:srgbClr val="FFFFFF"/>
                          </a:solidFill>
                        </a:rPr>
                        <a:t>Dataset</a:t>
                      </a:r>
                    </a:p>
                  </a:txBody>
                  <a:tcPr marL="73152" marR="73152" marT="36576" marB="36576" anchor="ctr">
                    <a:solidFill>
                      <a:srgbClr val="808288"/>
                    </a:solidFill>
                  </a:tcPr>
                </a:tc>
                <a:tc>
                  <a:txBody>
                    <a:bodyPr wrap="square"/>
                    <a:lstStyle/>
                    <a:p>
                      <a:r>
                        <a:rPr sz="1200" b="1">
                          <a:solidFill>
                            <a:srgbClr val="FFFFFF"/>
                          </a:solidFill>
                        </a:rPr>
                        <a:t>Contents</a:t>
                      </a:r>
                    </a:p>
                  </a:txBody>
                  <a:tcPr marL="73152" marR="73152" marT="36576" marB="36576" anchor="ctr">
                    <a:solidFill>
                      <a:srgbClr val="808288"/>
                    </a:solidFill>
                  </a:tcPr>
                </a:tc>
                <a:tc>
                  <a:txBody>
                    <a:bodyPr wrap="square"/>
                    <a:lstStyle/>
                    <a:p>
                      <a:r>
                        <a:rPr sz="1200" b="1">
                          <a:solidFill>
                            <a:srgbClr val="FFFFFF"/>
                          </a:solidFill>
                        </a:rPr>
                        <a:t>Source</a:t>
                      </a:r>
                    </a:p>
                  </a:txBody>
                  <a:tcPr marL="73152" marR="73152" marT="36576" marB="36576" anchor="ctr">
                    <a:solidFill>
                      <a:srgbClr val="808288"/>
                    </a:solidFill>
                  </a:tcPr>
                </a:tc>
              </a:tr>
              <a:tr h="338328">
                <a:tc>
                  <a:txBody>
                    <a:bodyPr wrap="square"/>
                    <a:lstStyle/>
                    <a:p>
                      <a:r>
                        <a:rPr sz="1200" b="0">
                          <a:solidFill>
                            <a:srgbClr val="2B2C30"/>
                          </a:solidFill>
                        </a:rPr>
                        <a:t>1 Fill the gaps</a:t>
                      </a:r>
                    </a:p>
                  </a:txBody>
                  <a:tcPr marL="73152" marR="73152" marT="36576" marB="36576" anchor="ctr">
                    <a:solidFill>
                      <a:srgbClr val="FFFFFF"/>
                    </a:solidFill>
                  </a:tcPr>
                </a:tc>
                <a:tc>
                  <a:txBody>
                    <a:bodyPr wrap="square"/>
                    <a:lstStyle/>
                    <a:p>
                      <a:r>
                        <a:rPr sz="1200" b="0">
                          <a:solidFill>
                            <a:srgbClr val="2B2C30"/>
                          </a:solidFill>
                        </a:rPr>
                        <a:t>Grabowski exam benchmark</a:t>
                      </a:r>
                    </a:p>
                  </a:txBody>
                  <a:tcPr marL="73152" marR="73152" marT="36576" marB="36576" anchor="ctr">
                    <a:solidFill>
                      <a:srgbClr val="FFFFFF"/>
                    </a:solidFill>
                  </a:tcPr>
                </a:tc>
                <a:tc>
                  <a:txBody>
                    <a:bodyPr wrap="square"/>
                    <a:lstStyle/>
                    <a:p>
                      <a:r>
                        <a:rPr sz="1200" b="0">
                          <a:solidFill>
                            <a:srgbClr val="2B2C30"/>
                          </a:solidFill>
                        </a:rPr>
                        <a:t>3,141 handwritten answer boxes, 61 exams</a:t>
                      </a:r>
                    </a:p>
                  </a:txBody>
                  <a:tcPr marL="73152" marR="73152" marT="36576" marB="36576" anchor="ctr">
                    <a:solidFill>
                      <a:srgbClr val="FFFFFF"/>
                    </a:solidFill>
                  </a:tcPr>
                </a:tc>
                <a:tc>
                  <a:txBody>
                    <a:bodyPr wrap="square"/>
                    <a:lstStyle/>
                    <a:p>
                      <a:r>
                        <a:rPr sz="1200" b="0">
                          <a:solidFill>
                            <a:srgbClr val="2B2C30"/>
                          </a:solidFill>
                        </a:rPr>
                        <a:t>arXiv 2606.11477</a:t>
                      </a:r>
                    </a:p>
                  </a:txBody>
                  <a:tcPr marL="73152" marR="73152" marT="36576" marB="36576" anchor="ctr">
                    <a:solidFill>
                      <a:srgbClr val="FFFFFF"/>
                    </a:solidFill>
                  </a:tcPr>
                </a:tc>
              </a:tr>
              <a:tr h="338328">
                <a:tc>
                  <a:txBody>
                    <a:bodyPr wrap="square"/>
                    <a:lstStyle/>
                    <a:p>
                      <a:r>
                        <a:rPr sz="1200" b="0">
                          <a:solidFill>
                            <a:srgbClr val="2B2C30"/>
                          </a:solidFill>
                        </a:rPr>
                        <a:t>1 Fill the gaps</a:t>
                      </a:r>
                    </a:p>
                  </a:txBody>
                  <a:tcPr marL="73152" marR="73152" marT="36576" marB="36576" anchor="ctr">
                    <a:solidFill>
                      <a:srgbClr val="F1F2F4"/>
                    </a:solidFill>
                  </a:tcPr>
                </a:tc>
                <a:tc>
                  <a:txBody>
                    <a:bodyPr wrap="square"/>
                    <a:lstStyle/>
                    <a:p>
                      <a:r>
                        <a:rPr sz="1100" b="0">
                          <a:solidFill>
                            <a:srgbClr val="2B2C30"/>
                          </a:solidFill>
                          <a:latin typeface="Courier New"/>
                        </a:rPr>
                        <a:t>Teklia/IAM-line</a:t>
                      </a:r>
                    </a:p>
                  </a:txBody>
                  <a:tcPr marL="73152" marR="73152" marT="36576" marB="36576" anchor="ctr">
                    <a:solidFill>
                      <a:srgbClr val="F1F2F4"/>
                    </a:solidFill>
                  </a:tcPr>
                </a:tc>
                <a:tc>
                  <a:txBody>
                    <a:bodyPr wrap="square"/>
                    <a:lstStyle/>
                    <a:p>
                      <a:r>
                        <a:rPr sz="1200" b="0">
                          <a:solidFill>
                            <a:srgbClr val="2B2C30"/>
                          </a:solidFill>
                        </a:rPr>
                        <a:t>English handwritten text lines</a:t>
                      </a:r>
                    </a:p>
                  </a:txBody>
                  <a:tcPr marL="73152" marR="73152" marT="36576" marB="36576" anchor="ctr">
                    <a:solidFill>
                      <a:srgbClr val="F1F2F4"/>
                    </a:solidFill>
                  </a:tcPr>
                </a:tc>
                <a:tc>
                  <a:txBody>
                    <a:bodyPr wrap="square"/>
                    <a:lstStyle/>
                    <a:p>
                      <a:r>
                        <a:rPr sz="1200" b="0">
                          <a:solidFill>
                            <a:srgbClr val="2B2C30"/>
                          </a:solidFill>
                        </a:rPr>
                        <a:t>Hugging Face</a:t>
                      </a:r>
                    </a:p>
                  </a:txBody>
                  <a:tcPr marL="73152" marR="73152" marT="36576" marB="36576" anchor="ctr">
                    <a:solidFill>
                      <a:srgbClr val="F1F2F4"/>
                    </a:solidFill>
                  </a:tcPr>
                </a:tc>
              </a:tr>
              <a:tr h="338328">
                <a:tc>
                  <a:txBody>
                    <a:bodyPr wrap="square"/>
                    <a:lstStyle/>
                    <a:p>
                      <a:r>
                        <a:rPr sz="1200" b="0">
                          <a:solidFill>
                            <a:srgbClr val="2B2C30"/>
                          </a:solidFill>
                        </a:rPr>
                        <a:t>1 Fill the gaps</a:t>
                      </a:r>
                    </a:p>
                  </a:txBody>
                  <a:tcPr marL="73152" marR="73152" marT="36576" marB="36576" anchor="ctr">
                    <a:solidFill>
                      <a:srgbClr val="FFFFFF"/>
                    </a:solidFill>
                  </a:tcPr>
                </a:tc>
                <a:tc>
                  <a:txBody>
                    <a:bodyPr wrap="square"/>
                    <a:lstStyle/>
                    <a:p>
                      <a:r>
                        <a:rPr sz="1100" b="0">
                          <a:solidFill>
                            <a:srgbClr val="2B2C30"/>
                          </a:solidFill>
                          <a:latin typeface="Courier New"/>
                        </a:rPr>
                        <a:t>fhswf/german_handwriting</a:t>
                      </a:r>
                    </a:p>
                  </a:txBody>
                  <a:tcPr marL="73152" marR="73152" marT="36576" marB="36576" anchor="ctr">
                    <a:solidFill>
                      <a:srgbClr val="FFFFFF"/>
                    </a:solidFill>
                  </a:tcPr>
                </a:tc>
                <a:tc>
                  <a:txBody>
                    <a:bodyPr wrap="square"/>
                    <a:lstStyle/>
                    <a:p>
                      <a:r>
                        <a:rPr sz="1200" b="0">
                          <a:solidFill>
                            <a:srgbClr val="2B2C30"/>
                          </a:solidFill>
                        </a:rPr>
                        <a:t>German handwriting samples</a:t>
                      </a:r>
                    </a:p>
                  </a:txBody>
                  <a:tcPr marL="73152" marR="73152" marT="36576" marB="36576" anchor="ctr">
                    <a:solidFill>
                      <a:srgbClr val="FFFFFF"/>
                    </a:solidFill>
                  </a:tcPr>
                </a:tc>
                <a:tc>
                  <a:txBody>
                    <a:bodyPr wrap="square"/>
                    <a:lstStyle/>
                    <a:p>
                      <a:r>
                        <a:rPr sz="1200" b="0">
                          <a:solidFill>
                            <a:srgbClr val="2B2C30"/>
                          </a:solidFill>
                        </a:rPr>
                        <a:t>Hugging Face</a:t>
                      </a:r>
                    </a:p>
                  </a:txBody>
                  <a:tcPr marL="73152" marR="73152" marT="36576" marB="36576" anchor="ctr">
                    <a:solidFill>
                      <a:srgbClr val="FFFFFF"/>
                    </a:solidFill>
                  </a:tcPr>
                </a:tc>
              </a:tr>
              <a:tr h="338328">
                <a:tc>
                  <a:txBody>
                    <a:bodyPr wrap="square"/>
                    <a:lstStyle/>
                    <a:p>
                      <a:r>
                        <a:rPr sz="1200" b="0">
                          <a:solidFill>
                            <a:srgbClr val="2B2C30"/>
                          </a:solidFill>
                        </a:rPr>
                        <a:t>2 Free text</a:t>
                      </a:r>
                    </a:p>
                  </a:txBody>
                  <a:tcPr marL="73152" marR="73152" marT="36576" marB="36576" anchor="ctr">
                    <a:solidFill>
                      <a:srgbClr val="F1F2F4"/>
                    </a:solidFill>
                  </a:tcPr>
                </a:tc>
                <a:tc>
                  <a:txBody>
                    <a:bodyPr wrap="square"/>
                    <a:lstStyle/>
                    <a:p>
                      <a:r>
                        <a:rPr sz="1200" b="0">
                          <a:solidFill>
                            <a:srgbClr val="2B2C30"/>
                          </a:solidFill>
                        </a:rPr>
                        <a:t>GCSE double-marked benchmark</a:t>
                      </a:r>
                    </a:p>
                  </a:txBody>
                  <a:tcPr marL="73152" marR="73152" marT="36576" marB="36576" anchor="ctr">
                    <a:solidFill>
                      <a:srgbClr val="F1F2F4"/>
                    </a:solidFill>
                  </a:tcPr>
                </a:tc>
                <a:tc>
                  <a:txBody>
                    <a:bodyPr wrap="square"/>
                    <a:lstStyle/>
                    <a:p>
                      <a:r>
                        <a:rPr sz="1200" b="0">
                          <a:solidFill>
                            <a:srgbClr val="2B2C30"/>
                          </a:solidFill>
                        </a:rPr>
                        <a:t>32.5k responses incl. handwritten essays</a:t>
                      </a:r>
                    </a:p>
                  </a:txBody>
                  <a:tcPr marL="73152" marR="73152" marT="36576" marB="36576" anchor="ctr">
                    <a:solidFill>
                      <a:srgbClr val="F1F2F4"/>
                    </a:solidFill>
                  </a:tcPr>
                </a:tc>
                <a:tc>
                  <a:txBody>
                    <a:bodyPr wrap="square"/>
                    <a:lstStyle/>
                    <a:p>
                      <a:r>
                        <a:rPr sz="1200" b="0">
                          <a:solidFill>
                            <a:srgbClr val="2B2C30"/>
                          </a:solidFill>
                        </a:rPr>
                        <a:t>arXiv 2606.24973</a:t>
                      </a:r>
                    </a:p>
                  </a:txBody>
                  <a:tcPr marL="73152" marR="73152" marT="36576" marB="36576" anchor="ctr">
                    <a:solidFill>
                      <a:srgbClr val="F1F2F4"/>
                    </a:solidFill>
                  </a:tcPr>
                </a:tc>
              </a:tr>
              <a:tr h="338328">
                <a:tc>
                  <a:txBody>
                    <a:bodyPr wrap="square"/>
                    <a:lstStyle/>
                    <a:p>
                      <a:r>
                        <a:rPr sz="1200" b="0">
                          <a:solidFill>
                            <a:srgbClr val="2B2C30"/>
                          </a:solidFill>
                        </a:rPr>
                        <a:t>2 Free text</a:t>
                      </a:r>
                    </a:p>
                  </a:txBody>
                  <a:tcPr marL="73152" marR="73152" marT="36576" marB="36576" anchor="ctr">
                    <a:solidFill>
                      <a:srgbClr val="FFFFFF"/>
                    </a:solidFill>
                  </a:tcPr>
                </a:tc>
                <a:tc>
                  <a:txBody>
                    <a:bodyPr wrap="square"/>
                    <a:lstStyle/>
                    <a:p>
                      <a:r>
                        <a:rPr sz="1200" b="0">
                          <a:solidFill>
                            <a:srgbClr val="2B2C30"/>
                          </a:solidFill>
                        </a:rPr>
                        <a:t>VisEssay</a:t>
                      </a:r>
                    </a:p>
                  </a:txBody>
                  <a:tcPr marL="73152" marR="73152" marT="36576" marB="36576" anchor="ctr">
                    <a:solidFill>
                      <a:srgbClr val="FFFFFF"/>
                    </a:solidFill>
                  </a:tcPr>
                </a:tc>
                <a:tc>
                  <a:txBody>
                    <a:bodyPr wrap="square"/>
                    <a:lstStyle/>
                    <a:p>
                      <a:r>
                        <a:rPr sz="1200" b="0">
                          <a:solidFill>
                            <a:srgbClr val="2B2C30"/>
                          </a:solidFill>
                        </a:rPr>
                        <a:t>13k+ graded handwritten essays (no public download)</a:t>
                      </a:r>
                    </a:p>
                  </a:txBody>
                  <a:tcPr marL="73152" marR="73152" marT="36576" marB="36576" anchor="ctr">
                    <a:solidFill>
                      <a:srgbClr val="FFFFFF"/>
                    </a:solidFill>
                  </a:tcPr>
                </a:tc>
                <a:tc>
                  <a:txBody>
                    <a:bodyPr wrap="square"/>
                    <a:lstStyle/>
                    <a:p>
                      <a:r>
                        <a:rPr sz="1200" b="0">
                          <a:solidFill>
                            <a:srgbClr val="2B2C30"/>
                          </a:solidFill>
                        </a:rPr>
                        <a:t>ACM 2022</a:t>
                      </a:r>
                    </a:p>
                  </a:txBody>
                  <a:tcPr marL="73152" marR="73152" marT="36576" marB="36576" anchor="ctr">
                    <a:solidFill>
                      <a:srgbClr val="FFFFFF"/>
                    </a:solidFill>
                  </a:tcPr>
                </a:tc>
              </a:tr>
              <a:tr h="338328">
                <a:tc>
                  <a:txBody>
                    <a:bodyPr wrap="square"/>
                    <a:lstStyle/>
                    <a:p>
                      <a:r>
                        <a:rPr sz="1200" b="0">
                          <a:solidFill>
                            <a:srgbClr val="2B2C30"/>
                          </a:solidFill>
                        </a:rPr>
                        <a:t>2 Free text</a:t>
                      </a:r>
                    </a:p>
                  </a:txBody>
                  <a:tcPr marL="73152" marR="73152" marT="36576" marB="36576" anchor="ctr">
                    <a:solidFill>
                      <a:srgbClr val="F1F2F4"/>
                    </a:solidFill>
                  </a:tcPr>
                </a:tc>
                <a:tc>
                  <a:txBody>
                    <a:bodyPr wrap="square"/>
                    <a:lstStyle/>
                    <a:p>
                      <a:r>
                        <a:rPr sz="1200" b="0">
                          <a:solidFill>
                            <a:srgbClr val="2B2C30"/>
                          </a:solidFill>
                        </a:rPr>
                        <a:t>BRESSAY</a:t>
                      </a:r>
                    </a:p>
                  </a:txBody>
                  <a:tcPr marL="73152" marR="73152" marT="36576" marB="36576" anchor="ctr">
                    <a:solidFill>
                      <a:srgbClr val="F1F2F4"/>
                    </a:solidFill>
                  </a:tcPr>
                </a:tc>
                <a:tc>
                  <a:txBody>
                    <a:bodyPr wrap="square"/>
                    <a:lstStyle/>
                    <a:p>
                      <a:r>
                        <a:rPr sz="1200" b="0">
                          <a:solidFill>
                            <a:srgbClr val="2B2C30"/>
                          </a:solidFill>
                        </a:rPr>
                        <a:t>1,000 handwritten essay pages (Portuguese)</a:t>
                      </a:r>
                    </a:p>
                  </a:txBody>
                  <a:tcPr marL="73152" marR="73152" marT="36576" marB="36576" anchor="ctr">
                    <a:solidFill>
                      <a:srgbClr val="F1F2F4"/>
                    </a:solidFill>
                  </a:tcPr>
                </a:tc>
                <a:tc>
                  <a:txBody>
                    <a:bodyPr wrap="square"/>
                    <a:lstStyle/>
                    <a:p>
                      <a:r>
                        <a:rPr sz="1200" b="0">
                          <a:solidFill>
                            <a:srgbClr val="2B2C30"/>
                          </a:solidFill>
                        </a:rPr>
                        <a:t>2025 study</a:t>
                      </a:r>
                    </a:p>
                  </a:txBody>
                  <a:tcPr marL="73152" marR="73152" marT="36576" marB="36576" anchor="ctr">
                    <a:solidFill>
                      <a:srgbClr val="F1F2F4"/>
                    </a:solidFill>
                  </a:tcPr>
                </a:tc>
              </a:tr>
              <a:tr h="338328">
                <a:tc>
                  <a:txBody>
                    <a:bodyPr wrap="square"/>
                    <a:lstStyle/>
                    <a:p>
                      <a:r>
                        <a:rPr sz="1200" b="0">
                          <a:solidFill>
                            <a:srgbClr val="2B2C30"/>
                          </a:solidFill>
                        </a:rPr>
                        <a:t>3 Math</a:t>
                      </a:r>
                    </a:p>
                  </a:txBody>
                  <a:tcPr marL="73152" marR="73152" marT="36576" marB="36576" anchor="ctr">
                    <a:solidFill>
                      <a:srgbClr val="FFFFFF"/>
                    </a:solidFill>
                  </a:tcPr>
                </a:tc>
                <a:tc>
                  <a:txBody>
                    <a:bodyPr wrap="square"/>
                    <a:lstStyle/>
                    <a:p>
                      <a:r>
                        <a:rPr sz="1100" b="0">
                          <a:solidFill>
                            <a:srgbClr val="2B2C30"/>
                          </a:solidFill>
                          <a:latin typeface="Courier New"/>
                        </a:rPr>
                        <a:t>ai4bharat/FERMAT</a:t>
                      </a:r>
                    </a:p>
                  </a:txBody>
                  <a:tcPr marL="73152" marR="73152" marT="36576" marB="36576" anchor="ctr">
                    <a:solidFill>
                      <a:srgbClr val="FFFFFF"/>
                    </a:solidFill>
                  </a:tcPr>
                </a:tc>
                <a:tc>
                  <a:txBody>
                    <a:bodyPr wrap="square"/>
                    <a:lstStyle/>
                    <a:p>
                      <a:r>
                        <a:rPr sz="1200" b="0">
                          <a:solidFill>
                            <a:srgbClr val="2B2C30"/>
                          </a:solidFill>
                        </a:rPr>
                        <a:t>2.2k solutions with labelled errors</a:t>
                      </a:r>
                    </a:p>
                  </a:txBody>
                  <a:tcPr marL="73152" marR="73152" marT="36576" marB="36576" anchor="ctr">
                    <a:solidFill>
                      <a:srgbClr val="FFFFFF"/>
                    </a:solidFill>
                  </a:tcPr>
                </a:tc>
                <a:tc>
                  <a:txBody>
                    <a:bodyPr wrap="square"/>
                    <a:lstStyle/>
                    <a:p>
                      <a:r>
                        <a:rPr sz="1200" b="0">
                          <a:solidFill>
                            <a:srgbClr val="2B2C30"/>
                          </a:solidFill>
                        </a:rPr>
                        <a:t>Hugging Face</a:t>
                      </a:r>
                    </a:p>
                  </a:txBody>
                  <a:tcPr marL="73152" marR="73152" marT="36576" marB="36576" anchor="ctr">
                    <a:solidFill>
                      <a:srgbClr val="FFFFFF"/>
                    </a:solidFill>
                  </a:tcPr>
                </a:tc>
              </a:tr>
              <a:tr h="338328">
                <a:tc>
                  <a:txBody>
                    <a:bodyPr wrap="square"/>
                    <a:lstStyle/>
                    <a:p>
                      <a:r>
                        <a:rPr sz="1200" b="0">
                          <a:solidFill>
                            <a:srgbClr val="2B2C30"/>
                          </a:solidFill>
                        </a:rPr>
                        <a:t>3 Math</a:t>
                      </a:r>
                    </a:p>
                  </a:txBody>
                  <a:tcPr marL="73152" marR="73152" marT="36576" marB="36576" anchor="ctr">
                    <a:solidFill>
                      <a:srgbClr val="F1F2F4"/>
                    </a:solidFill>
                  </a:tcPr>
                </a:tc>
                <a:tc>
                  <a:txBody>
                    <a:bodyPr wrap="square"/>
                    <a:lstStyle/>
                    <a:p>
                      <a:r>
                        <a:rPr sz="1100" b="0">
                          <a:solidFill>
                            <a:srgbClr val="2B2C30"/>
                          </a:solidFill>
                          <a:latin typeface="Courier New"/>
                        </a:rPr>
                        <a:t>andito/mathwriting-google</a:t>
                      </a:r>
                    </a:p>
                  </a:txBody>
                  <a:tcPr marL="73152" marR="73152" marT="36576" marB="36576" anchor="ctr">
                    <a:solidFill>
                      <a:srgbClr val="F1F2F4"/>
                    </a:solidFill>
                  </a:tcPr>
                </a:tc>
                <a:tc>
                  <a:txBody>
                    <a:bodyPr wrap="square"/>
                    <a:lstStyle/>
                    <a:p>
                      <a:r>
                        <a:rPr sz="1200" b="0">
                          <a:solidFill>
                            <a:srgbClr val="2B2C30"/>
                          </a:solidFill>
                        </a:rPr>
                        <a:t>253k handwritten formulas → LaTeX</a:t>
                      </a:r>
                    </a:p>
                  </a:txBody>
                  <a:tcPr marL="73152" marR="73152" marT="36576" marB="36576" anchor="ctr">
                    <a:solidFill>
                      <a:srgbClr val="F1F2F4"/>
                    </a:solidFill>
                  </a:tcPr>
                </a:tc>
                <a:tc>
                  <a:txBody>
                    <a:bodyPr wrap="square"/>
                    <a:lstStyle/>
                    <a:p>
                      <a:r>
                        <a:rPr sz="1200" b="0">
                          <a:solidFill>
                            <a:srgbClr val="2B2C30"/>
                          </a:solidFill>
                        </a:rPr>
                        <a:t>Hugging Face</a:t>
                      </a:r>
                    </a:p>
                  </a:txBody>
                  <a:tcPr marL="73152" marR="73152" marT="36576" marB="36576" anchor="ctr">
                    <a:solidFill>
                      <a:srgbClr val="F1F2F4"/>
                    </a:solidFill>
                  </a:tcPr>
                </a:tc>
              </a:tr>
              <a:tr h="338328">
                <a:tc>
                  <a:txBody>
                    <a:bodyPr wrap="square"/>
                    <a:lstStyle/>
                    <a:p>
                      <a:r>
                        <a:rPr sz="1200" b="0">
                          <a:solidFill>
                            <a:srgbClr val="2B2C30"/>
                          </a:solidFill>
                        </a:rPr>
                        <a:t>3 Math</a:t>
                      </a:r>
                    </a:p>
                  </a:txBody>
                  <a:tcPr marL="73152" marR="73152" marT="36576" marB="36576" anchor="ctr">
                    <a:solidFill>
                      <a:srgbClr val="FFFFFF"/>
                    </a:solidFill>
                  </a:tcPr>
                </a:tc>
                <a:tc>
                  <a:txBody>
                    <a:bodyPr wrap="square"/>
                    <a:lstStyle/>
                    <a:p>
                      <a:r>
                        <a:rPr sz="1100" b="0">
                          <a:solidFill>
                            <a:srgbClr val="2B2C30"/>
                          </a:solidFill>
                          <a:latin typeface="Courier New"/>
                        </a:rPr>
                        <a:t>ConstantHao/HME100K</a:t>
                      </a:r>
                    </a:p>
                  </a:txBody>
                  <a:tcPr marL="73152" marR="73152" marT="36576" marB="36576" anchor="ctr">
                    <a:solidFill>
                      <a:srgbClr val="FFFFFF"/>
                    </a:solidFill>
                  </a:tcPr>
                </a:tc>
                <a:tc>
                  <a:txBody>
                    <a:bodyPr wrap="square"/>
                    <a:lstStyle/>
                    <a:p>
                      <a:r>
                        <a:rPr sz="1200" b="0">
                          <a:solidFill>
                            <a:srgbClr val="2B2C30"/>
                          </a:solidFill>
                        </a:rPr>
                        <a:t>99k photographed formulas</a:t>
                      </a:r>
                    </a:p>
                  </a:txBody>
                  <a:tcPr marL="73152" marR="73152" marT="36576" marB="36576" anchor="ctr">
                    <a:solidFill>
                      <a:srgbClr val="FFFFFF"/>
                    </a:solidFill>
                  </a:tcPr>
                </a:tc>
                <a:tc>
                  <a:txBody>
                    <a:bodyPr wrap="square"/>
                    <a:lstStyle/>
                    <a:p>
                      <a:r>
                        <a:rPr sz="1200" b="0">
                          <a:solidFill>
                            <a:srgbClr val="2B2C30"/>
                          </a:solidFill>
                        </a:rPr>
                        <a:t>Hugging Face</a:t>
                      </a:r>
                    </a:p>
                  </a:txBody>
                  <a:tcPr marL="73152" marR="73152" marT="36576" marB="36576" anchor="ctr">
                    <a:solidFill>
                      <a:srgbClr val="FFFFFF"/>
                    </a:solidFill>
                  </a:tcPr>
                </a:tc>
              </a:tr>
              <a:tr h="338328">
                <a:tc>
                  <a:txBody>
                    <a:bodyPr wrap="square"/>
                    <a:lstStyle/>
                    <a:p>
                      <a:r>
                        <a:rPr sz="1200" b="0">
                          <a:solidFill>
                            <a:srgbClr val="2B2C30"/>
                          </a:solidFill>
                        </a:rPr>
                        <a:t>3 Math</a:t>
                      </a:r>
                    </a:p>
                  </a:txBody>
                  <a:tcPr marL="73152" marR="73152" marT="36576" marB="36576" anchor="ctr">
                    <a:solidFill>
                      <a:srgbClr val="F1F2F4"/>
                    </a:solidFill>
                  </a:tcPr>
                </a:tc>
                <a:tc>
                  <a:txBody>
                    <a:bodyPr wrap="square"/>
                    <a:lstStyle/>
                    <a:p>
                      <a:r>
                        <a:rPr sz="1200" b="0">
                          <a:solidFill>
                            <a:srgbClr val="2B2C30"/>
                          </a:solidFill>
                        </a:rPr>
                        <a:t>CHECK-MAT</a:t>
                      </a:r>
                    </a:p>
                  </a:txBody>
                  <a:tcPr marL="73152" marR="73152" marT="36576" marB="36576" anchor="ctr">
                    <a:solidFill>
                      <a:srgbClr val="F1F2F4"/>
                    </a:solidFill>
                  </a:tcPr>
                </a:tc>
                <a:tc>
                  <a:txBody>
                    <a:bodyPr wrap="square"/>
                    <a:lstStyle/>
                    <a:p>
                      <a:r>
                        <a:rPr sz="1200" b="0">
                          <a:solidFill>
                            <a:srgbClr val="2B2C30"/>
                          </a:solidFill>
                        </a:rPr>
                        <a:t>122 exam solutions with expert grades</a:t>
                      </a:r>
                    </a:p>
                  </a:txBody>
                  <a:tcPr marL="73152" marR="73152" marT="36576" marB="36576" anchor="ctr">
                    <a:solidFill>
                      <a:srgbClr val="F1F2F4"/>
                    </a:solidFill>
                  </a:tcPr>
                </a:tc>
                <a:tc>
                  <a:txBody>
                    <a:bodyPr wrap="square"/>
                    <a:lstStyle/>
                    <a:p>
                      <a:r>
                        <a:rPr sz="1200" b="0">
                          <a:solidFill>
                            <a:srgbClr val="2B2C30"/>
                          </a:solidFill>
                        </a:rPr>
                        <a:t>arXiv 2507.22958</a:t>
                      </a:r>
                    </a:p>
                  </a:txBody>
                  <a:tcPr marL="73152" marR="73152" marT="36576" marB="36576" anchor="ctr">
                    <a:solidFill>
                      <a:srgbClr val="F1F2F4"/>
                    </a:solidFill>
                  </a:tcPr>
                </a:tc>
              </a:tr>
            </a:tbl>
          </a:graphicData>
        </a:graphic>
      </p:graphicFrame>
      <p:sp>
        <p:nvSpPr>
          <p:cNvPr id="5" name="TextBox 4"/>
          <p:cNvSpPr txBox="1"/>
          <p:nvPr/>
        </p:nvSpPr>
        <p:spPr>
          <a:xfrm>
            <a:off x="484632" y="5532120"/>
            <a:ext cx="11128248" cy="594360"/>
          </a:xfrm>
          <a:prstGeom prst="rect">
            <a:avLst/>
          </a:prstGeom>
          <a:noFill/>
        </p:spPr>
        <p:txBody>
          <a:bodyPr wrap="square" anchor="t" lIns="0" rIns="0" tIns="0" bIns="0">
            <a:spAutoFit/>
          </a:bodyPr>
          <a:lstStyle/>
          <a:p>
            <a:pPr algn="l">
              <a:spcAft>
                <a:spcPts val="400"/>
              </a:spcAft>
            </a:pPr>
            <a:r>
              <a:rPr sz="1400" b="1" i="0">
                <a:solidFill>
                  <a:srgbClr val="046E98"/>
                </a:solidFill>
              </a:rPr>
              <a:t>Proposal: </a:t>
            </a:r>
            <a:r>
              <a:rPr sz="1400" b="0" i="0">
                <a:solidFill>
                  <a:srgbClr val="2B2C30"/>
                </a:solidFill>
              </a:rPr>
              <a:t>3 Math (most public data, closest to STACK) + one of 1 Fill the gaps (easy baseline) or 2 Free text (large English essay sets). Datasets need not be German.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Candidate models on Hugging Face</a:t>
            </a:r>
          </a:p>
        </p:txBody>
      </p:sp>
      <p:sp>
        <p:nvSpPr>
          <p:cNvPr id="3" name="Draft tag"/>
          <p:cNvSpPr/>
          <p:nvPr/>
        </p:nvSpPr>
        <p:spPr>
          <a:xfrm>
            <a:off x="10058400" y="274320"/>
            <a:ext cx="1554480" cy="310896"/>
          </a:xfrm>
          <a:prstGeom prst="roundRect">
            <a:avLst/>
          </a:prstGeom>
          <a:noFill/>
          <a:ln w="9525">
            <a:solidFill>
              <a:srgbClr val="80828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5E6066"/>
                </a:solidFill>
              </a:rPr>
              <a:t>DRAFT · IDEA STAGE</a:t>
            </a:r>
          </a:p>
        </p:txBody>
      </p:sp>
      <p:graphicFrame>
        <p:nvGraphicFramePr>
          <p:cNvPr id="4" name="Table 3"/>
          <p:cNvGraphicFramePr>
            <a:graphicFrameLocks noGrp="1"/>
          </p:cNvGraphicFramePr>
          <p:nvPr/>
        </p:nvGraphicFramePr>
        <p:xfrm>
          <a:off x="484632" y="1645920"/>
          <a:ext cx="11128248" cy="3840480"/>
        </p:xfrm>
        <a:graphic>
          <a:graphicData uri="http://schemas.openxmlformats.org/drawingml/2006/table">
            <a:tbl>
              <a:tblPr firstRow="0" bandRow="0">
                <a:tableStyleId>{5940675A-B579-460E-94D1-54222C63F5DA}</a:tableStyleId>
              </a:tblPr>
              <a:tblGrid>
                <a:gridCol w="4023360"/>
                <a:gridCol w="2103120"/>
                <a:gridCol w="1463040"/>
                <a:gridCol w="3538728"/>
              </a:tblGrid>
              <a:tr h="384048">
                <a:tc>
                  <a:txBody>
                    <a:bodyPr wrap="square"/>
                    <a:lstStyle/>
                    <a:p>
                      <a:r>
                        <a:rPr sz="1200" b="1">
                          <a:solidFill>
                            <a:srgbClr val="FFFFFF"/>
                          </a:solidFill>
                        </a:rPr>
                        <a:t>Hugging Face id</a:t>
                      </a:r>
                    </a:p>
                  </a:txBody>
                  <a:tcPr marL="73152" marR="73152" marT="36576" marB="36576" anchor="ctr">
                    <a:solidFill>
                      <a:srgbClr val="808288"/>
                    </a:solidFill>
                  </a:tcPr>
                </a:tc>
                <a:tc>
                  <a:txBody>
                    <a:bodyPr wrap="square"/>
                    <a:lstStyle/>
                    <a:p>
                      <a:r>
                        <a:rPr sz="1200" b="1">
                          <a:solidFill>
                            <a:srgbClr val="FFFFFF"/>
                          </a:solidFill>
                        </a:rPr>
                        <a:t>Type</a:t>
                      </a:r>
                    </a:p>
                  </a:txBody>
                  <a:tcPr marL="73152" marR="73152" marT="36576" marB="36576" anchor="ctr">
                    <a:solidFill>
                      <a:srgbClr val="808288"/>
                    </a:solidFill>
                  </a:tcPr>
                </a:tc>
                <a:tc>
                  <a:txBody>
                    <a:bodyPr wrap="square"/>
                    <a:lstStyle/>
                    <a:p>
                      <a:r>
                        <a:rPr sz="1200" b="1">
                          <a:solidFill>
                            <a:srgbClr val="FFFFFF"/>
                          </a:solidFill>
                        </a:rPr>
                        <a:t>Tasks</a:t>
                      </a:r>
                    </a:p>
                  </a:txBody>
                  <a:tcPr marL="73152" marR="73152" marT="36576" marB="36576" anchor="ctr">
                    <a:solidFill>
                      <a:srgbClr val="808288"/>
                    </a:solidFill>
                  </a:tcPr>
                </a:tc>
                <a:tc>
                  <a:txBody>
                    <a:bodyPr wrap="square"/>
                    <a:lstStyle/>
                    <a:p>
                      <a:r>
                        <a:rPr sz="1200" b="1">
                          <a:solidFill>
                            <a:srgbClr val="FFFFFF"/>
                          </a:solidFill>
                        </a:rPr>
                        <a:t>Role in the project</a:t>
                      </a:r>
                    </a:p>
                  </a:txBody>
                  <a:tcPr marL="73152" marR="73152" marT="36576" marB="36576" anchor="ctr">
                    <a:solidFill>
                      <a:srgbClr val="808288"/>
                    </a:solidFill>
                  </a:tcPr>
                </a:tc>
              </a:tr>
              <a:tr h="384048">
                <a:tc>
                  <a:txBody>
                    <a:bodyPr wrap="square"/>
                    <a:lstStyle/>
                    <a:p>
                      <a:r>
                        <a:rPr sz="1100" b="0">
                          <a:solidFill>
                            <a:srgbClr val="2B2C30"/>
                          </a:solidFill>
                          <a:latin typeface="Courier New"/>
                        </a:rPr>
                        <a:t>Qwen/Qwen2.5-VL-7B-Instruct</a:t>
                      </a:r>
                    </a:p>
                  </a:txBody>
                  <a:tcPr marL="73152" marR="73152" marT="36576" marB="36576" anchor="ctr">
                    <a:solidFill>
                      <a:srgbClr val="FFFFFF"/>
                    </a:solidFill>
                  </a:tcPr>
                </a:tc>
                <a:tc>
                  <a:txBody>
                    <a:bodyPr wrap="square"/>
                    <a:lstStyle/>
                    <a:p>
                      <a:r>
                        <a:rPr sz="1200" b="0">
                          <a:solidFill>
                            <a:srgbClr val="2B2C30"/>
                          </a:solidFill>
                        </a:rPr>
                        <a:t>General VLM</a:t>
                      </a:r>
                    </a:p>
                  </a:txBody>
                  <a:tcPr marL="73152" marR="73152" marT="36576" marB="36576" anchor="ctr">
                    <a:solidFill>
                      <a:srgbClr val="FFFFFF"/>
                    </a:solidFill>
                  </a:tcPr>
                </a:tc>
                <a:tc>
                  <a:txBody>
                    <a:bodyPr wrap="square"/>
                    <a:lstStyle/>
                    <a:p>
                      <a:r>
                        <a:rPr sz="1200" b="0">
                          <a:solidFill>
                            <a:srgbClr val="2B2C30"/>
                          </a:solidFill>
                        </a:rPr>
                        <a:t>1 · 2 · 3</a:t>
                      </a:r>
                    </a:p>
                  </a:txBody>
                  <a:tcPr marL="73152" marR="73152" marT="36576" marB="36576" anchor="ctr">
                    <a:solidFill>
                      <a:srgbClr val="FFFFFF"/>
                    </a:solidFill>
                  </a:tcPr>
                </a:tc>
                <a:tc>
                  <a:txBody>
                    <a:bodyPr wrap="square"/>
                    <a:lstStyle/>
                    <a:p>
                      <a:r>
                        <a:rPr sz="1200" b="0">
                          <a:solidFill>
                            <a:srgbClr val="2B2C30"/>
                          </a:solidFill>
                        </a:rPr>
                        <a:t>Main fine-tuning base (5.4M downloads)</a:t>
                      </a:r>
                    </a:p>
                  </a:txBody>
                  <a:tcPr marL="73152" marR="73152" marT="36576" marB="36576" anchor="ctr">
                    <a:solidFill>
                      <a:srgbClr val="FFFFFF"/>
                    </a:solidFill>
                  </a:tcPr>
                </a:tc>
              </a:tr>
              <a:tr h="384048">
                <a:tc>
                  <a:txBody>
                    <a:bodyPr wrap="square"/>
                    <a:lstStyle/>
                    <a:p>
                      <a:r>
                        <a:rPr sz="1100" b="0">
                          <a:solidFill>
                            <a:srgbClr val="2B2C30"/>
                          </a:solidFill>
                          <a:latin typeface="Courier New"/>
                        </a:rPr>
                        <a:t>Qwen/Qwen3-VL-4B-Instruct</a:t>
                      </a:r>
                    </a:p>
                  </a:txBody>
                  <a:tcPr marL="73152" marR="73152" marT="36576" marB="36576" anchor="ctr">
                    <a:solidFill>
                      <a:srgbClr val="F1F2F4"/>
                    </a:solidFill>
                  </a:tcPr>
                </a:tc>
                <a:tc>
                  <a:txBody>
                    <a:bodyPr wrap="square"/>
                    <a:lstStyle/>
                    <a:p>
                      <a:r>
                        <a:rPr sz="1200" b="0">
                          <a:solidFill>
                            <a:srgbClr val="2B2C30"/>
                          </a:solidFill>
                        </a:rPr>
                        <a:t>General VLM</a:t>
                      </a:r>
                    </a:p>
                  </a:txBody>
                  <a:tcPr marL="73152" marR="73152" marT="36576" marB="36576" anchor="ctr">
                    <a:solidFill>
                      <a:srgbClr val="F1F2F4"/>
                    </a:solidFill>
                  </a:tcPr>
                </a:tc>
                <a:tc>
                  <a:txBody>
                    <a:bodyPr wrap="square"/>
                    <a:lstStyle/>
                    <a:p>
                      <a:r>
                        <a:rPr sz="1200" b="0">
                          <a:solidFill>
                            <a:srgbClr val="2B2C30"/>
                          </a:solidFill>
                        </a:rPr>
                        <a:t>1 · 2 · 3</a:t>
                      </a:r>
                    </a:p>
                  </a:txBody>
                  <a:tcPr marL="73152" marR="73152" marT="36576" marB="36576" anchor="ctr">
                    <a:solidFill>
                      <a:srgbClr val="F1F2F4"/>
                    </a:solidFill>
                  </a:tcPr>
                </a:tc>
                <a:tc>
                  <a:txBody>
                    <a:bodyPr wrap="square"/>
                    <a:lstStyle/>
                    <a:p>
                      <a:r>
                        <a:rPr sz="1200" b="0">
                          <a:solidFill>
                            <a:srgbClr val="2B2C30"/>
                          </a:solidFill>
                        </a:rPr>
                        <a:t>Smaller, newer base; fits one GPU</a:t>
                      </a:r>
                    </a:p>
                  </a:txBody>
                  <a:tcPr marL="73152" marR="73152" marT="36576" marB="36576" anchor="ctr">
                    <a:solidFill>
                      <a:srgbClr val="F1F2F4"/>
                    </a:solidFill>
                  </a:tcPr>
                </a:tc>
              </a:tr>
              <a:tr h="384048">
                <a:tc>
                  <a:txBody>
                    <a:bodyPr wrap="square"/>
                    <a:lstStyle/>
                    <a:p>
                      <a:r>
                        <a:rPr sz="1100" b="0">
                          <a:solidFill>
                            <a:srgbClr val="2B2C30"/>
                          </a:solidFill>
                          <a:latin typeface="Courier New"/>
                        </a:rPr>
                        <a:t>deepseek-ai/DeepSeek-OCR-2</a:t>
                      </a:r>
                    </a:p>
                  </a:txBody>
                  <a:tcPr marL="73152" marR="73152" marT="36576" marB="36576" anchor="ctr">
                    <a:solidFill>
                      <a:srgbClr val="FFFFFF"/>
                    </a:solidFill>
                  </a:tcPr>
                </a:tc>
                <a:tc>
                  <a:txBody>
                    <a:bodyPr wrap="square"/>
                    <a:lstStyle/>
                    <a:p>
                      <a:r>
                        <a:rPr sz="1200" b="0">
                          <a:solidFill>
                            <a:srgbClr val="2B2C30"/>
                          </a:solidFill>
                        </a:rPr>
                        <a:t>OCR VLM</a:t>
                      </a:r>
                    </a:p>
                  </a:txBody>
                  <a:tcPr marL="73152" marR="73152" marT="36576" marB="36576" anchor="ctr">
                    <a:solidFill>
                      <a:srgbClr val="FFFFFF"/>
                    </a:solidFill>
                  </a:tcPr>
                </a:tc>
                <a:tc>
                  <a:txBody>
                    <a:bodyPr wrap="square"/>
                    <a:lstStyle/>
                    <a:p>
                      <a:r>
                        <a:rPr sz="1200" b="0">
                          <a:solidFill>
                            <a:srgbClr val="2B2C30"/>
                          </a:solidFill>
                        </a:rPr>
                        <a:t>1 · 2</a:t>
                      </a:r>
                    </a:p>
                  </a:txBody>
                  <a:tcPr marL="73152" marR="73152" marT="36576" marB="36576" anchor="ctr">
                    <a:solidFill>
                      <a:srgbClr val="FFFFFF"/>
                    </a:solidFill>
                  </a:tcPr>
                </a:tc>
                <a:tc>
                  <a:txBody>
                    <a:bodyPr wrap="square"/>
                    <a:lstStyle/>
                    <a:p>
                      <a:r>
                        <a:rPr sz="1200" b="0">
                          <a:solidFill>
                            <a:srgbClr val="2B2C30"/>
                          </a:solidFill>
                        </a:rPr>
                        <a:t>Zero-shot reading baseline</a:t>
                      </a:r>
                    </a:p>
                  </a:txBody>
                  <a:tcPr marL="73152" marR="73152" marT="36576" marB="36576" anchor="ctr">
                    <a:solidFill>
                      <a:srgbClr val="FFFFFF"/>
                    </a:solidFill>
                  </a:tcPr>
                </a:tc>
              </a:tr>
              <a:tr h="384048">
                <a:tc>
                  <a:txBody>
                    <a:bodyPr wrap="square"/>
                    <a:lstStyle/>
                    <a:p>
                      <a:r>
                        <a:rPr sz="1100" b="0">
                          <a:solidFill>
                            <a:srgbClr val="2B2C30"/>
                          </a:solidFill>
                          <a:latin typeface="Courier New"/>
                        </a:rPr>
                        <a:t>datalab-to/chandra-ocr-2</a:t>
                      </a:r>
                    </a:p>
                  </a:txBody>
                  <a:tcPr marL="73152" marR="73152" marT="36576" marB="36576" anchor="ctr">
                    <a:solidFill>
                      <a:srgbClr val="F1F2F4"/>
                    </a:solidFill>
                  </a:tcPr>
                </a:tc>
                <a:tc>
                  <a:txBody>
                    <a:bodyPr wrap="square"/>
                    <a:lstStyle/>
                    <a:p>
                      <a:r>
                        <a:rPr sz="1200" b="0">
                          <a:solidFill>
                            <a:srgbClr val="2B2C30"/>
                          </a:solidFill>
                        </a:rPr>
                        <a:t>OCR VLM</a:t>
                      </a:r>
                    </a:p>
                  </a:txBody>
                  <a:tcPr marL="73152" marR="73152" marT="36576" marB="36576" anchor="ctr">
                    <a:solidFill>
                      <a:srgbClr val="F1F2F4"/>
                    </a:solidFill>
                  </a:tcPr>
                </a:tc>
                <a:tc>
                  <a:txBody>
                    <a:bodyPr wrap="square"/>
                    <a:lstStyle/>
                    <a:p>
                      <a:r>
                        <a:rPr sz="1200" b="0">
                          <a:solidFill>
                            <a:srgbClr val="2B2C30"/>
                          </a:solidFill>
                        </a:rPr>
                        <a:t>1 · 2</a:t>
                      </a:r>
                    </a:p>
                  </a:txBody>
                  <a:tcPr marL="73152" marR="73152" marT="36576" marB="36576" anchor="ctr">
                    <a:solidFill>
                      <a:srgbClr val="F1F2F4"/>
                    </a:solidFill>
                  </a:tcPr>
                </a:tc>
                <a:tc>
                  <a:txBody>
                    <a:bodyPr wrap="square"/>
                    <a:lstStyle/>
                    <a:p>
                      <a:r>
                        <a:rPr sz="1200" b="0">
                          <a:solidFill>
                            <a:srgbClr val="2B2C30"/>
                          </a:solidFill>
                        </a:rPr>
                        <a:t>Reported strongest on handwriting</a:t>
                      </a:r>
                    </a:p>
                  </a:txBody>
                  <a:tcPr marL="73152" marR="73152" marT="36576" marB="36576" anchor="ctr">
                    <a:solidFill>
                      <a:srgbClr val="F1F2F4"/>
                    </a:solidFill>
                  </a:tcPr>
                </a:tc>
              </a:tr>
              <a:tr h="384048">
                <a:tc>
                  <a:txBody>
                    <a:bodyPr wrap="square"/>
                    <a:lstStyle/>
                    <a:p>
                      <a:r>
                        <a:rPr sz="1100" b="0">
                          <a:solidFill>
                            <a:srgbClr val="2B2C30"/>
                          </a:solidFill>
                          <a:latin typeface="Courier New"/>
                        </a:rPr>
                        <a:t>allenai/olmOCR-2-7B-1025</a:t>
                      </a:r>
                    </a:p>
                  </a:txBody>
                  <a:tcPr marL="73152" marR="73152" marT="36576" marB="36576" anchor="ctr">
                    <a:solidFill>
                      <a:srgbClr val="FFFFFF"/>
                    </a:solidFill>
                  </a:tcPr>
                </a:tc>
                <a:tc>
                  <a:txBody>
                    <a:bodyPr wrap="square"/>
                    <a:lstStyle/>
                    <a:p>
                      <a:r>
                        <a:rPr sz="1200" b="0">
                          <a:solidFill>
                            <a:srgbClr val="2B2C30"/>
                          </a:solidFill>
                        </a:rPr>
                        <a:t>OCR VLM</a:t>
                      </a:r>
                    </a:p>
                  </a:txBody>
                  <a:tcPr marL="73152" marR="73152" marT="36576" marB="36576" anchor="ctr">
                    <a:solidFill>
                      <a:srgbClr val="FFFFFF"/>
                    </a:solidFill>
                  </a:tcPr>
                </a:tc>
                <a:tc>
                  <a:txBody>
                    <a:bodyPr wrap="square"/>
                    <a:lstStyle/>
                    <a:p>
                      <a:r>
                        <a:rPr sz="1200" b="0">
                          <a:solidFill>
                            <a:srgbClr val="2B2C30"/>
                          </a:solidFill>
                        </a:rPr>
                        <a:t>2</a:t>
                      </a:r>
                    </a:p>
                  </a:txBody>
                  <a:tcPr marL="73152" marR="73152" marT="36576" marB="36576" anchor="ctr">
                    <a:solidFill>
                      <a:srgbClr val="FFFFFF"/>
                    </a:solidFill>
                  </a:tcPr>
                </a:tc>
                <a:tc>
                  <a:txBody>
                    <a:bodyPr wrap="square"/>
                    <a:lstStyle/>
                    <a:p>
                      <a:r>
                        <a:rPr sz="1200" b="0">
                          <a:solidFill>
                            <a:srgbClr val="2B2C30"/>
                          </a:solidFill>
                        </a:rPr>
                        <a:t>Open OCR, Qwen-based</a:t>
                      </a:r>
                    </a:p>
                  </a:txBody>
                  <a:tcPr marL="73152" marR="73152" marT="36576" marB="36576" anchor="ctr">
                    <a:solidFill>
                      <a:srgbClr val="FFFFFF"/>
                    </a:solidFill>
                  </a:tcPr>
                </a:tc>
              </a:tr>
              <a:tr h="384048">
                <a:tc>
                  <a:txBody>
                    <a:bodyPr wrap="square"/>
                    <a:lstStyle/>
                    <a:p>
                      <a:r>
                        <a:rPr sz="1100" b="0">
                          <a:solidFill>
                            <a:srgbClr val="2B2C30"/>
                          </a:solidFill>
                          <a:latin typeface="Courier New"/>
                        </a:rPr>
                        <a:t>PaddlePaddle/PaddleOCR-VL-1.6</a:t>
                      </a:r>
                    </a:p>
                  </a:txBody>
                  <a:tcPr marL="73152" marR="73152" marT="36576" marB="36576" anchor="ctr">
                    <a:solidFill>
                      <a:srgbClr val="F1F2F4"/>
                    </a:solidFill>
                  </a:tcPr>
                </a:tc>
                <a:tc>
                  <a:txBody>
                    <a:bodyPr wrap="square"/>
                    <a:lstStyle/>
                    <a:p>
                      <a:r>
                        <a:rPr sz="1200" b="0">
                          <a:solidFill>
                            <a:srgbClr val="2B2C30"/>
                          </a:solidFill>
                        </a:rPr>
                        <a:t>OCR VLM</a:t>
                      </a:r>
                    </a:p>
                  </a:txBody>
                  <a:tcPr marL="73152" marR="73152" marT="36576" marB="36576" anchor="ctr">
                    <a:solidFill>
                      <a:srgbClr val="F1F2F4"/>
                    </a:solidFill>
                  </a:tcPr>
                </a:tc>
                <a:tc>
                  <a:txBody>
                    <a:bodyPr wrap="square"/>
                    <a:lstStyle/>
                    <a:p>
                      <a:r>
                        <a:rPr sz="1200" b="0">
                          <a:solidFill>
                            <a:srgbClr val="2B2C30"/>
                          </a:solidFill>
                        </a:rPr>
                        <a:t>1 · 2</a:t>
                      </a:r>
                    </a:p>
                  </a:txBody>
                  <a:tcPr marL="73152" marR="73152" marT="36576" marB="36576" anchor="ctr">
                    <a:solidFill>
                      <a:srgbClr val="F1F2F4"/>
                    </a:solidFill>
                  </a:tcPr>
                </a:tc>
                <a:tc>
                  <a:txBody>
                    <a:bodyPr wrap="square"/>
                    <a:lstStyle/>
                    <a:p>
                      <a:r>
                        <a:rPr sz="1200" b="0">
                          <a:solidFill>
                            <a:srgbClr val="2B2C30"/>
                          </a:solidFill>
                        </a:rPr>
                        <a:t>Small (~1B), top on OmniDocBench</a:t>
                      </a:r>
                    </a:p>
                  </a:txBody>
                  <a:tcPr marL="73152" marR="73152" marT="36576" marB="36576" anchor="ctr">
                    <a:solidFill>
                      <a:srgbClr val="F1F2F4"/>
                    </a:solidFill>
                  </a:tcPr>
                </a:tc>
              </a:tr>
              <a:tr h="384048">
                <a:tc>
                  <a:txBody>
                    <a:bodyPr wrap="square"/>
                    <a:lstStyle/>
                    <a:p>
                      <a:r>
                        <a:rPr sz="1100" b="0">
                          <a:solidFill>
                            <a:srgbClr val="2B2C30"/>
                          </a:solidFill>
                          <a:latin typeface="Courier New"/>
                        </a:rPr>
                        <a:t>OleehyO/TexTeller</a:t>
                      </a:r>
                    </a:p>
                  </a:txBody>
                  <a:tcPr marL="73152" marR="73152" marT="36576" marB="36576" anchor="ctr">
                    <a:solidFill>
                      <a:srgbClr val="FFFFFF"/>
                    </a:solidFill>
                  </a:tcPr>
                </a:tc>
                <a:tc>
                  <a:txBody>
                    <a:bodyPr wrap="square"/>
                    <a:lstStyle/>
                    <a:p>
                      <a:r>
                        <a:rPr sz="1200" b="0">
                          <a:solidFill>
                            <a:srgbClr val="2B2C30"/>
                          </a:solidFill>
                        </a:rPr>
                        <a:t>Formula OCR</a:t>
                      </a:r>
                    </a:p>
                  </a:txBody>
                  <a:tcPr marL="73152" marR="73152" marT="36576" marB="36576" anchor="ctr">
                    <a:solidFill>
                      <a:srgbClr val="FFFFFF"/>
                    </a:solidFill>
                  </a:tcPr>
                </a:tc>
                <a:tc>
                  <a:txBody>
                    <a:bodyPr wrap="square"/>
                    <a:lstStyle/>
                    <a:p>
                      <a:r>
                        <a:rPr sz="1200" b="0">
                          <a:solidFill>
                            <a:srgbClr val="2B2C30"/>
                          </a:solidFill>
                        </a:rPr>
                        <a:t>3</a:t>
                      </a:r>
                    </a:p>
                  </a:txBody>
                  <a:tcPr marL="73152" marR="73152" marT="36576" marB="36576" anchor="ctr">
                    <a:solidFill>
                      <a:srgbClr val="FFFFFF"/>
                    </a:solidFill>
                  </a:tcPr>
                </a:tc>
                <a:tc>
                  <a:txBody>
                    <a:bodyPr wrap="square"/>
                    <a:lstStyle/>
                    <a:p>
                      <a:r>
                        <a:rPr sz="1200" b="0">
                          <a:solidFill>
                            <a:srgbClr val="2B2C30"/>
                          </a:solidFill>
                        </a:rPr>
                        <a:t>Formula image → LaTeX baseline</a:t>
                      </a:r>
                    </a:p>
                  </a:txBody>
                  <a:tcPr marL="73152" marR="73152" marT="36576" marB="36576" anchor="ctr">
                    <a:solidFill>
                      <a:srgbClr val="FFFFFF"/>
                    </a:solidFill>
                  </a:tcPr>
                </a:tc>
              </a:tr>
              <a:tr h="384048">
                <a:tc>
                  <a:txBody>
                    <a:bodyPr wrap="square"/>
                    <a:lstStyle/>
                    <a:p>
                      <a:r>
                        <a:rPr sz="1100" b="0">
                          <a:solidFill>
                            <a:srgbClr val="2B2C30"/>
                          </a:solidFill>
                          <a:latin typeface="Courier New"/>
                        </a:rPr>
                        <a:t>microsoft/trocr-base-handwritten</a:t>
                      </a:r>
                    </a:p>
                  </a:txBody>
                  <a:tcPr marL="73152" marR="73152" marT="36576" marB="36576" anchor="ctr">
                    <a:solidFill>
                      <a:srgbClr val="F1F2F4"/>
                    </a:solidFill>
                  </a:tcPr>
                </a:tc>
                <a:tc>
                  <a:txBody>
                    <a:bodyPr wrap="square"/>
                    <a:lstStyle/>
                    <a:p>
                      <a:r>
                        <a:rPr sz="1200" b="0">
                          <a:solidFill>
                            <a:srgbClr val="2B2C30"/>
                          </a:solidFill>
                        </a:rPr>
                        <a:t>Handwriting OCR</a:t>
                      </a:r>
                    </a:p>
                  </a:txBody>
                  <a:tcPr marL="73152" marR="73152" marT="36576" marB="36576" anchor="ctr">
                    <a:solidFill>
                      <a:srgbClr val="F1F2F4"/>
                    </a:solidFill>
                  </a:tcPr>
                </a:tc>
                <a:tc>
                  <a:txBody>
                    <a:bodyPr wrap="square"/>
                    <a:lstStyle/>
                    <a:p>
                      <a:r>
                        <a:rPr sz="1200" b="0">
                          <a:solidFill>
                            <a:srgbClr val="2B2C30"/>
                          </a:solidFill>
                        </a:rPr>
                        <a:t>1</a:t>
                      </a:r>
                    </a:p>
                  </a:txBody>
                  <a:tcPr marL="73152" marR="73152" marT="36576" marB="36576" anchor="ctr">
                    <a:solidFill>
                      <a:srgbClr val="F1F2F4"/>
                    </a:solidFill>
                  </a:tcPr>
                </a:tc>
                <a:tc>
                  <a:txBody>
                    <a:bodyPr wrap="square"/>
                    <a:lstStyle/>
                    <a:p>
                      <a:r>
                        <a:rPr sz="1200" b="0">
                          <a:solidFill>
                            <a:srgbClr val="2B2C30"/>
                          </a:solidFill>
                        </a:rPr>
                        <a:t>Small classic baseline (English)</a:t>
                      </a:r>
                    </a:p>
                  </a:txBody>
                  <a:tcPr marL="73152" marR="73152" marT="36576" marB="36576" anchor="ctr">
                    <a:solidFill>
                      <a:srgbClr val="F1F2F4"/>
                    </a:solidFill>
                  </a:tcPr>
                </a:tc>
              </a:tr>
              <a:tr h="384048">
                <a:tc>
                  <a:txBody>
                    <a:bodyPr wrap="square"/>
                    <a:lstStyle/>
                    <a:p>
                      <a:r>
                        <a:rPr sz="1100" b="0">
                          <a:solidFill>
                            <a:srgbClr val="2B2C30"/>
                          </a:solidFill>
                          <a:latin typeface="Courier New"/>
                        </a:rPr>
                        <a:t>fhswf/TrOCR_german_handwritten</a:t>
                      </a:r>
                    </a:p>
                  </a:txBody>
                  <a:tcPr marL="73152" marR="73152" marT="36576" marB="36576" anchor="ctr">
                    <a:solidFill>
                      <a:srgbClr val="FFFFFF"/>
                    </a:solidFill>
                  </a:tcPr>
                </a:tc>
                <a:tc>
                  <a:txBody>
                    <a:bodyPr wrap="square"/>
                    <a:lstStyle/>
                    <a:p>
                      <a:r>
                        <a:rPr sz="1200" b="0">
                          <a:solidFill>
                            <a:srgbClr val="2B2C30"/>
                          </a:solidFill>
                        </a:rPr>
                        <a:t>Handwriting OCR</a:t>
                      </a:r>
                    </a:p>
                  </a:txBody>
                  <a:tcPr marL="73152" marR="73152" marT="36576" marB="36576" anchor="ctr">
                    <a:solidFill>
                      <a:srgbClr val="FFFFFF"/>
                    </a:solidFill>
                  </a:tcPr>
                </a:tc>
                <a:tc>
                  <a:txBody>
                    <a:bodyPr wrap="square"/>
                    <a:lstStyle/>
                    <a:p>
                      <a:r>
                        <a:rPr sz="1200" b="0">
                          <a:solidFill>
                            <a:srgbClr val="2B2C30"/>
                          </a:solidFill>
                        </a:rPr>
                        <a:t>1 · 2</a:t>
                      </a:r>
                    </a:p>
                  </a:txBody>
                  <a:tcPr marL="73152" marR="73152" marT="36576" marB="36576" anchor="ctr">
                    <a:solidFill>
                      <a:srgbClr val="FFFFFF"/>
                    </a:solidFill>
                  </a:tcPr>
                </a:tc>
                <a:tc>
                  <a:txBody>
                    <a:bodyPr wrap="square"/>
                    <a:lstStyle/>
                    <a:p>
                      <a:r>
                        <a:rPr sz="1200" b="0">
                          <a:solidFill>
                            <a:srgbClr val="2B2C30"/>
                          </a:solidFill>
                        </a:rPr>
                        <a:t>Small German baseline (optional)</a:t>
                      </a:r>
                    </a:p>
                  </a:txBody>
                  <a:tcPr marL="73152" marR="73152" marT="36576" marB="36576"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papers</a:t>
            </a:r>
          </a:p>
        </p:txBody>
      </p:sp>
      <p:sp>
        <p:nvSpPr>
          <p:cNvPr id="3" name="Draft tag"/>
          <p:cNvSpPr/>
          <p:nvPr/>
        </p:nvSpPr>
        <p:spPr>
          <a:xfrm>
            <a:off x="10058400" y="274320"/>
            <a:ext cx="1554480" cy="310896"/>
          </a:xfrm>
          <a:prstGeom prst="roundRect">
            <a:avLst/>
          </a:prstGeom>
          <a:noFill/>
          <a:ln w="9525">
            <a:solidFill>
              <a:srgbClr val="80828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5E6066"/>
                </a:solidFill>
              </a:rPr>
              <a:t>DRAFT · IDEA STAGE</a:t>
            </a:r>
          </a:p>
        </p:txBody>
      </p:sp>
      <p:graphicFrame>
        <p:nvGraphicFramePr>
          <p:cNvPr id="4" name="Table 3"/>
          <p:cNvGraphicFramePr>
            <a:graphicFrameLocks noGrp="1"/>
          </p:cNvGraphicFramePr>
          <p:nvPr/>
        </p:nvGraphicFramePr>
        <p:xfrm>
          <a:off x="484632" y="1645920"/>
          <a:ext cx="11128248" cy="4114800"/>
        </p:xfrm>
        <a:graphic>
          <a:graphicData uri="http://schemas.openxmlformats.org/drawingml/2006/table">
            <a:tbl>
              <a:tblPr firstRow="0" bandRow="0">
                <a:tableStyleId>{5940675A-B579-460E-94D1-54222C63F5DA}</a:tableStyleId>
              </a:tblPr>
              <a:tblGrid>
                <a:gridCol w="822960"/>
                <a:gridCol w="5120640"/>
                <a:gridCol w="1554480"/>
                <a:gridCol w="3630168"/>
              </a:tblGrid>
              <a:tr h="411480">
                <a:tc>
                  <a:txBody>
                    <a:bodyPr wrap="square"/>
                    <a:lstStyle/>
                    <a:p>
                      <a:r>
                        <a:rPr sz="1200" b="1">
                          <a:solidFill>
                            <a:srgbClr val="FFFFFF"/>
                          </a:solidFill>
                        </a:rPr>
                        <a:t>Task</a:t>
                      </a:r>
                    </a:p>
                  </a:txBody>
                  <a:tcPr marL="73152" marR="73152" marT="36576" marB="36576" anchor="ctr">
                    <a:solidFill>
                      <a:srgbClr val="808288"/>
                    </a:solidFill>
                  </a:tcPr>
                </a:tc>
                <a:tc>
                  <a:txBody>
                    <a:bodyPr wrap="square"/>
                    <a:lstStyle/>
                    <a:p>
                      <a:r>
                        <a:rPr sz="1200" b="1">
                          <a:solidFill>
                            <a:srgbClr val="FFFFFF"/>
                          </a:solidFill>
                        </a:rPr>
                        <a:t>Paper</a:t>
                      </a:r>
                    </a:p>
                  </a:txBody>
                  <a:tcPr marL="73152" marR="73152" marT="36576" marB="36576" anchor="ctr">
                    <a:solidFill>
                      <a:srgbClr val="808288"/>
                    </a:solidFill>
                  </a:tcPr>
                </a:tc>
                <a:tc>
                  <a:txBody>
                    <a:bodyPr wrap="square"/>
                    <a:lstStyle/>
                    <a:p>
                      <a:r>
                        <a:rPr sz="1200" b="1">
                          <a:solidFill>
                            <a:srgbClr val="FFFFFF"/>
                          </a:solidFill>
                        </a:rPr>
                        <a:t>Venue</a:t>
                      </a:r>
                    </a:p>
                  </a:txBody>
                  <a:tcPr marL="73152" marR="73152" marT="36576" marB="36576" anchor="ctr">
                    <a:solidFill>
                      <a:srgbClr val="808288"/>
                    </a:solidFill>
                  </a:tcPr>
                </a:tc>
                <a:tc>
                  <a:txBody>
                    <a:bodyPr wrap="square"/>
                    <a:lstStyle/>
                    <a:p>
                      <a:r>
                        <a:rPr sz="1200" b="1">
                          <a:solidFill>
                            <a:srgbClr val="FFFFFF"/>
                          </a:solidFill>
                        </a:rPr>
                        <a:t>Why it matters</a:t>
                      </a:r>
                    </a:p>
                  </a:txBody>
                  <a:tcPr marL="73152" marR="73152" marT="36576" marB="36576" anchor="ctr">
                    <a:solidFill>
                      <a:srgbClr val="808288"/>
                    </a:solidFill>
                  </a:tcPr>
                </a:tc>
              </a:tr>
              <a:tr h="411480">
                <a:tc>
                  <a:txBody>
                    <a:bodyPr wrap="square"/>
                    <a:lstStyle/>
                    <a:p>
                      <a:r>
                        <a:rPr sz="1200" b="0">
                          <a:solidFill>
                            <a:srgbClr val="2B2C30"/>
                          </a:solidFill>
                        </a:rPr>
                        <a:t>3</a:t>
                      </a:r>
                    </a:p>
                  </a:txBody>
                  <a:tcPr marL="73152" marR="73152" marT="36576" marB="36576" anchor="ctr">
                    <a:solidFill>
                      <a:srgbClr val="FFFFFF"/>
                    </a:solidFill>
                  </a:tcPr>
                </a:tc>
                <a:tc>
                  <a:txBody>
                    <a:bodyPr wrap="square"/>
                    <a:lstStyle/>
                    <a:p>
                      <a:r>
                        <a:rPr sz="1200" b="0">
                          <a:solidFill>
                            <a:srgbClr val="2B2C30"/>
                          </a:solidFill>
                        </a:rPr>
                        <a:t>Nath et al. — Can Vision-Language Models Evaluate Handwritten Math? (FERMAT)</a:t>
                      </a:r>
                    </a:p>
                  </a:txBody>
                  <a:tcPr marL="73152" marR="73152" marT="36576" marB="36576" anchor="ctr">
                    <a:solidFill>
                      <a:srgbClr val="FFFFFF"/>
                    </a:solidFill>
                  </a:tcPr>
                </a:tc>
                <a:tc>
                  <a:txBody>
                    <a:bodyPr wrap="square"/>
                    <a:lstStyle/>
                    <a:p>
                      <a:r>
                        <a:rPr sz="1200" b="0">
                          <a:solidFill>
                            <a:srgbClr val="2B2C30"/>
                          </a:solidFill>
                        </a:rPr>
                        <a:t>ACL 2025</a:t>
                      </a:r>
                    </a:p>
                  </a:txBody>
                  <a:tcPr marL="73152" marR="73152" marT="36576" marB="36576" anchor="ctr">
                    <a:solidFill>
                      <a:srgbClr val="FFFFFF"/>
                    </a:solidFill>
                  </a:tcPr>
                </a:tc>
                <a:tc>
                  <a:txBody>
                    <a:bodyPr wrap="square"/>
                    <a:lstStyle/>
                    <a:p>
                      <a:r>
                        <a:rPr sz="1200" b="0">
                          <a:solidFill>
                            <a:srgbClr val="2B2C30"/>
                          </a:solidFill>
                        </a:rPr>
                        <a:t>Benchmark: detect, locate, fix errors</a:t>
                      </a:r>
                    </a:p>
                  </a:txBody>
                  <a:tcPr marL="73152" marR="73152" marT="36576" marB="36576" anchor="ctr">
                    <a:solidFill>
                      <a:srgbClr val="FFFFFF"/>
                    </a:solidFill>
                  </a:tcPr>
                </a:tc>
              </a:tr>
              <a:tr h="411480">
                <a:tc>
                  <a:txBody>
                    <a:bodyPr wrap="square"/>
                    <a:lstStyle/>
                    <a:p>
                      <a:r>
                        <a:rPr sz="1200" b="0">
                          <a:solidFill>
                            <a:srgbClr val="2B2C30"/>
                          </a:solidFill>
                        </a:rPr>
                        <a:t>3</a:t>
                      </a:r>
                    </a:p>
                  </a:txBody>
                  <a:tcPr marL="73152" marR="73152" marT="36576" marB="36576" anchor="ctr">
                    <a:solidFill>
                      <a:srgbClr val="F1F2F4"/>
                    </a:solidFill>
                  </a:tcPr>
                </a:tc>
                <a:tc>
                  <a:txBody>
                    <a:bodyPr wrap="square"/>
                    <a:lstStyle/>
                    <a:p>
                      <a:r>
                        <a:rPr sz="1200" b="0">
                          <a:solidFill>
                            <a:srgbClr val="2B2C30"/>
                          </a:solidFill>
                        </a:rPr>
                        <a:t>Levine et al. — Automated Grading of Handwritten Mathematics Using Vision-Capable LLMs</a:t>
                      </a:r>
                    </a:p>
                  </a:txBody>
                  <a:tcPr marL="73152" marR="73152" marT="36576" marB="36576" anchor="ctr">
                    <a:solidFill>
                      <a:srgbClr val="F1F2F4"/>
                    </a:solidFill>
                  </a:tcPr>
                </a:tc>
                <a:tc>
                  <a:txBody>
                    <a:bodyPr wrap="square"/>
                    <a:lstStyle/>
                    <a:p>
                      <a:r>
                        <a:rPr sz="1200" b="0">
                          <a:solidFill>
                            <a:srgbClr val="2B2C30"/>
                          </a:solidFill>
                        </a:rPr>
                        <a:t>AIED 2026</a:t>
                      </a:r>
                    </a:p>
                  </a:txBody>
                  <a:tcPr marL="73152" marR="73152" marT="36576" marB="36576" anchor="ctr">
                    <a:solidFill>
                      <a:srgbClr val="F1F2F4"/>
                    </a:solidFill>
                  </a:tcPr>
                </a:tc>
                <a:tc>
                  <a:txBody>
                    <a:bodyPr wrap="square"/>
                    <a:lstStyle/>
                    <a:p>
                      <a:r>
                        <a:rPr sz="1200" b="0">
                          <a:solidFill>
                            <a:srgbClr val="2B2C30"/>
                          </a:solidFill>
                        </a:rPr>
                        <a:t>95% per rubric item; reading is the bottleneck</a:t>
                      </a:r>
                    </a:p>
                  </a:txBody>
                  <a:tcPr marL="73152" marR="73152" marT="36576" marB="36576" anchor="ctr">
                    <a:solidFill>
                      <a:srgbClr val="F1F2F4"/>
                    </a:solidFill>
                  </a:tcPr>
                </a:tc>
              </a:tr>
              <a:tr h="411480">
                <a:tc>
                  <a:txBody>
                    <a:bodyPr wrap="square"/>
                    <a:lstStyle/>
                    <a:p>
                      <a:r>
                        <a:rPr sz="1200" b="0">
                          <a:solidFill>
                            <a:srgbClr val="2B2C30"/>
                          </a:solidFill>
                        </a:rPr>
                        <a:t>3</a:t>
                      </a:r>
                    </a:p>
                  </a:txBody>
                  <a:tcPr marL="73152" marR="73152" marT="36576" marB="36576" anchor="ctr">
                    <a:solidFill>
                      <a:srgbClr val="FFFFFF"/>
                    </a:solidFill>
                  </a:tcPr>
                </a:tc>
                <a:tc>
                  <a:txBody>
                    <a:bodyPr wrap="square"/>
                    <a:lstStyle/>
                    <a:p>
                      <a:r>
                        <a:rPr sz="1200" b="0">
                          <a:solidFill>
                            <a:srgbClr val="2B2C30"/>
                          </a:solidFill>
                        </a:rPr>
                        <a:t>VEHME — A VLM for Evaluating Handwritten Mathematics Expressions</a:t>
                      </a:r>
                    </a:p>
                  </a:txBody>
                  <a:tcPr marL="73152" marR="73152" marT="36576" marB="36576" anchor="ctr">
                    <a:solidFill>
                      <a:srgbClr val="FFFFFF"/>
                    </a:solidFill>
                  </a:tcPr>
                </a:tc>
                <a:tc>
                  <a:txBody>
                    <a:bodyPr wrap="square"/>
                    <a:lstStyle/>
                    <a:p>
                      <a:r>
                        <a:rPr sz="1200" b="0">
                          <a:solidFill>
                            <a:srgbClr val="2B2C30"/>
                          </a:solidFill>
                        </a:rPr>
                        <a:t>EMNLP 2025</a:t>
                      </a:r>
                    </a:p>
                  </a:txBody>
                  <a:tcPr marL="73152" marR="73152" marT="36576" marB="36576" anchor="ctr">
                    <a:solidFill>
                      <a:srgbClr val="FFFFFF"/>
                    </a:solidFill>
                  </a:tcPr>
                </a:tc>
                <a:tc>
                  <a:txBody>
                    <a:bodyPr wrap="square"/>
                    <a:lstStyle/>
                    <a:p>
                      <a:r>
                        <a:rPr sz="1200" b="0">
                          <a:solidFill>
                            <a:srgbClr val="2B2C30"/>
                          </a:solidFill>
                        </a:rPr>
                        <a:t>Fine-tuned grader (SFT + RL)</a:t>
                      </a:r>
                    </a:p>
                  </a:txBody>
                  <a:tcPr marL="73152" marR="73152" marT="36576" marB="36576" anchor="ctr">
                    <a:solidFill>
                      <a:srgbClr val="FFFFFF"/>
                    </a:solidFill>
                  </a:tcPr>
                </a:tc>
              </a:tr>
              <a:tr h="411480">
                <a:tc>
                  <a:txBody>
                    <a:bodyPr wrap="square"/>
                    <a:lstStyle/>
                    <a:p>
                      <a:r>
                        <a:rPr sz="1200" b="0">
                          <a:solidFill>
                            <a:srgbClr val="2B2C30"/>
                          </a:solidFill>
                        </a:rPr>
                        <a:t>3</a:t>
                      </a:r>
                    </a:p>
                  </a:txBody>
                  <a:tcPr marL="73152" marR="73152" marT="36576" marB="36576" anchor="ctr">
                    <a:solidFill>
                      <a:srgbClr val="F1F2F4"/>
                    </a:solidFill>
                  </a:tcPr>
                </a:tc>
                <a:tc>
                  <a:txBody>
                    <a:bodyPr wrap="square"/>
                    <a:lstStyle/>
                    <a:p>
                      <a:r>
                        <a:rPr sz="1200" b="0">
                          <a:solidFill>
                            <a:srgbClr val="2B2C30"/>
                          </a:solidFill>
                        </a:rPr>
                        <a:t>MathWriting — Dataset for Handwritten Math Expression Recognition</a:t>
                      </a:r>
                    </a:p>
                  </a:txBody>
                  <a:tcPr marL="73152" marR="73152" marT="36576" marB="36576" anchor="ctr">
                    <a:solidFill>
                      <a:srgbClr val="F1F2F4"/>
                    </a:solidFill>
                  </a:tcPr>
                </a:tc>
                <a:tc>
                  <a:txBody>
                    <a:bodyPr wrap="square"/>
                    <a:lstStyle/>
                    <a:p>
                      <a:r>
                        <a:rPr sz="1200" b="0">
                          <a:solidFill>
                            <a:srgbClr val="2B2C30"/>
                          </a:solidFill>
                        </a:rPr>
                        <a:t>Google 2024</a:t>
                      </a:r>
                    </a:p>
                  </a:txBody>
                  <a:tcPr marL="73152" marR="73152" marT="36576" marB="36576" anchor="ctr">
                    <a:solidFill>
                      <a:srgbClr val="F1F2F4"/>
                    </a:solidFill>
                  </a:tcPr>
                </a:tc>
                <a:tc>
                  <a:txBody>
                    <a:bodyPr wrap="square"/>
                    <a:lstStyle/>
                    <a:p>
                      <a:r>
                        <a:rPr sz="1200" b="0">
                          <a:solidFill>
                            <a:srgbClr val="2B2C30"/>
                          </a:solidFill>
                        </a:rPr>
                        <a:t>Training data for formula reading</a:t>
                      </a:r>
                    </a:p>
                  </a:txBody>
                  <a:tcPr marL="73152" marR="73152" marT="36576" marB="36576" anchor="ctr">
                    <a:solidFill>
                      <a:srgbClr val="F1F2F4"/>
                    </a:solidFill>
                  </a:tcPr>
                </a:tc>
              </a:tr>
              <a:tr h="411480">
                <a:tc>
                  <a:txBody>
                    <a:bodyPr wrap="square"/>
                    <a:lstStyle/>
                    <a:p>
                      <a:r>
                        <a:rPr sz="1200" b="0">
                          <a:solidFill>
                            <a:srgbClr val="2B2C30"/>
                          </a:solidFill>
                        </a:rPr>
                        <a:t>3</a:t>
                      </a:r>
                    </a:p>
                  </a:txBody>
                  <a:tcPr marL="73152" marR="73152" marT="36576" marB="36576" anchor="ctr">
                    <a:solidFill>
                      <a:srgbClr val="FFFFFF"/>
                    </a:solidFill>
                  </a:tcPr>
                </a:tc>
                <a:tc>
                  <a:txBody>
                    <a:bodyPr wrap="square"/>
                    <a:lstStyle/>
                    <a:p>
                      <a:r>
                        <a:rPr sz="1200" b="0">
                          <a:solidFill>
                            <a:srgbClr val="2B2C30"/>
                          </a:solidFill>
                        </a:rPr>
                        <a:t>Evaluating AI Grading on Real-World Handwritten College Mathematics</a:t>
                      </a:r>
                    </a:p>
                  </a:txBody>
                  <a:tcPr marL="73152" marR="73152" marT="36576" marB="36576" anchor="ctr">
                    <a:solidFill>
                      <a:srgbClr val="FFFFFF"/>
                    </a:solidFill>
                  </a:tcPr>
                </a:tc>
                <a:tc>
                  <a:txBody>
                    <a:bodyPr wrap="square"/>
                    <a:lstStyle/>
                    <a:p>
                      <a:r>
                        <a:rPr sz="1200" b="0">
                          <a:solidFill>
                            <a:srgbClr val="2B2C30"/>
                          </a:solidFill>
                        </a:rPr>
                        <a:t>arXiv 2026</a:t>
                      </a:r>
                    </a:p>
                  </a:txBody>
                  <a:tcPr marL="73152" marR="73152" marT="36576" marB="36576" anchor="ctr">
                    <a:solidFill>
                      <a:srgbClr val="FFFFFF"/>
                    </a:solidFill>
                  </a:tcPr>
                </a:tc>
                <a:tc>
                  <a:txBody>
                    <a:bodyPr wrap="square"/>
                    <a:lstStyle/>
                    <a:p>
                      <a:r>
                        <a:rPr sz="1200" b="0">
                          <a:solidFill>
                            <a:srgbClr val="2B2C30"/>
                          </a:solidFill>
                        </a:rPr>
                        <a:t>3,945 calculus answers vs. TA scores</a:t>
                      </a:r>
                    </a:p>
                  </a:txBody>
                  <a:tcPr marL="73152" marR="73152" marT="36576" marB="36576" anchor="ctr">
                    <a:solidFill>
                      <a:srgbClr val="FFFFFF"/>
                    </a:solidFill>
                  </a:tcPr>
                </a:tc>
              </a:tr>
              <a:tr h="411480">
                <a:tc>
                  <a:txBody>
                    <a:bodyPr wrap="square"/>
                    <a:lstStyle/>
                    <a:p>
                      <a:r>
                        <a:rPr sz="1200" b="0">
                          <a:solidFill>
                            <a:srgbClr val="2B2C30"/>
                          </a:solidFill>
                        </a:rPr>
                        <a:t>1</a:t>
                      </a:r>
                    </a:p>
                  </a:txBody>
                  <a:tcPr marL="73152" marR="73152" marT="36576" marB="36576" anchor="ctr">
                    <a:solidFill>
                      <a:srgbClr val="F1F2F4"/>
                    </a:solidFill>
                  </a:tcPr>
                </a:tc>
                <a:tc>
                  <a:txBody>
                    <a:bodyPr wrap="square"/>
                    <a:lstStyle/>
                    <a:p>
                      <a:r>
                        <a:rPr sz="1200" b="0">
                          <a:solidFill>
                            <a:srgbClr val="2B2C30"/>
                          </a:solidFill>
                        </a:rPr>
                        <a:t>Grabowski — Towards Fully Automated Exam Grading</a:t>
                      </a:r>
                    </a:p>
                  </a:txBody>
                  <a:tcPr marL="73152" marR="73152" marT="36576" marB="36576" anchor="ctr">
                    <a:solidFill>
                      <a:srgbClr val="F1F2F4"/>
                    </a:solidFill>
                  </a:tcPr>
                </a:tc>
                <a:tc>
                  <a:txBody>
                    <a:bodyPr wrap="square"/>
                    <a:lstStyle/>
                    <a:p>
                      <a:r>
                        <a:rPr sz="1200" b="0">
                          <a:solidFill>
                            <a:srgbClr val="2B2C30"/>
                          </a:solidFill>
                        </a:rPr>
                        <a:t>arXiv 2026</a:t>
                      </a:r>
                    </a:p>
                  </a:txBody>
                  <a:tcPr marL="73152" marR="73152" marT="36576" marB="36576" anchor="ctr">
                    <a:solidFill>
                      <a:srgbClr val="F1F2F4"/>
                    </a:solidFill>
                  </a:tcPr>
                </a:tc>
                <a:tc>
                  <a:txBody>
                    <a:bodyPr wrap="square"/>
                    <a:lstStyle/>
                    <a:p>
                      <a:r>
                        <a:rPr sz="1200" b="0">
                          <a:solidFill>
                            <a:srgbClr val="2B2C30"/>
                          </a:solidFill>
                        </a:rPr>
                        <a:t>98.4% on handwritten answer boxes</a:t>
                      </a:r>
                    </a:p>
                  </a:txBody>
                  <a:tcPr marL="73152" marR="73152" marT="36576" marB="36576" anchor="ctr">
                    <a:solidFill>
                      <a:srgbClr val="F1F2F4"/>
                    </a:solidFill>
                  </a:tcPr>
                </a:tc>
              </a:tr>
              <a:tr h="411480">
                <a:tc>
                  <a:txBody>
                    <a:bodyPr wrap="square"/>
                    <a:lstStyle/>
                    <a:p>
                      <a:r>
                        <a:rPr sz="1200" b="0">
                          <a:solidFill>
                            <a:srgbClr val="2B2C30"/>
                          </a:solidFill>
                        </a:rPr>
                        <a:t>2</a:t>
                      </a:r>
                    </a:p>
                  </a:txBody>
                  <a:tcPr marL="73152" marR="73152" marT="36576" marB="36576" anchor="ctr">
                    <a:solidFill>
                      <a:srgbClr val="FFFFFF"/>
                    </a:solidFill>
                  </a:tcPr>
                </a:tc>
                <a:tc>
                  <a:txBody>
                    <a:bodyPr wrap="square"/>
                    <a:lstStyle/>
                    <a:p>
                      <a:r>
                        <a:rPr sz="1200" b="0">
                          <a:solidFill>
                            <a:srgbClr val="2B2C30"/>
                          </a:solidFill>
                        </a:rPr>
                        <a:t>LLM Performance on a Real, Double-Marked GCSE Benchmark</a:t>
                      </a:r>
                    </a:p>
                  </a:txBody>
                  <a:tcPr marL="73152" marR="73152" marT="36576" marB="36576" anchor="ctr">
                    <a:solidFill>
                      <a:srgbClr val="FFFFFF"/>
                    </a:solidFill>
                  </a:tcPr>
                </a:tc>
                <a:tc>
                  <a:txBody>
                    <a:bodyPr wrap="square"/>
                    <a:lstStyle/>
                    <a:p>
                      <a:r>
                        <a:rPr sz="1200" b="0">
                          <a:solidFill>
                            <a:srgbClr val="2B2C30"/>
                          </a:solidFill>
                        </a:rPr>
                        <a:t>arXiv 2026</a:t>
                      </a:r>
                    </a:p>
                  </a:txBody>
                  <a:tcPr marL="73152" marR="73152" marT="36576" marB="36576" anchor="ctr">
                    <a:solidFill>
                      <a:srgbClr val="FFFFFF"/>
                    </a:solidFill>
                  </a:tcPr>
                </a:tc>
                <a:tc>
                  <a:txBody>
                    <a:bodyPr wrap="square"/>
                    <a:lstStyle/>
                    <a:p>
                      <a:r>
                        <a:rPr sz="1200" b="0">
                          <a:solidFill>
                            <a:srgbClr val="2B2C30"/>
                          </a:solidFill>
                        </a:rPr>
                        <a:t>Handwritten essays, two human markers</a:t>
                      </a:r>
                    </a:p>
                  </a:txBody>
                  <a:tcPr marL="73152" marR="73152" marT="36576" marB="36576" anchor="ctr">
                    <a:solidFill>
                      <a:srgbClr val="FFFFFF"/>
                    </a:solidFill>
                  </a:tcPr>
                </a:tc>
              </a:tr>
              <a:tr h="411480">
                <a:tc>
                  <a:txBody>
                    <a:bodyPr wrap="square"/>
                    <a:lstStyle/>
                    <a:p>
                      <a:r>
                        <a:rPr sz="1200" b="0">
                          <a:solidFill>
                            <a:srgbClr val="2B2C30"/>
                          </a:solidFill>
                        </a:rPr>
                        <a:t>2</a:t>
                      </a:r>
                    </a:p>
                  </a:txBody>
                  <a:tcPr marL="73152" marR="73152" marT="36576" marB="36576" anchor="ctr">
                    <a:solidFill>
                      <a:srgbClr val="F1F2F4"/>
                    </a:solidFill>
                  </a:tcPr>
                </a:tc>
                <a:tc>
                  <a:txBody>
                    <a:bodyPr wrap="square"/>
                    <a:lstStyle/>
                    <a:p>
                      <a:r>
                        <a:rPr sz="1200" b="0">
                          <a:solidFill>
                            <a:srgbClr val="2B2C30"/>
                          </a:solidFill>
                        </a:rPr>
                        <a:t>Evaluating Austrian A-Level German Essays with LLMs</a:t>
                      </a:r>
                    </a:p>
                  </a:txBody>
                  <a:tcPr marL="73152" marR="73152" marT="36576" marB="36576" anchor="ctr">
                    <a:solidFill>
                      <a:srgbClr val="F1F2F4"/>
                    </a:solidFill>
                  </a:tcPr>
                </a:tc>
                <a:tc>
                  <a:txBody>
                    <a:bodyPr wrap="square"/>
                    <a:lstStyle/>
                    <a:p>
                      <a:r>
                        <a:rPr sz="1200" b="0">
                          <a:solidFill>
                            <a:srgbClr val="2B2C30"/>
                          </a:solidFill>
                        </a:rPr>
                        <a:t>arXiv 2026</a:t>
                      </a:r>
                    </a:p>
                  </a:txBody>
                  <a:tcPr marL="73152" marR="73152" marT="36576" marB="36576" anchor="ctr">
                    <a:solidFill>
                      <a:srgbClr val="F1F2F4"/>
                    </a:solidFill>
                  </a:tcPr>
                </a:tc>
                <a:tc>
                  <a:txBody>
                    <a:bodyPr wrap="square"/>
                    <a:lstStyle/>
                    <a:p>
                      <a:r>
                        <a:rPr sz="1200" b="0">
                          <a:solidFill>
                            <a:srgbClr val="2B2C30"/>
                          </a:solidFill>
                        </a:rPr>
                        <a:t>German essays; handwriting OCR failed</a:t>
                      </a:r>
                    </a:p>
                  </a:txBody>
                  <a:tcPr marL="73152" marR="73152" marT="36576" marB="36576" anchor="ctr">
                    <a:solidFill>
                      <a:srgbClr val="F1F2F4"/>
                    </a:solidFill>
                  </a:tcPr>
                </a:tc>
              </a:tr>
              <a:tr h="411480">
                <a:tc>
                  <a:txBody>
                    <a:bodyPr wrap="square"/>
                    <a:lstStyle/>
                    <a:p>
                      <a:r>
                        <a:rPr sz="1200" b="0">
                          <a:solidFill>
                            <a:srgbClr val="2B2C30"/>
                          </a:solidFill>
                        </a:rPr>
                        <a:t>2</a:t>
                      </a:r>
                    </a:p>
                  </a:txBody>
                  <a:tcPr marL="73152" marR="73152" marT="36576" marB="36576" anchor="ctr">
                    <a:solidFill>
                      <a:srgbClr val="FFFFFF"/>
                    </a:solidFill>
                  </a:tcPr>
                </a:tc>
                <a:tc>
                  <a:txBody>
                    <a:bodyPr wrap="square"/>
                    <a:lstStyle/>
                    <a:p>
                      <a:r>
                        <a:rPr sz="1200" b="0">
                          <a:solidFill>
                            <a:srgbClr val="2B2C30"/>
                          </a:solidFill>
                        </a:rPr>
                        <a:t>EssayJudge — Multimodal Benchmark for Essay Scoring</a:t>
                      </a:r>
                    </a:p>
                  </a:txBody>
                  <a:tcPr marL="73152" marR="73152" marT="36576" marB="36576" anchor="ctr">
                    <a:solidFill>
                      <a:srgbClr val="FFFFFF"/>
                    </a:solidFill>
                  </a:tcPr>
                </a:tc>
                <a:tc>
                  <a:txBody>
                    <a:bodyPr wrap="square"/>
                    <a:lstStyle/>
                    <a:p>
                      <a:r>
                        <a:rPr sz="1200" b="0">
                          <a:solidFill>
                            <a:srgbClr val="2B2C30"/>
                          </a:solidFill>
                        </a:rPr>
                        <a:t>ACL Find. 2025</a:t>
                      </a:r>
                    </a:p>
                  </a:txBody>
                  <a:tcPr marL="73152" marR="73152" marT="36576" marB="36576" anchor="ctr">
                    <a:solidFill>
                      <a:srgbClr val="FFFFFF"/>
                    </a:solidFill>
                  </a:tcPr>
                </a:tc>
                <a:tc>
                  <a:txBody>
                    <a:bodyPr wrap="square"/>
                    <a:lstStyle/>
                    <a:p>
                      <a:r>
                        <a:rPr sz="1200" b="0">
                          <a:solidFill>
                            <a:srgbClr val="2B2C30"/>
                          </a:solidFill>
                        </a:rPr>
                        <a:t>Multimodal LLMs scoring essays</a:t>
                      </a:r>
                    </a:p>
                  </a:txBody>
                  <a:tcPr marL="73152" marR="73152" marT="36576" marB="36576"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Proposed approach: read, then check like STACK</a:t>
            </a:r>
          </a:p>
        </p:txBody>
      </p:sp>
      <p:sp>
        <p:nvSpPr>
          <p:cNvPr id="3" name="Draft tag"/>
          <p:cNvSpPr/>
          <p:nvPr/>
        </p:nvSpPr>
        <p:spPr>
          <a:xfrm>
            <a:off x="10058400" y="274320"/>
            <a:ext cx="1554480" cy="310896"/>
          </a:xfrm>
          <a:prstGeom prst="roundRect">
            <a:avLst/>
          </a:prstGeom>
          <a:noFill/>
          <a:ln w="9525">
            <a:solidFill>
              <a:srgbClr val="80828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5E6066"/>
                </a:solidFill>
              </a:rPr>
              <a:t>DRAFT · IDEA STAGE</a:t>
            </a:r>
          </a:p>
        </p:txBody>
      </p:sp>
      <p:sp>
        <p:nvSpPr>
          <p:cNvPr id="4" name="Rounded Rectangle 3"/>
          <p:cNvSpPr/>
          <p:nvPr/>
        </p:nvSpPr>
        <p:spPr>
          <a:xfrm>
            <a:off x="484632" y="1691640"/>
            <a:ext cx="2331720" cy="160020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13232" y="1874519"/>
            <a:ext cx="1874519" cy="1280160"/>
          </a:xfrm>
          <a:prstGeom prst="rect">
            <a:avLst/>
          </a:prstGeom>
          <a:noFill/>
        </p:spPr>
        <p:txBody>
          <a:bodyPr wrap="square" anchor="t" lIns="0" rIns="0" tIns="0" bIns="0">
            <a:spAutoFit/>
          </a:bodyPr>
          <a:lstStyle/>
          <a:p>
            <a:pPr algn="l">
              <a:spcAft>
                <a:spcPts val="800"/>
              </a:spcAft>
            </a:pPr>
            <a:r>
              <a:rPr sz="2000" b="1" i="0">
                <a:solidFill>
                  <a:srgbClr val="2B2C30"/>
                </a:solidFill>
              </a:rPr>
              <a:t>1  Capture</a:t>
            </a:r>
          </a:p>
          <a:p>
            <a:pPr algn="l">
              <a:spcAft>
                <a:spcPts val="800"/>
              </a:spcAft>
            </a:pPr>
            <a:r>
              <a:rPr sz="1300" b="0" i="0">
                <a:solidFill>
                  <a:srgbClr val="5E6066"/>
                </a:solidFill>
              </a:rPr>
              <a:t>Scan or photo of the answer sheet</a:t>
            </a:r>
          </a:p>
        </p:txBody>
      </p:sp>
      <p:sp>
        <p:nvSpPr>
          <p:cNvPr id="6" name="Right Arrow 5"/>
          <p:cNvSpPr/>
          <p:nvPr/>
        </p:nvSpPr>
        <p:spPr>
          <a:xfrm>
            <a:off x="2935224" y="2359152"/>
            <a:ext cx="347472" cy="274320"/>
          </a:xfrm>
          <a:prstGeom prst="rightArrow">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410711" y="1691640"/>
            <a:ext cx="2331720" cy="1600200"/>
          </a:xfrm>
          <a:prstGeom prst="roundRect">
            <a:avLst>
              <a:gd name="adj" fmla="val 6000"/>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639311" y="1874519"/>
            <a:ext cx="1874519" cy="1280160"/>
          </a:xfrm>
          <a:prstGeom prst="rect">
            <a:avLst/>
          </a:prstGeom>
          <a:noFill/>
        </p:spPr>
        <p:txBody>
          <a:bodyPr wrap="square" anchor="t" lIns="0" rIns="0" tIns="0" bIns="0">
            <a:spAutoFit/>
          </a:bodyPr>
          <a:lstStyle/>
          <a:p>
            <a:pPr algn="l">
              <a:spcAft>
                <a:spcPts val="800"/>
              </a:spcAft>
            </a:pPr>
            <a:r>
              <a:rPr sz="2000" b="1" i="0">
                <a:solidFill>
                  <a:srgbClr val="FFFFFF"/>
                </a:solidFill>
              </a:rPr>
              <a:t>2  Read</a:t>
            </a:r>
          </a:p>
          <a:p>
            <a:pPr algn="l">
              <a:spcAft>
                <a:spcPts val="800"/>
              </a:spcAft>
            </a:pPr>
            <a:r>
              <a:rPr sz="1300" b="0" i="0">
                <a:solidFill>
                  <a:srgbClr val="FFFFFF"/>
                </a:solidFill>
              </a:rPr>
              <a:t>VLM transcribes the answer to text or LaTeX</a:t>
            </a:r>
          </a:p>
        </p:txBody>
      </p:sp>
      <p:sp>
        <p:nvSpPr>
          <p:cNvPr id="9" name="Right Arrow 8"/>
          <p:cNvSpPr/>
          <p:nvPr/>
        </p:nvSpPr>
        <p:spPr>
          <a:xfrm>
            <a:off x="5861303" y="2359152"/>
            <a:ext cx="347472" cy="274320"/>
          </a:xfrm>
          <a:prstGeom prst="rightArrow">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6336792" y="1691640"/>
            <a:ext cx="2331720" cy="160020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5392" y="1874519"/>
            <a:ext cx="1874519" cy="1280160"/>
          </a:xfrm>
          <a:prstGeom prst="rect">
            <a:avLst/>
          </a:prstGeom>
          <a:noFill/>
        </p:spPr>
        <p:txBody>
          <a:bodyPr wrap="square" anchor="t" lIns="0" rIns="0" tIns="0" bIns="0">
            <a:spAutoFit/>
          </a:bodyPr>
          <a:lstStyle/>
          <a:p>
            <a:pPr algn="l">
              <a:spcAft>
                <a:spcPts val="800"/>
              </a:spcAft>
            </a:pPr>
            <a:r>
              <a:rPr sz="2000" b="1" i="0">
                <a:solidFill>
                  <a:srgbClr val="2B2C30"/>
                </a:solidFill>
              </a:rPr>
              <a:t>3  Check</a:t>
            </a:r>
          </a:p>
          <a:p>
            <a:pPr algn="l">
              <a:spcAft>
                <a:spcPts val="800"/>
              </a:spcAft>
            </a:pPr>
            <a:r>
              <a:rPr sz="1300" b="0" i="0">
                <a:solidFill>
                  <a:srgbClr val="5E6066"/>
                </a:solidFill>
              </a:rPr>
              <a:t>SymPy / answer key / LLM rubric, as in STACK</a:t>
            </a:r>
          </a:p>
        </p:txBody>
      </p:sp>
      <p:sp>
        <p:nvSpPr>
          <p:cNvPr id="12" name="Right Arrow 11"/>
          <p:cNvSpPr/>
          <p:nvPr/>
        </p:nvSpPr>
        <p:spPr>
          <a:xfrm>
            <a:off x="8787384" y="2359152"/>
            <a:ext cx="347472" cy="274320"/>
          </a:xfrm>
          <a:prstGeom prst="rightArrow">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9262872" y="1691640"/>
            <a:ext cx="2331720" cy="160020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491472" y="1874519"/>
            <a:ext cx="1874519" cy="1280160"/>
          </a:xfrm>
          <a:prstGeom prst="rect">
            <a:avLst/>
          </a:prstGeom>
          <a:noFill/>
        </p:spPr>
        <p:txBody>
          <a:bodyPr wrap="square" anchor="t" lIns="0" rIns="0" tIns="0" bIns="0">
            <a:spAutoFit/>
          </a:bodyPr>
          <a:lstStyle/>
          <a:p>
            <a:pPr algn="l">
              <a:spcAft>
                <a:spcPts val="800"/>
              </a:spcAft>
            </a:pPr>
            <a:r>
              <a:rPr sz="2000" b="1" i="0">
                <a:solidFill>
                  <a:srgbClr val="2B2C30"/>
                </a:solidFill>
              </a:rPr>
              <a:t>4  Grade</a:t>
            </a:r>
          </a:p>
          <a:p>
            <a:pPr algn="l">
              <a:spcAft>
                <a:spcPts val="800"/>
              </a:spcAft>
            </a:pPr>
            <a:r>
              <a:rPr sz="1300" b="0" i="0">
                <a:solidFill>
                  <a:srgbClr val="5E6066"/>
                </a:solidFill>
              </a:rPr>
              <a:t>Score + feedback; teacher reviews</a:t>
            </a:r>
          </a:p>
        </p:txBody>
      </p:sp>
      <p:sp>
        <p:nvSpPr>
          <p:cNvPr id="15" name="TextBox 14"/>
          <p:cNvSpPr txBox="1"/>
          <p:nvPr/>
        </p:nvSpPr>
        <p:spPr>
          <a:xfrm>
            <a:off x="3410712" y="3383280"/>
            <a:ext cx="2331720" cy="274320"/>
          </a:xfrm>
          <a:prstGeom prst="rect">
            <a:avLst/>
          </a:prstGeom>
          <a:noFill/>
        </p:spPr>
        <p:txBody>
          <a:bodyPr wrap="square" anchor="t" lIns="0" rIns="0" tIns="0" bIns="0">
            <a:spAutoFit/>
          </a:bodyPr>
          <a:lstStyle/>
          <a:p>
            <a:pPr algn="l">
              <a:spcAft>
                <a:spcPts val="400"/>
              </a:spcAft>
            </a:pPr>
            <a:r>
              <a:rPr sz="1200" b="1" i="0">
                <a:solidFill>
                  <a:srgbClr val="046E98"/>
                </a:solidFill>
              </a:rPr>
              <a:t>Fine-tune here (LoRA)</a:t>
            </a:r>
          </a:p>
        </p:txBody>
      </p:sp>
      <p:sp>
        <p:nvSpPr>
          <p:cNvPr id="16" name="TextBox 15"/>
          <p:cNvSpPr txBox="1"/>
          <p:nvPr/>
        </p:nvSpPr>
        <p:spPr>
          <a:xfrm>
            <a:off x="484632" y="3886200"/>
            <a:ext cx="5486400" cy="320040"/>
          </a:xfrm>
          <a:prstGeom prst="rect">
            <a:avLst/>
          </a:prstGeom>
          <a:noFill/>
        </p:spPr>
        <p:txBody>
          <a:bodyPr wrap="square" anchor="t" lIns="0" rIns="0" tIns="0" bIns="0">
            <a:spAutoFit/>
          </a:bodyPr>
          <a:lstStyle/>
          <a:p>
            <a:pPr algn="l">
              <a:spcAft>
                <a:spcPts val="400"/>
              </a:spcAft>
            </a:pPr>
            <a:r>
              <a:rPr sz="1200" b="1" i="0">
                <a:solidFill>
                  <a:srgbClr val="046E98"/>
                </a:solidFill>
              </a:rPr>
              <a:t>EXPERIMENTS</a:t>
            </a:r>
          </a:p>
        </p:txBody>
      </p:sp>
      <p:sp>
        <p:nvSpPr>
          <p:cNvPr id="17" name="TextBox 16"/>
          <p:cNvSpPr txBox="1"/>
          <p:nvPr/>
        </p:nvSpPr>
        <p:spPr>
          <a:xfrm>
            <a:off x="484632" y="4251960"/>
            <a:ext cx="5486400" cy="1828800"/>
          </a:xfrm>
          <a:prstGeom prst="rect">
            <a:avLst/>
          </a:prstGeom>
          <a:noFill/>
        </p:spPr>
        <p:txBody>
          <a:bodyPr wrap="square" anchor="t" lIns="0" rIns="0" tIns="0" bIns="0">
            <a:spAutoFit/>
          </a:bodyPr>
          <a:lstStyle/>
          <a:p>
            <a:pPr algn="l" marL="182880" indent="-182880">
              <a:spcAft>
                <a:spcPts val="800"/>
              </a:spcAft>
              <a:buChar char="•"/>
            </a:pPr>
            <a:r>
              <a:rPr sz="1500" b="0" i="0">
                <a:solidFill>
                  <a:srgbClr val="2B2C30"/>
                </a:solidFill>
              </a:rPr>
              <a:t>Zero-shot baselines: OCR models vs. general VLMs</a:t>
            </a:r>
          </a:p>
          <a:p>
            <a:pPr algn="l" marL="182880" indent="-182880">
              <a:spcAft>
                <a:spcPts val="800"/>
              </a:spcAft>
              <a:buChar char="•"/>
            </a:pPr>
            <a:r>
              <a:rPr sz="1500" b="0" i="0">
                <a:solidFill>
                  <a:srgbClr val="2B2C30"/>
                </a:solidFill>
              </a:rPr>
              <a:t>Fine-tune Qwen-VL on MathWriting / HME100K</a:t>
            </a:r>
          </a:p>
          <a:p>
            <a:pPr algn="l" marL="182880" indent="-182880">
              <a:spcAft>
                <a:spcPts val="800"/>
              </a:spcAft>
              <a:buChar char="•"/>
            </a:pPr>
            <a:r>
              <a:rPr sz="1500" b="0" i="0">
                <a:solidFill>
                  <a:srgbClr val="2B2C30"/>
                </a:solidFill>
              </a:rPr>
              <a:t>Read + symbolic check vs. VLM grading directly</a:t>
            </a:r>
          </a:p>
          <a:p>
            <a:pPr algn="l" marL="182880" indent="-182880">
              <a:spcAft>
                <a:spcPts val="800"/>
              </a:spcAft>
              <a:buChar char="•"/>
            </a:pPr>
            <a:r>
              <a:rPr sz="1500" b="0" i="0">
                <a:solidFill>
                  <a:srgbClr val="2B2C30"/>
                </a:solidFill>
              </a:rPr>
              <a:t>Optional: ensemble of two readers</a:t>
            </a:r>
          </a:p>
        </p:txBody>
      </p:sp>
      <p:sp>
        <p:nvSpPr>
          <p:cNvPr id="18" name="TextBox 17"/>
          <p:cNvSpPr txBox="1"/>
          <p:nvPr/>
        </p:nvSpPr>
        <p:spPr>
          <a:xfrm>
            <a:off x="6172200" y="3886200"/>
            <a:ext cx="5486400" cy="320040"/>
          </a:xfrm>
          <a:prstGeom prst="rect">
            <a:avLst/>
          </a:prstGeom>
          <a:noFill/>
        </p:spPr>
        <p:txBody>
          <a:bodyPr wrap="square" anchor="t" lIns="0" rIns="0" tIns="0" bIns="0">
            <a:spAutoFit/>
          </a:bodyPr>
          <a:lstStyle/>
          <a:p>
            <a:pPr algn="l">
              <a:spcAft>
                <a:spcPts val="400"/>
              </a:spcAft>
            </a:pPr>
            <a:r>
              <a:rPr sz="1200" b="1" i="0">
                <a:solidFill>
                  <a:srgbClr val="046E98"/>
                </a:solidFill>
              </a:rPr>
              <a:t>METRICS</a:t>
            </a:r>
          </a:p>
        </p:txBody>
      </p:sp>
      <p:sp>
        <p:nvSpPr>
          <p:cNvPr id="19" name="TextBox 18"/>
          <p:cNvSpPr txBox="1"/>
          <p:nvPr/>
        </p:nvSpPr>
        <p:spPr>
          <a:xfrm>
            <a:off x="6172200" y="4251960"/>
            <a:ext cx="5440680" cy="1828800"/>
          </a:xfrm>
          <a:prstGeom prst="rect">
            <a:avLst/>
          </a:prstGeom>
          <a:noFill/>
        </p:spPr>
        <p:txBody>
          <a:bodyPr wrap="square" anchor="t" lIns="0" rIns="0" tIns="0" bIns="0">
            <a:spAutoFit/>
          </a:bodyPr>
          <a:lstStyle/>
          <a:p>
            <a:pPr algn="l" marL="182880" indent="-182880">
              <a:spcAft>
                <a:spcPts val="800"/>
              </a:spcAft>
              <a:buChar char="•"/>
            </a:pPr>
            <a:r>
              <a:rPr sz="1500" b="1" i="0">
                <a:solidFill>
                  <a:srgbClr val="2B2C30"/>
                </a:solidFill>
              </a:rPr>
              <a:t>Reading: </a:t>
            </a:r>
            <a:r>
              <a:rPr sz="1500" b="0" i="0">
                <a:solidFill>
                  <a:srgbClr val="2B2C30"/>
                </a:solidFill>
              </a:rPr>
              <a:t>character error rate, exact formula match</a:t>
            </a:r>
          </a:p>
          <a:p>
            <a:pPr algn="l" marL="182880" indent="-182880">
              <a:spcAft>
                <a:spcPts val="800"/>
              </a:spcAft>
              <a:buChar char="•"/>
            </a:pPr>
            <a:r>
              <a:rPr sz="1500" b="1" i="0">
                <a:solidFill>
                  <a:srgbClr val="2B2C30"/>
                </a:solidFill>
              </a:rPr>
              <a:t>Grading: </a:t>
            </a:r>
            <a:r>
              <a:rPr sz="1500" b="0" i="0">
                <a:solidFill>
                  <a:srgbClr val="2B2C30"/>
                </a:solidFill>
              </a:rPr>
              <a:t>accuracy and F1 vs. human labels</a:t>
            </a:r>
          </a:p>
          <a:p>
            <a:pPr algn="l" marL="182880" indent="-182880">
              <a:spcAft>
                <a:spcPts val="800"/>
              </a:spcAft>
              <a:buChar char="•"/>
            </a:pPr>
            <a:r>
              <a:rPr sz="1500" b="1" i="0">
                <a:solidFill>
                  <a:srgbClr val="2B2C30"/>
                </a:solidFill>
              </a:rPr>
              <a:t>Agreement: </a:t>
            </a:r>
            <a:r>
              <a:rPr sz="1500" b="0" i="0">
                <a:solidFill>
                  <a:srgbClr val="2B2C30"/>
                </a:solidFill>
              </a:rPr>
              <a:t>Cohen’s κ with teachers</a:t>
            </a:r>
          </a:p>
          <a:p>
            <a:pPr algn="l" marL="182880" indent="-182880">
              <a:spcAft>
                <a:spcPts val="800"/>
              </a:spcAft>
              <a:buChar char="•"/>
            </a:pPr>
            <a:r>
              <a:rPr sz="1500" b="1" i="0">
                <a:solidFill>
                  <a:srgbClr val="2B2C30"/>
                </a:solidFill>
              </a:rPr>
              <a:t>Errors: </a:t>
            </a:r>
            <a:r>
              <a:rPr sz="1500" b="0" i="0">
                <a:solidFill>
                  <a:srgbClr val="2B2C30"/>
                </a:solidFill>
              </a:rPr>
              <a:t>share caused by reading vs. judging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Idea backlog (brainstorm)</a:t>
            </a:r>
          </a:p>
        </p:txBody>
      </p:sp>
      <p:sp>
        <p:nvSpPr>
          <p:cNvPr id="3" name="Draft tag"/>
          <p:cNvSpPr/>
          <p:nvPr/>
        </p:nvSpPr>
        <p:spPr>
          <a:xfrm>
            <a:off x="10058400" y="274320"/>
            <a:ext cx="1554480" cy="310896"/>
          </a:xfrm>
          <a:prstGeom prst="roundRect">
            <a:avLst/>
          </a:prstGeom>
          <a:noFill/>
          <a:ln w="9525">
            <a:solidFill>
              <a:srgbClr val="80828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5E6066"/>
                </a:solidFill>
              </a:rPr>
              <a:t>DRAFT · IDEA STAGE</a:t>
            </a:r>
          </a:p>
        </p:txBody>
      </p:sp>
      <p:sp>
        <p:nvSpPr>
          <p:cNvPr id="4" name="Rounded Rectangle 3"/>
          <p:cNvSpPr/>
          <p:nvPr/>
        </p:nvSpPr>
        <p:spPr>
          <a:xfrm>
            <a:off x="484632" y="1691640"/>
            <a:ext cx="3526536" cy="196596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58952" y="1965960"/>
            <a:ext cx="384048" cy="384048"/>
          </a:xfrm>
          <a:prstGeom prst="ellipse">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1</a:t>
            </a:r>
          </a:p>
        </p:txBody>
      </p:sp>
      <p:sp>
        <p:nvSpPr>
          <p:cNvPr id="6" name="TextBox 5"/>
          <p:cNvSpPr txBox="1"/>
          <p:nvPr/>
        </p:nvSpPr>
        <p:spPr>
          <a:xfrm>
            <a:off x="758952" y="2514600"/>
            <a:ext cx="2977896" cy="1097280"/>
          </a:xfrm>
          <a:prstGeom prst="rect">
            <a:avLst/>
          </a:prstGeom>
          <a:noFill/>
        </p:spPr>
        <p:txBody>
          <a:bodyPr wrap="square" anchor="t" lIns="0" rIns="0" tIns="0" bIns="0">
            <a:spAutoFit/>
          </a:bodyPr>
          <a:lstStyle/>
          <a:p>
            <a:pPr algn="l">
              <a:spcAft>
                <a:spcPts val="600"/>
              </a:spcAft>
            </a:pPr>
            <a:r>
              <a:rPr sz="1700" b="1" i="0">
                <a:solidFill>
                  <a:srgbClr val="2B2C30"/>
                </a:solidFill>
              </a:rPr>
              <a:t>Confidence routing</a:t>
            </a:r>
          </a:p>
          <a:p>
            <a:pPr algn="l">
              <a:spcAft>
                <a:spcPts val="600"/>
              </a:spcAft>
            </a:pPr>
            <a:r>
              <a:rPr sz="1300" b="0" i="0">
                <a:solidFill>
                  <a:srgbClr val="5E6066"/>
                </a:solidFill>
              </a:rPr>
              <a:t>Unsure answers go to the teacher; sure ones are graded automatically.</a:t>
            </a:r>
          </a:p>
        </p:txBody>
      </p:sp>
      <p:sp>
        <p:nvSpPr>
          <p:cNvPr id="7" name="Rounded Rectangle 6"/>
          <p:cNvSpPr/>
          <p:nvPr/>
        </p:nvSpPr>
        <p:spPr>
          <a:xfrm>
            <a:off x="4285488" y="1691640"/>
            <a:ext cx="3526536" cy="196596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559808" y="1965960"/>
            <a:ext cx="384048" cy="384048"/>
          </a:xfrm>
          <a:prstGeom prst="ellipse">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2</a:t>
            </a:r>
          </a:p>
        </p:txBody>
      </p:sp>
      <p:sp>
        <p:nvSpPr>
          <p:cNvPr id="9" name="TextBox 8"/>
          <p:cNvSpPr txBox="1"/>
          <p:nvPr/>
        </p:nvSpPr>
        <p:spPr>
          <a:xfrm>
            <a:off x="4559808" y="2514600"/>
            <a:ext cx="2977896" cy="1097280"/>
          </a:xfrm>
          <a:prstGeom prst="rect">
            <a:avLst/>
          </a:prstGeom>
          <a:noFill/>
        </p:spPr>
        <p:txBody>
          <a:bodyPr wrap="square" anchor="t" lIns="0" rIns="0" tIns="0" bIns="0">
            <a:spAutoFit/>
          </a:bodyPr>
          <a:lstStyle/>
          <a:p>
            <a:pPr algn="l">
              <a:spcAft>
                <a:spcPts val="600"/>
              </a:spcAft>
            </a:pPr>
            <a:r>
              <a:rPr sz="1700" b="1" i="0">
                <a:solidFill>
                  <a:srgbClr val="2B2C30"/>
                </a:solidFill>
              </a:rPr>
              <a:t>Two-reader ensemble</a:t>
            </a:r>
          </a:p>
          <a:p>
            <a:pPr algn="l">
              <a:spcAft>
                <a:spcPts val="600"/>
              </a:spcAft>
            </a:pPr>
            <a:r>
              <a:rPr sz="1300" b="0" i="0">
                <a:solidFill>
                  <a:srgbClr val="5E6066"/>
                </a:solidFill>
              </a:rPr>
              <a:t>Two models read the same answer; if they disagree, flag it.</a:t>
            </a:r>
          </a:p>
        </p:txBody>
      </p:sp>
      <p:sp>
        <p:nvSpPr>
          <p:cNvPr id="10" name="Rounded Rectangle 9"/>
          <p:cNvSpPr/>
          <p:nvPr/>
        </p:nvSpPr>
        <p:spPr>
          <a:xfrm>
            <a:off x="8086344" y="1691640"/>
            <a:ext cx="3526536" cy="196596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360664" y="1965960"/>
            <a:ext cx="384048" cy="384048"/>
          </a:xfrm>
          <a:prstGeom prst="ellipse">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3</a:t>
            </a:r>
          </a:p>
        </p:txBody>
      </p:sp>
      <p:sp>
        <p:nvSpPr>
          <p:cNvPr id="12" name="TextBox 11"/>
          <p:cNvSpPr txBox="1"/>
          <p:nvPr/>
        </p:nvSpPr>
        <p:spPr>
          <a:xfrm>
            <a:off x="8360664" y="2514600"/>
            <a:ext cx="2977896" cy="1097280"/>
          </a:xfrm>
          <a:prstGeom prst="rect">
            <a:avLst/>
          </a:prstGeom>
          <a:noFill/>
        </p:spPr>
        <p:txBody>
          <a:bodyPr wrap="square" anchor="t" lIns="0" rIns="0" tIns="0" bIns="0">
            <a:spAutoFit/>
          </a:bodyPr>
          <a:lstStyle/>
          <a:p>
            <a:pPr algn="l">
              <a:spcAft>
                <a:spcPts val="600"/>
              </a:spcAft>
            </a:pPr>
            <a:r>
              <a:rPr sz="1700" b="1" i="0">
                <a:solidFill>
                  <a:srgbClr val="2B2C30"/>
                </a:solidFill>
              </a:rPr>
              <a:t>Crossed-out text</a:t>
            </a:r>
          </a:p>
          <a:p>
            <a:pPr algn="l">
              <a:spcAft>
                <a:spcPts val="600"/>
              </a:spcAft>
            </a:pPr>
            <a:r>
              <a:rPr sz="1300" b="0" i="0">
                <a:solidFill>
                  <a:srgbClr val="5E6066"/>
                </a:solidFill>
              </a:rPr>
              <a:t>Detect strike-throughs before reading (handwritten_cross-outs data).</a:t>
            </a:r>
          </a:p>
        </p:txBody>
      </p:sp>
      <p:sp>
        <p:nvSpPr>
          <p:cNvPr id="13" name="Rounded Rectangle 12"/>
          <p:cNvSpPr/>
          <p:nvPr/>
        </p:nvSpPr>
        <p:spPr>
          <a:xfrm>
            <a:off x="484632" y="3931920"/>
            <a:ext cx="3526536" cy="196596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758952" y="4206240"/>
            <a:ext cx="384048" cy="384048"/>
          </a:xfrm>
          <a:prstGeom prst="ellipse">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4</a:t>
            </a:r>
          </a:p>
        </p:txBody>
      </p:sp>
      <p:sp>
        <p:nvSpPr>
          <p:cNvPr id="15" name="TextBox 14"/>
          <p:cNvSpPr txBox="1"/>
          <p:nvPr/>
        </p:nvSpPr>
        <p:spPr>
          <a:xfrm>
            <a:off x="758952" y="4754880"/>
            <a:ext cx="2977896" cy="1097280"/>
          </a:xfrm>
          <a:prstGeom prst="rect">
            <a:avLst/>
          </a:prstGeom>
          <a:noFill/>
        </p:spPr>
        <p:txBody>
          <a:bodyPr wrap="square" anchor="t" lIns="0" rIns="0" tIns="0" bIns="0">
            <a:spAutoFit/>
          </a:bodyPr>
          <a:lstStyle/>
          <a:p>
            <a:pPr algn="l">
              <a:spcAft>
                <a:spcPts val="600"/>
              </a:spcAft>
            </a:pPr>
            <a:r>
              <a:rPr sz="1700" b="1" i="0">
                <a:solidFill>
                  <a:srgbClr val="2B2C30"/>
                </a:solidFill>
              </a:rPr>
              <a:t>Step-level checking</a:t>
            </a:r>
          </a:p>
          <a:p>
            <a:pPr algn="l">
              <a:spcAft>
                <a:spcPts val="600"/>
              </a:spcAft>
            </a:pPr>
            <a:r>
              <a:rPr sz="1300" b="0" i="0">
                <a:solidFill>
                  <a:srgbClr val="5E6066"/>
                </a:solidFill>
              </a:rPr>
              <a:t>Check each derivation line, so one typo does not fail everything.</a:t>
            </a:r>
          </a:p>
        </p:txBody>
      </p:sp>
      <p:sp>
        <p:nvSpPr>
          <p:cNvPr id="16" name="Rounded Rectangle 15"/>
          <p:cNvSpPr/>
          <p:nvPr/>
        </p:nvSpPr>
        <p:spPr>
          <a:xfrm>
            <a:off x="4285488" y="3931920"/>
            <a:ext cx="3526536" cy="196596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559808" y="4206240"/>
            <a:ext cx="384048" cy="384048"/>
          </a:xfrm>
          <a:prstGeom prst="ellipse">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5</a:t>
            </a:r>
          </a:p>
        </p:txBody>
      </p:sp>
      <p:sp>
        <p:nvSpPr>
          <p:cNvPr id="18" name="TextBox 17"/>
          <p:cNvSpPr txBox="1"/>
          <p:nvPr/>
        </p:nvSpPr>
        <p:spPr>
          <a:xfrm>
            <a:off x="4559808" y="4754880"/>
            <a:ext cx="2977896" cy="1097280"/>
          </a:xfrm>
          <a:prstGeom prst="rect">
            <a:avLst/>
          </a:prstGeom>
          <a:noFill/>
        </p:spPr>
        <p:txBody>
          <a:bodyPr wrap="square" anchor="t" lIns="0" rIns="0" tIns="0" bIns="0">
            <a:spAutoFit/>
          </a:bodyPr>
          <a:lstStyle/>
          <a:p>
            <a:pPr algn="l">
              <a:spcAft>
                <a:spcPts val="600"/>
              </a:spcAft>
            </a:pPr>
            <a:r>
              <a:rPr sz="1700" b="1" i="0">
                <a:solidFill>
                  <a:srgbClr val="2B2C30"/>
                </a:solidFill>
              </a:rPr>
              <a:t>Feedback, not only scores</a:t>
            </a:r>
          </a:p>
          <a:p>
            <a:pPr algn="l">
              <a:spcAft>
                <a:spcPts val="600"/>
              </a:spcAft>
            </a:pPr>
            <a:r>
              <a:rPr sz="1300" b="0" i="0">
                <a:solidFill>
                  <a:srgbClr val="5E6066"/>
                </a:solidFill>
              </a:rPr>
              <a:t>Explain the error to the student in one sentence.</a:t>
            </a:r>
          </a:p>
        </p:txBody>
      </p:sp>
      <p:sp>
        <p:nvSpPr>
          <p:cNvPr id="19" name="Rounded Rectangle 18"/>
          <p:cNvSpPr/>
          <p:nvPr/>
        </p:nvSpPr>
        <p:spPr>
          <a:xfrm>
            <a:off x="8086344" y="3931920"/>
            <a:ext cx="3526536" cy="196596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360664" y="4206240"/>
            <a:ext cx="384048" cy="384048"/>
          </a:xfrm>
          <a:prstGeom prst="ellipse">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6</a:t>
            </a:r>
          </a:p>
        </p:txBody>
      </p:sp>
      <p:sp>
        <p:nvSpPr>
          <p:cNvPr id="21" name="TextBox 20"/>
          <p:cNvSpPr txBox="1"/>
          <p:nvPr/>
        </p:nvSpPr>
        <p:spPr>
          <a:xfrm>
            <a:off x="8360664" y="4754880"/>
            <a:ext cx="2977896" cy="1097280"/>
          </a:xfrm>
          <a:prstGeom prst="rect">
            <a:avLst/>
          </a:prstGeom>
          <a:noFill/>
        </p:spPr>
        <p:txBody>
          <a:bodyPr wrap="square" anchor="t" lIns="0" rIns="0" tIns="0" bIns="0">
            <a:spAutoFit/>
          </a:bodyPr>
          <a:lstStyle/>
          <a:p>
            <a:pPr algn="l">
              <a:spcAft>
                <a:spcPts val="600"/>
              </a:spcAft>
            </a:pPr>
            <a:r>
              <a:rPr sz="1700" b="1" i="0">
                <a:solidFill>
                  <a:srgbClr val="2B2C30"/>
                </a:solidFill>
              </a:rPr>
              <a:t>Fairness</a:t>
            </a:r>
          </a:p>
          <a:p>
            <a:pPr algn="l">
              <a:spcAft>
                <a:spcPts val="600"/>
              </a:spcAft>
            </a:pPr>
            <a:r>
              <a:rPr sz="1300" b="0" i="0">
                <a:solidFill>
                  <a:srgbClr val="5E6066"/>
                </a:solidFill>
              </a:rPr>
              <a:t>Compare accuracy across handwriting styles and writers.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Risks and open questions</a:t>
            </a:r>
          </a:p>
        </p:txBody>
      </p:sp>
      <p:sp>
        <p:nvSpPr>
          <p:cNvPr id="3" name="Draft tag"/>
          <p:cNvSpPr/>
          <p:nvPr/>
        </p:nvSpPr>
        <p:spPr>
          <a:xfrm>
            <a:off x="10058400" y="274320"/>
            <a:ext cx="1554480" cy="310896"/>
          </a:xfrm>
          <a:prstGeom prst="roundRect">
            <a:avLst/>
          </a:prstGeom>
          <a:noFill/>
          <a:ln w="9525">
            <a:solidFill>
              <a:srgbClr val="80828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5E6066"/>
                </a:solidFill>
              </a:rPr>
              <a:t>DRAFT · IDEA STAGE</a:t>
            </a:r>
          </a:p>
        </p:txBody>
      </p:sp>
      <p:sp>
        <p:nvSpPr>
          <p:cNvPr id="4" name="TextBox 3"/>
          <p:cNvSpPr txBox="1"/>
          <p:nvPr/>
        </p:nvSpPr>
        <p:spPr>
          <a:xfrm>
            <a:off x="484632" y="1691640"/>
            <a:ext cx="5486400" cy="274320"/>
          </a:xfrm>
          <a:prstGeom prst="rect">
            <a:avLst/>
          </a:prstGeom>
          <a:noFill/>
        </p:spPr>
        <p:txBody>
          <a:bodyPr wrap="square" anchor="t" lIns="0" rIns="0" tIns="0" bIns="0">
            <a:spAutoFit/>
          </a:bodyPr>
          <a:lstStyle/>
          <a:p>
            <a:pPr algn="l">
              <a:spcAft>
                <a:spcPts val="400"/>
              </a:spcAft>
            </a:pPr>
            <a:r>
              <a:rPr sz="1200" b="1" i="0">
                <a:solidFill>
                  <a:srgbClr val="046E98"/>
                </a:solidFill>
              </a:rPr>
              <a:t>RISKS</a:t>
            </a:r>
          </a:p>
        </p:txBody>
      </p:sp>
      <p:graphicFrame>
        <p:nvGraphicFramePr>
          <p:cNvPr id="5" name="Table 4"/>
          <p:cNvGraphicFramePr>
            <a:graphicFrameLocks noGrp="1"/>
          </p:cNvGraphicFramePr>
          <p:nvPr/>
        </p:nvGraphicFramePr>
        <p:xfrm>
          <a:off x="484632" y="2057400"/>
          <a:ext cx="6583680" cy="3291840"/>
        </p:xfrm>
        <a:graphic>
          <a:graphicData uri="http://schemas.openxmlformats.org/drawingml/2006/table">
            <a:tbl>
              <a:tblPr firstRow="0" bandRow="0">
                <a:tableStyleId>{5940675A-B579-460E-94D1-54222C63F5DA}</a:tableStyleId>
              </a:tblPr>
              <a:tblGrid>
                <a:gridCol w="2194560"/>
                <a:gridCol w="4389120"/>
              </a:tblGrid>
              <a:tr h="548640">
                <a:tc>
                  <a:txBody>
                    <a:bodyPr wrap="square"/>
                    <a:lstStyle/>
                    <a:p>
                      <a:r>
                        <a:rPr sz="1300" b="1">
                          <a:solidFill>
                            <a:srgbClr val="FFFFFF"/>
                          </a:solidFill>
                        </a:rPr>
                        <a:t>Risk</a:t>
                      </a:r>
                    </a:p>
                  </a:txBody>
                  <a:tcPr marL="73152" marR="73152" marT="36576" marB="36576" anchor="ctr">
                    <a:solidFill>
                      <a:srgbClr val="808288"/>
                    </a:solidFill>
                  </a:tcPr>
                </a:tc>
                <a:tc>
                  <a:txBody>
                    <a:bodyPr wrap="square"/>
                    <a:lstStyle/>
                    <a:p>
                      <a:r>
                        <a:rPr sz="1300" b="1">
                          <a:solidFill>
                            <a:srgbClr val="FFFFFF"/>
                          </a:solidFill>
                        </a:rPr>
                        <a:t>Mitigation</a:t>
                      </a:r>
                    </a:p>
                  </a:txBody>
                  <a:tcPr marL="73152" marR="73152" marT="36576" marB="36576" anchor="ctr">
                    <a:solidFill>
                      <a:srgbClr val="808288"/>
                    </a:solidFill>
                  </a:tcPr>
                </a:tc>
              </a:tr>
              <a:tr h="548640">
                <a:tc>
                  <a:txBody>
                    <a:bodyPr wrap="square"/>
                    <a:lstStyle/>
                    <a:p>
                      <a:r>
                        <a:rPr sz="1300" b="0">
                          <a:solidFill>
                            <a:srgbClr val="2B2C30"/>
                          </a:solidFill>
                        </a:rPr>
                        <a:t>Dataset access / licences</a:t>
                      </a:r>
                    </a:p>
                  </a:txBody>
                  <a:tcPr marL="73152" marR="73152" marT="36576" marB="36576" anchor="ctr">
                    <a:solidFill>
                      <a:srgbClr val="FFFFFF"/>
                    </a:solidFill>
                  </a:tcPr>
                </a:tc>
                <a:tc>
                  <a:txBody>
                    <a:bodyPr wrap="square"/>
                    <a:lstStyle/>
                    <a:p>
                      <a:r>
                        <a:rPr sz="1300" b="0">
                          <a:solidFill>
                            <a:srgbClr val="2B2C30"/>
                          </a:solidFill>
                        </a:rPr>
                        <a:t>Check early; keep a backup dataset per task</a:t>
                      </a:r>
                    </a:p>
                  </a:txBody>
                  <a:tcPr marL="73152" marR="73152" marT="36576" marB="36576" anchor="ctr">
                    <a:solidFill>
                      <a:srgbClr val="FFFFFF"/>
                    </a:solidFill>
                  </a:tcPr>
                </a:tc>
              </a:tr>
              <a:tr h="548640">
                <a:tc>
                  <a:txBody>
                    <a:bodyPr wrap="square"/>
                    <a:lstStyle/>
                    <a:p>
                      <a:r>
                        <a:rPr sz="1300" b="0">
                          <a:solidFill>
                            <a:srgbClr val="2B2C30"/>
                          </a:solidFill>
                        </a:rPr>
                        <a:t>GPU compute</a:t>
                      </a:r>
                    </a:p>
                  </a:txBody>
                  <a:tcPr marL="73152" marR="73152" marT="36576" marB="36576" anchor="ctr">
                    <a:solidFill>
                      <a:srgbClr val="F1F2F4"/>
                    </a:solidFill>
                  </a:tcPr>
                </a:tc>
                <a:tc>
                  <a:txBody>
                    <a:bodyPr wrap="square"/>
                    <a:lstStyle/>
                    <a:p>
                      <a:r>
                        <a:rPr sz="1300" b="0">
                          <a:solidFill>
                            <a:srgbClr val="2B2C30"/>
                          </a:solidFill>
                        </a:rPr>
                        <a:t>Smaller models (Qwen3-VL-4B), LoRA, 4-bit</a:t>
                      </a:r>
                    </a:p>
                  </a:txBody>
                  <a:tcPr marL="73152" marR="73152" marT="36576" marB="36576" anchor="ctr">
                    <a:solidFill>
                      <a:srgbClr val="F1F2F4"/>
                    </a:solidFill>
                  </a:tcPr>
                </a:tc>
              </a:tr>
              <a:tr h="548640">
                <a:tc>
                  <a:txBody>
                    <a:bodyPr wrap="square"/>
                    <a:lstStyle/>
                    <a:p>
                      <a:r>
                        <a:rPr sz="1300" b="0">
                          <a:solidFill>
                            <a:srgbClr val="2B2C30"/>
                          </a:solidFill>
                        </a:rPr>
                        <a:t>No own data allowed</a:t>
                      </a:r>
                    </a:p>
                  </a:txBody>
                  <a:tcPr marL="73152" marR="73152" marT="36576" marB="36576" anchor="ctr">
                    <a:solidFill>
                      <a:srgbClr val="FFFFFF"/>
                    </a:solidFill>
                  </a:tcPr>
                </a:tc>
                <a:tc>
                  <a:txBody>
                    <a:bodyPr wrap="square"/>
                    <a:lstStyle/>
                    <a:p>
                      <a:r>
                        <a:rPr sz="1300" b="0">
                          <a:solidFill>
                            <a:srgbClr val="2B2C30"/>
                          </a:solidFill>
                        </a:rPr>
                        <a:t>Proxy datasets; be explicit about limits</a:t>
                      </a:r>
                    </a:p>
                  </a:txBody>
                  <a:tcPr marL="73152" marR="73152" marT="36576" marB="36576" anchor="ctr">
                    <a:solidFill>
                      <a:srgbClr val="FFFFFF"/>
                    </a:solidFill>
                  </a:tcPr>
                </a:tc>
              </a:tr>
              <a:tr h="548640">
                <a:tc>
                  <a:txBody>
                    <a:bodyPr wrap="square"/>
                    <a:lstStyle/>
                    <a:p>
                      <a:r>
                        <a:rPr sz="1300" b="0">
                          <a:solidFill>
                            <a:srgbClr val="2B2C30"/>
                          </a:solidFill>
                        </a:rPr>
                        <a:t>Scope too large</a:t>
                      </a:r>
                    </a:p>
                  </a:txBody>
                  <a:tcPr marL="73152" marR="73152" marT="36576" marB="36576" anchor="ctr">
                    <a:solidFill>
                      <a:srgbClr val="F1F2F4"/>
                    </a:solidFill>
                  </a:tcPr>
                </a:tc>
                <a:tc>
                  <a:txBody>
                    <a:bodyPr wrap="square"/>
                    <a:lstStyle/>
                    <a:p>
                      <a:r>
                        <a:rPr sz="1300" b="0">
                          <a:solidFill>
                            <a:srgbClr val="2B2C30"/>
                          </a:solidFill>
                        </a:rPr>
                        <a:t>Two tasks max; math first</a:t>
                      </a:r>
                    </a:p>
                  </a:txBody>
                  <a:tcPr marL="73152" marR="73152" marT="36576" marB="36576" anchor="ctr">
                    <a:solidFill>
                      <a:srgbClr val="F1F2F4"/>
                    </a:solidFill>
                  </a:tcPr>
                </a:tc>
              </a:tr>
              <a:tr h="548640">
                <a:tc>
                  <a:txBody>
                    <a:bodyPr wrap="square"/>
                    <a:lstStyle/>
                    <a:p>
                      <a:r>
                        <a:rPr sz="1300" b="0">
                          <a:solidFill>
                            <a:srgbClr val="2B2C30"/>
                          </a:solidFill>
                        </a:rPr>
                        <a:t>Closed APIs change</a:t>
                      </a:r>
                    </a:p>
                  </a:txBody>
                  <a:tcPr marL="73152" marR="73152" marT="36576" marB="36576" anchor="ctr">
                    <a:solidFill>
                      <a:srgbClr val="FFFFFF"/>
                    </a:solidFill>
                  </a:tcPr>
                </a:tc>
                <a:tc>
                  <a:txBody>
                    <a:bodyPr wrap="square"/>
                    <a:lstStyle/>
                    <a:p>
                      <a:r>
                        <a:rPr sz="1300" b="0">
                          <a:solidFill>
                            <a:srgbClr val="2B2C30"/>
                          </a:solidFill>
                        </a:rPr>
                        <a:t>Use them only as reference points</a:t>
                      </a:r>
                    </a:p>
                  </a:txBody>
                  <a:tcPr marL="73152" marR="73152" marT="36576" marB="36576" anchor="ctr">
                    <a:solidFill>
                      <a:srgbClr val="FFFFFF"/>
                    </a:solidFill>
                  </a:tcPr>
                </a:tc>
              </a:tr>
            </a:tbl>
          </a:graphicData>
        </a:graphic>
      </p:graphicFrame>
      <p:sp>
        <p:nvSpPr>
          <p:cNvPr id="6" name="TextBox 5"/>
          <p:cNvSpPr txBox="1"/>
          <p:nvPr/>
        </p:nvSpPr>
        <p:spPr>
          <a:xfrm>
            <a:off x="7406640" y="1691640"/>
            <a:ext cx="4206240" cy="274320"/>
          </a:xfrm>
          <a:prstGeom prst="rect">
            <a:avLst/>
          </a:prstGeom>
          <a:noFill/>
        </p:spPr>
        <p:txBody>
          <a:bodyPr wrap="square" anchor="t" lIns="0" rIns="0" tIns="0" bIns="0">
            <a:spAutoFit/>
          </a:bodyPr>
          <a:lstStyle/>
          <a:p>
            <a:pPr algn="l">
              <a:spcAft>
                <a:spcPts val="400"/>
              </a:spcAft>
            </a:pPr>
            <a:r>
              <a:rPr sz="1200" b="1" i="0">
                <a:solidFill>
                  <a:srgbClr val="046E98"/>
                </a:solidFill>
              </a:rPr>
              <a:t>OPEN QUESTIONS</a:t>
            </a:r>
          </a:p>
        </p:txBody>
      </p:sp>
      <p:sp>
        <p:nvSpPr>
          <p:cNvPr id="7" name="TextBox 6"/>
          <p:cNvSpPr txBox="1"/>
          <p:nvPr/>
        </p:nvSpPr>
        <p:spPr>
          <a:xfrm>
            <a:off x="7406640" y="2057400"/>
            <a:ext cx="4206240" cy="3840480"/>
          </a:xfrm>
          <a:prstGeom prst="rect">
            <a:avLst/>
          </a:prstGeom>
          <a:noFill/>
        </p:spPr>
        <p:txBody>
          <a:bodyPr wrap="square" anchor="t" lIns="0" rIns="0" tIns="0" bIns="0">
            <a:spAutoFit/>
          </a:bodyPr>
          <a:lstStyle/>
          <a:p>
            <a:pPr algn="l" marL="182880" indent="-182880">
              <a:spcAft>
                <a:spcPts val="1000"/>
              </a:spcAft>
              <a:buChar char="•"/>
            </a:pPr>
            <a:r>
              <a:rPr sz="1500" b="0" i="0">
                <a:solidFill>
                  <a:srgbClr val="2B2C30"/>
                </a:solidFill>
              </a:rPr>
              <a:t>Which two tasks?</a:t>
            </a:r>
          </a:p>
          <a:p>
            <a:pPr algn="l" marL="182880" indent="-182880">
              <a:spcAft>
                <a:spcPts val="1000"/>
              </a:spcAft>
              <a:buChar char="•"/>
            </a:pPr>
            <a:r>
              <a:rPr sz="1500" b="0" i="0">
                <a:solidFill>
                  <a:srgbClr val="2B2C30"/>
                </a:solidFill>
              </a:rPr>
              <a:t>Is there GPU access at JKU?</a:t>
            </a:r>
          </a:p>
          <a:p>
            <a:pPr algn="l" marL="182880" indent="-182880">
              <a:spcAft>
                <a:spcPts val="1000"/>
              </a:spcAft>
              <a:buChar char="•"/>
            </a:pPr>
            <a:r>
              <a:rPr sz="1500" b="0" i="0">
                <a:solidFill>
                  <a:srgbClr val="2B2C30"/>
                </a:solidFill>
              </a:rPr>
              <a:t>What should the seminar paper be: survey, experiments, or both?</a:t>
            </a:r>
          </a:p>
          <a:p>
            <a:pPr algn="l" marL="182880" indent="-182880">
              <a:spcAft>
                <a:spcPts val="1000"/>
              </a:spcAft>
              <a:buChar char="•"/>
            </a:pPr>
            <a:r>
              <a:rPr sz="1500" b="0" i="0">
                <a:solidFill>
                  <a:srgbClr val="2B2C30"/>
                </a:solidFill>
              </a:rPr>
              <a:t>Is non-German data fine for all tasks? (yes, for now)</a:t>
            </a:r>
          </a:p>
          <a:p>
            <a:pPr algn="l" marL="182880" indent="-182880">
              <a:spcAft>
                <a:spcPts val="1000"/>
              </a:spcAft>
              <a:buChar char="•"/>
            </a:pPr>
            <a:r>
              <a:rPr sz="1500" b="0" i="0">
                <a:solidFill>
                  <a:srgbClr val="2B2C30"/>
                </a:solidFill>
              </a:rPr>
              <a:t>Should the seminar topic stay open for a later thesis?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Research question and plan</a:t>
            </a:r>
          </a:p>
        </p:txBody>
      </p:sp>
      <p:sp>
        <p:nvSpPr>
          <p:cNvPr id="3" name="Draft tag"/>
          <p:cNvSpPr/>
          <p:nvPr/>
        </p:nvSpPr>
        <p:spPr>
          <a:xfrm>
            <a:off x="10058400" y="274320"/>
            <a:ext cx="1554480" cy="310896"/>
          </a:xfrm>
          <a:prstGeom prst="roundRect">
            <a:avLst/>
          </a:prstGeom>
          <a:noFill/>
          <a:ln w="9525">
            <a:solidFill>
              <a:srgbClr val="80828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5E6066"/>
                </a:solidFill>
              </a:rPr>
              <a:t>DRAFT · IDEA STAGE</a:t>
            </a:r>
          </a:p>
        </p:txBody>
      </p:sp>
      <p:sp>
        <p:nvSpPr>
          <p:cNvPr id="4" name="Rounded Rectangle 3"/>
          <p:cNvSpPr/>
          <p:nvPr/>
        </p:nvSpPr>
        <p:spPr>
          <a:xfrm>
            <a:off x="484632" y="1691640"/>
            <a:ext cx="5120640" cy="3291840"/>
          </a:xfrm>
          <a:prstGeom prst="roundRect">
            <a:avLst>
              <a:gd name="adj" fmla="val 6000"/>
            </a:avLst>
          </a:prstGeom>
          <a:solidFill>
            <a:srgbClr val="808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04672" y="1965960"/>
            <a:ext cx="4480560" cy="2834640"/>
          </a:xfrm>
          <a:prstGeom prst="rect">
            <a:avLst/>
          </a:prstGeom>
          <a:noFill/>
        </p:spPr>
        <p:txBody>
          <a:bodyPr wrap="square" anchor="t" lIns="0" rIns="0" tIns="0" bIns="0">
            <a:spAutoFit/>
          </a:bodyPr>
          <a:lstStyle/>
          <a:p>
            <a:pPr algn="l">
              <a:spcAft>
                <a:spcPts val="1600"/>
              </a:spcAft>
            </a:pPr>
            <a:r>
              <a:rPr sz="1200" b="1" i="0">
                <a:solidFill>
                  <a:srgbClr val="FFFFFF"/>
                </a:solidFill>
              </a:rPr>
              <a:t>RESEARCH QUESTION (DRAFT)</a:t>
            </a:r>
          </a:p>
          <a:p>
            <a:pPr algn="l">
              <a:spcAft>
                <a:spcPts val="1600"/>
              </a:spcAft>
            </a:pPr>
            <a:r>
              <a:rPr sz="2000" b="1" i="0">
                <a:solidFill>
                  <a:srgbClr val="FFFFFF"/>
                </a:solidFill>
              </a:rPr>
              <a:t>Does fine-tuning an open VLM on handwriting improve grading accuracy when its reading is checked STACK-style?</a:t>
            </a:r>
          </a:p>
          <a:p>
            <a:pPr algn="l">
              <a:spcAft>
                <a:spcPts val="1600"/>
              </a:spcAft>
            </a:pPr>
            <a:r>
              <a:rPr sz="1400" b="1" i="0">
                <a:solidFill>
                  <a:srgbClr val="FFFFFF"/>
                </a:solidFill>
              </a:rPr>
              <a:t>Hypothesis: </a:t>
            </a:r>
            <a:r>
              <a:rPr sz="1400" b="0" i="0">
                <a:solidFill>
                  <a:srgbClr val="FFFFFF"/>
                </a:solidFill>
              </a:rPr>
              <a:t>fine-tuned reading + symbolic check beats a zero-shot VLM that grades directly.</a:t>
            </a:r>
          </a:p>
        </p:txBody>
      </p:sp>
      <p:sp>
        <p:nvSpPr>
          <p:cNvPr id="6" name="TextBox 5"/>
          <p:cNvSpPr txBox="1"/>
          <p:nvPr/>
        </p:nvSpPr>
        <p:spPr>
          <a:xfrm>
            <a:off x="5971032" y="1691640"/>
            <a:ext cx="5577840" cy="320040"/>
          </a:xfrm>
          <a:prstGeom prst="rect">
            <a:avLst/>
          </a:prstGeom>
          <a:noFill/>
        </p:spPr>
        <p:txBody>
          <a:bodyPr wrap="square" anchor="t" lIns="0" rIns="0" tIns="0" bIns="0">
            <a:spAutoFit/>
          </a:bodyPr>
          <a:lstStyle/>
          <a:p>
            <a:pPr algn="l">
              <a:spcAft>
                <a:spcPts val="400"/>
              </a:spcAft>
            </a:pPr>
            <a:r>
              <a:rPr sz="1200" b="1" i="0">
                <a:solidFill>
                  <a:srgbClr val="046E98"/>
                </a:solidFill>
              </a:rPr>
              <a:t>PROPOSED PLAN</a:t>
            </a:r>
          </a:p>
        </p:txBody>
      </p:sp>
      <p:sp>
        <p:nvSpPr>
          <p:cNvPr id="7" name="Oval 6"/>
          <p:cNvSpPr/>
          <p:nvPr/>
        </p:nvSpPr>
        <p:spPr>
          <a:xfrm>
            <a:off x="5971032" y="2103120"/>
            <a:ext cx="384048" cy="384048"/>
          </a:xfrm>
          <a:prstGeom prst="ellipse">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1</a:t>
            </a:r>
          </a:p>
        </p:txBody>
      </p:sp>
      <p:sp>
        <p:nvSpPr>
          <p:cNvPr id="8" name="TextBox 7"/>
          <p:cNvSpPr txBox="1"/>
          <p:nvPr/>
        </p:nvSpPr>
        <p:spPr>
          <a:xfrm>
            <a:off x="6519672" y="2121408"/>
            <a:ext cx="5029200" cy="548640"/>
          </a:xfrm>
          <a:prstGeom prst="rect">
            <a:avLst/>
          </a:prstGeom>
          <a:noFill/>
        </p:spPr>
        <p:txBody>
          <a:bodyPr wrap="square" anchor="t" lIns="0" rIns="0" tIns="0" bIns="0">
            <a:spAutoFit/>
          </a:bodyPr>
          <a:lstStyle/>
          <a:p>
            <a:pPr algn="l">
              <a:spcAft>
                <a:spcPts val="400"/>
              </a:spcAft>
            </a:pPr>
            <a:r>
              <a:rPr sz="1400" b="1" i="0">
                <a:solidFill>
                  <a:srgbClr val="046E98"/>
                </a:solidFill>
              </a:rPr>
              <a:t>Nov  </a:t>
            </a:r>
            <a:r>
              <a:rPr sz="1400" b="0" i="0">
                <a:solidFill>
                  <a:srgbClr val="2B2C30"/>
                </a:solidFill>
              </a:rPr>
              <a:t>Literature: 5 papers in depth, ~20 abstracts; send paper list</a:t>
            </a:r>
          </a:p>
        </p:txBody>
      </p:sp>
      <p:sp>
        <p:nvSpPr>
          <p:cNvPr id="9" name="Oval 8"/>
          <p:cNvSpPr/>
          <p:nvPr/>
        </p:nvSpPr>
        <p:spPr>
          <a:xfrm>
            <a:off x="5971032" y="2724912"/>
            <a:ext cx="384048" cy="384048"/>
          </a:xfrm>
          <a:prstGeom prst="ellipse">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2</a:t>
            </a:r>
          </a:p>
        </p:txBody>
      </p:sp>
      <p:sp>
        <p:nvSpPr>
          <p:cNvPr id="10" name="TextBox 9"/>
          <p:cNvSpPr txBox="1"/>
          <p:nvPr/>
        </p:nvSpPr>
        <p:spPr>
          <a:xfrm>
            <a:off x="6519672" y="2743200"/>
            <a:ext cx="5029200" cy="548640"/>
          </a:xfrm>
          <a:prstGeom prst="rect">
            <a:avLst/>
          </a:prstGeom>
          <a:noFill/>
        </p:spPr>
        <p:txBody>
          <a:bodyPr wrap="square" anchor="t" lIns="0" rIns="0" tIns="0" bIns="0">
            <a:spAutoFit/>
          </a:bodyPr>
          <a:lstStyle/>
          <a:p>
            <a:pPr algn="l">
              <a:spcAft>
                <a:spcPts val="400"/>
              </a:spcAft>
            </a:pPr>
            <a:r>
              <a:rPr sz="1400" b="1" i="0">
                <a:solidFill>
                  <a:srgbClr val="046E98"/>
                </a:solidFill>
              </a:rPr>
              <a:t>Nov–Dec  </a:t>
            </a:r>
            <a:r>
              <a:rPr sz="1400" b="0" i="0">
                <a:solidFill>
                  <a:srgbClr val="2B2C30"/>
                </a:solidFill>
              </a:rPr>
              <a:t>Confirm the two tasks; zero-shot baselines on FERMAT / MathWriting</a:t>
            </a:r>
          </a:p>
        </p:txBody>
      </p:sp>
      <p:sp>
        <p:nvSpPr>
          <p:cNvPr id="11" name="Oval 10"/>
          <p:cNvSpPr/>
          <p:nvPr/>
        </p:nvSpPr>
        <p:spPr>
          <a:xfrm>
            <a:off x="5971032" y="3346704"/>
            <a:ext cx="384048" cy="384048"/>
          </a:xfrm>
          <a:prstGeom prst="ellipse">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3</a:t>
            </a:r>
          </a:p>
        </p:txBody>
      </p:sp>
      <p:sp>
        <p:nvSpPr>
          <p:cNvPr id="12" name="TextBox 11"/>
          <p:cNvSpPr txBox="1"/>
          <p:nvPr/>
        </p:nvSpPr>
        <p:spPr>
          <a:xfrm>
            <a:off x="6519672" y="3364992"/>
            <a:ext cx="5029200" cy="548640"/>
          </a:xfrm>
          <a:prstGeom prst="rect">
            <a:avLst/>
          </a:prstGeom>
          <a:noFill/>
        </p:spPr>
        <p:txBody>
          <a:bodyPr wrap="square" anchor="t" lIns="0" rIns="0" tIns="0" bIns="0">
            <a:spAutoFit/>
          </a:bodyPr>
          <a:lstStyle/>
          <a:p>
            <a:pPr algn="l">
              <a:spcAft>
                <a:spcPts val="400"/>
              </a:spcAft>
            </a:pPr>
            <a:r>
              <a:rPr sz="1400" b="1" i="0">
                <a:solidFill>
                  <a:srgbClr val="046E98"/>
                </a:solidFill>
              </a:rPr>
              <a:t>Dec–Jan  </a:t>
            </a:r>
            <a:r>
              <a:rPr sz="1400" b="0" i="0">
                <a:solidFill>
                  <a:srgbClr val="2B2C30"/>
                </a:solidFill>
              </a:rPr>
              <a:t>Fine-tune, symbolic check, evaluation</a:t>
            </a:r>
          </a:p>
        </p:txBody>
      </p:sp>
      <p:sp>
        <p:nvSpPr>
          <p:cNvPr id="13" name="Oval 12"/>
          <p:cNvSpPr/>
          <p:nvPr/>
        </p:nvSpPr>
        <p:spPr>
          <a:xfrm>
            <a:off x="5971032" y="3968496"/>
            <a:ext cx="384048" cy="384048"/>
          </a:xfrm>
          <a:prstGeom prst="ellipse">
            <a:avLst/>
          </a:prstGeom>
          <a:solidFill>
            <a:srgbClr val="046E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4</a:t>
            </a:r>
          </a:p>
        </p:txBody>
      </p:sp>
      <p:sp>
        <p:nvSpPr>
          <p:cNvPr id="14" name="TextBox 13"/>
          <p:cNvSpPr txBox="1"/>
          <p:nvPr/>
        </p:nvSpPr>
        <p:spPr>
          <a:xfrm>
            <a:off x="6519672" y="3986783"/>
            <a:ext cx="5029200" cy="548640"/>
          </a:xfrm>
          <a:prstGeom prst="rect">
            <a:avLst/>
          </a:prstGeom>
          <a:noFill/>
        </p:spPr>
        <p:txBody>
          <a:bodyPr wrap="square" anchor="t" lIns="0" rIns="0" tIns="0" bIns="0">
            <a:spAutoFit/>
          </a:bodyPr>
          <a:lstStyle/>
          <a:p>
            <a:pPr algn="l">
              <a:spcAft>
                <a:spcPts val="400"/>
              </a:spcAft>
            </a:pPr>
            <a:r>
              <a:rPr sz="1400" b="1" i="0">
                <a:solidFill>
                  <a:srgbClr val="046E98"/>
                </a:solidFill>
              </a:rPr>
              <a:t>Jan  </a:t>
            </a:r>
            <a:r>
              <a:rPr sz="1400" b="0" i="0">
                <a:solidFill>
                  <a:srgbClr val="2B2C30"/>
                </a:solidFill>
              </a:rPr>
              <a:t>Seminar paper and talk</a:t>
            </a:r>
          </a:p>
        </p:txBody>
      </p:sp>
      <p:sp>
        <p:nvSpPr>
          <p:cNvPr id="15" name="TextBox 14"/>
          <p:cNvSpPr txBox="1"/>
          <p:nvPr/>
        </p:nvSpPr>
        <p:spPr>
          <a:xfrm>
            <a:off x="5971032" y="4663440"/>
            <a:ext cx="5577840" cy="320040"/>
          </a:xfrm>
          <a:prstGeom prst="rect">
            <a:avLst/>
          </a:prstGeom>
          <a:noFill/>
        </p:spPr>
        <p:txBody>
          <a:bodyPr wrap="square" anchor="t" lIns="0" rIns="0" tIns="0" bIns="0">
            <a:spAutoFit/>
          </a:bodyPr>
          <a:lstStyle/>
          <a:p>
            <a:pPr algn="l">
              <a:spcAft>
                <a:spcPts val="400"/>
              </a:spcAft>
            </a:pPr>
            <a:r>
              <a:rPr sz="1200" b="1" i="0">
                <a:solidFill>
                  <a:srgbClr val="046E98"/>
                </a:solidFill>
              </a:rPr>
              <a:t>QUESTIONS FOR TODAY</a:t>
            </a:r>
          </a:p>
        </p:txBody>
      </p:sp>
      <p:sp>
        <p:nvSpPr>
          <p:cNvPr id="16" name="TextBox 15"/>
          <p:cNvSpPr txBox="1"/>
          <p:nvPr/>
        </p:nvSpPr>
        <p:spPr>
          <a:xfrm>
            <a:off x="5971032" y="5029200"/>
            <a:ext cx="5577840" cy="1005840"/>
          </a:xfrm>
          <a:prstGeom prst="rect">
            <a:avLst/>
          </a:prstGeom>
          <a:noFill/>
        </p:spPr>
        <p:txBody>
          <a:bodyPr wrap="square" anchor="t" lIns="0" rIns="0" tIns="0" bIns="0">
            <a:spAutoFit/>
          </a:bodyPr>
          <a:lstStyle/>
          <a:p>
            <a:pPr algn="l" marL="182880" indent="-182880">
              <a:spcAft>
                <a:spcPts val="600"/>
              </a:spcAft>
              <a:buChar char="•"/>
            </a:pPr>
            <a:r>
              <a:rPr sz="1400" b="0" i="0">
                <a:solidFill>
                  <a:srgbClr val="2B2C30"/>
                </a:solidFill>
              </a:rPr>
              <a:t>Math + Fill the gaps, or Math + Free text?</a:t>
            </a:r>
          </a:p>
          <a:p>
            <a:pPr algn="l" marL="182880" indent="-182880">
              <a:spcAft>
                <a:spcPts val="600"/>
              </a:spcAft>
              <a:buChar char="•"/>
            </a:pPr>
            <a:r>
              <a:rPr sz="1400" b="0" i="0">
                <a:solidFill>
                  <a:srgbClr val="2B2C30"/>
                </a:solidFill>
              </a:rPr>
              <a:t>Is there GPU access at JKU for fine-tuning?</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14"/>
          <p:cNvSpPr txBox="1"/>
          <p:nvPr>
            <p:ph idx="1" type="subTitle"/>
          </p:nvPr>
        </p:nvSpPr>
        <p:spPr>
          <a:xfrm>
            <a:off x="486000" y="5410800"/>
            <a:ext cx="9216000" cy="730800"/>
          </a:xfrm>
          <a:prstGeom prst="rect">
            <a:avLst/>
          </a:prstGeom>
          <a:noFill/>
          <a:ln>
            <a:noFill/>
          </a:ln>
        </p:spPr>
        <p:txBody>
          <a:bodyPr anchorCtr="0" anchor="t" bIns="45700" lIns="91425" spcFirstLastPara="1" rIns="91425" wrap="square" tIns="45700">
            <a:noAutofit/>
          </a:bodyPr>
          <a:lstStyle/>
          <a:p>
            <a:pPr indent="-381000" lvl="0" marL="457200" rtl="0" algn="l">
              <a:lnSpc>
                <a:spcPct val="105000"/>
              </a:lnSpc>
              <a:spcBef>
                <a:spcPts val="0"/>
              </a:spcBef>
              <a:spcAft>
                <a:spcPts val="0"/>
              </a:spcAft>
              <a:buSzPts val="2160"/>
              <a:buNone/>
            </a:pPr>
            <a:r>
              <a:rPr b="0" lang="en-US"/>
              <a:t>Questions and feedback?</a:t>
            </a:r>
            <a:endParaRPr/>
          </a:p>
          <a:p>
            <a:pPr indent="-381000" lvl="0" marL="457200" rtl="0" algn="l">
              <a:lnSpc>
                <a:spcPct val="105000"/>
              </a:lnSpc>
              <a:spcBef>
                <a:spcPts val="0"/>
              </a:spcBef>
              <a:spcAft>
                <a:spcPts val="0"/>
              </a:spcAft>
              <a:buSzPts val="2160"/>
              <a:buNone/>
            </a:pPr>
            <a:r>
              <a:rPr b="0" lang="en-US"/>
              <a:t>Alfiia Ziganshina  —  AI Seminar</a:t>
            </a:r>
            <a:endParaRPr/>
          </a:p>
        </p:txBody>
      </p:sp>
      <p:sp>
        <p:nvSpPr>
          <p:cNvPr id="352" name="Google Shape;352;p14"/>
          <p:cNvSpPr txBox="1"/>
          <p:nvPr>
            <p:ph type="title"/>
          </p:nvPr>
        </p:nvSpPr>
        <p:spPr>
          <a:xfrm>
            <a:off x="475200" y="1306800"/>
            <a:ext cx="9226800" cy="2008800"/>
          </a:xfrm>
          <a:prstGeom prst="rect">
            <a:avLst/>
          </a:prstGeom>
          <a:noFill/>
          <a:ln>
            <a:noFill/>
          </a:ln>
        </p:spPr>
        <p:txBody>
          <a:bodyPr anchorCtr="0" anchor="b" bIns="45700" lIns="91425" spcFirstLastPara="1" rIns="91425" wrap="square" tIns="45700">
            <a:noAutofit/>
          </a:bodyPr>
          <a:lstStyle/>
          <a:p>
            <a:pPr indent="0" lvl="0" marL="0" rtl="0" algn="l">
              <a:lnSpc>
                <a:spcPct val="83000"/>
              </a:lnSpc>
              <a:spcBef>
                <a:spcPts val="0"/>
              </a:spcBef>
              <a:spcAft>
                <a:spcPts val="0"/>
              </a:spcAft>
              <a:buClr>
                <a:schemeClr val="lt1"/>
              </a:buClr>
              <a:buSzPts val="4500"/>
              <a:buFont typeface="Arial Black"/>
              <a:buNone/>
            </a:pPr>
            <a:r>
              <a:rPr lang="en-US" sz="4500">
                <a:solidFill>
                  <a:schemeClr val="lt1"/>
                </a:solidFill>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jku">
  <a:themeElements>
    <a:clrScheme name="JKU">
      <a:dk1>
        <a:srgbClr val="000000"/>
      </a:dk1>
      <a:lt1>
        <a:srgbClr val="FFFFFF"/>
      </a:lt1>
      <a:dk2>
        <a:srgbClr val="9C477B"/>
      </a:dk2>
      <a:lt2>
        <a:srgbClr val="BBD032"/>
      </a:lt2>
      <a:accent1>
        <a:srgbClr val="808288"/>
      </a:accent1>
      <a:accent2>
        <a:srgbClr val="046E98"/>
      </a:accent2>
      <a:accent3>
        <a:srgbClr val="5CCFCB"/>
      </a:accent3>
      <a:accent4>
        <a:srgbClr val="4CAC4E"/>
      </a:accent4>
      <a:accent5>
        <a:srgbClr val="E73729"/>
      </a:accent5>
      <a:accent6>
        <a:srgbClr val="FBBA0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